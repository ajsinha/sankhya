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77639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E0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82880" cy="3977639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11095" y="905256"/>
            <a:ext cx="96862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C6DD"/>
                </a:solidFill>
                <a:latin typeface="Calibri"/>
              </a:rPr>
              <a:t>SANKHYA  ·  सांख्य  ·  AN ANALYTICAL WAREHOUSE THAT 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389888"/>
            <a:ext cx="914800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Architecture and Evidence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What it does, and how you can tell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3035808"/>
            <a:ext cx="1554480" cy="32004"/>
          </a:xfrm>
          <a:prstGeom prst="rect">
            <a:avLst/>
          </a:prstGeom>
          <a:solidFill>
            <a:srgbClr val="B9C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55264"/>
            <a:ext cx="89352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DDE4EF"/>
                </a:solidFill>
                <a:latin typeface="Calibri"/>
              </a:rPr>
              <a:t>The name and what it commits to, the mathematics that has to hold, the system that holds it, the evidence for every claim in here — and an audit that found a hundred and twenty-nine things anyway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43984"/>
            <a:ext cx="531860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0E1726"/>
                </a:solidFill>
                <a:latin typeface="Georgia"/>
              </a:rPr>
              <a:t>Ashutosh Sinha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E3A6E"/>
                </a:solidFill>
                <a:latin typeface="Calibri"/>
              </a:rPr>
              <a:t>Independent Researcher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788395"/>
                </a:solidFill>
                <a:latin typeface="Calibri"/>
              </a:rPr>
              <a:t>September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4315968"/>
            <a:ext cx="5318607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3A6E"/>
                </a:solidFill>
                <a:latin typeface="Calibri"/>
              </a:rPr>
              <a:t>IN FIVE PARTS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3A6E"/>
                </a:solidFill>
                <a:latin typeface="Calibri"/>
              </a:rPr>
              <a:t>I   </a:t>
            </a:r>
            <a:r>
              <a:rPr sz="1000" b="1" i="0">
                <a:solidFill>
                  <a:srgbClr val="0E1726"/>
                </a:solidFill>
                <a:latin typeface="Calibri"/>
              </a:rPr>
              <a:t>The name  </a:t>
            </a:r>
            <a:r>
              <a:rPr sz="1000" b="0" i="0">
                <a:solidFill>
                  <a:srgbClr val="444F60"/>
                </a:solidFill>
                <a:latin typeface="Calibri"/>
              </a:rPr>
              <a:t>what counting commits you to, and the price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3A6E"/>
                </a:solidFill>
                <a:latin typeface="Calibri"/>
              </a:rPr>
              <a:t>II  </a:t>
            </a:r>
            <a:r>
              <a:rPr sz="1000" b="1" i="0">
                <a:solidFill>
                  <a:srgbClr val="0E1726"/>
                </a:solidFill>
                <a:latin typeface="Calibri"/>
              </a:rPr>
              <a:t>Foundations  </a:t>
            </a:r>
            <a:r>
              <a:rPr sz="1000" b="0" i="0">
                <a:solidFill>
                  <a:srgbClr val="444F60"/>
                </a:solidFill>
                <a:latin typeface="Calibri"/>
              </a:rPr>
              <a:t>determinism and the date axis, as tests not claims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3A6E"/>
                </a:solidFill>
                <a:latin typeface="Calibri"/>
              </a:rPr>
              <a:t>III </a:t>
            </a:r>
            <a:r>
              <a:rPr sz="1000" b="1" i="0">
                <a:solidFill>
                  <a:srgbClr val="0E1726"/>
                </a:solidFill>
                <a:latin typeface="Calibri"/>
              </a:rPr>
              <a:t>The system  </a:t>
            </a:r>
            <a:r>
              <a:rPr sz="1000" b="0" i="0">
                <a:solidFill>
                  <a:srgbClr val="444F60"/>
                </a:solidFill>
                <a:latin typeface="Calibri"/>
              </a:rPr>
              <a:t>storage, the read path, cubes, policy, operability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3A6E"/>
                </a:solidFill>
                <a:latin typeface="Calibri"/>
              </a:rPr>
              <a:t>IV  </a:t>
            </a:r>
            <a:r>
              <a:rPr sz="1000" b="1" i="0">
                <a:solidFill>
                  <a:srgbClr val="0E1726"/>
                </a:solidFill>
                <a:latin typeface="Calibri"/>
              </a:rPr>
              <a:t>Evidence  </a:t>
            </a:r>
            <a:r>
              <a:rPr sz="1000" b="0" i="0">
                <a:solidFill>
                  <a:srgbClr val="444F60"/>
                </a:solidFill>
                <a:latin typeface="Calibri"/>
              </a:rPr>
              <a:t>the gates, the mutations, and what is measured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3A6E"/>
                </a:solidFill>
                <a:latin typeface="Calibri"/>
              </a:rPr>
              <a:t>V   </a:t>
            </a:r>
            <a:r>
              <a:rPr sz="1000" b="1" i="0">
                <a:solidFill>
                  <a:srgbClr val="0E1726"/>
                </a:solidFill>
                <a:latin typeface="Calibri"/>
              </a:rPr>
              <a:t>The audit  </a:t>
            </a:r>
            <a:r>
              <a:rPr sz="1000" b="0" i="0">
                <a:solidFill>
                  <a:srgbClr val="444F60"/>
                </a:solidFill>
                <a:latin typeface="Calibri"/>
              </a:rPr>
              <a:t>a hundred and twenty-nine findings, and what they cost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FRONT MATTER ·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Who this is for, and where to stop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Front matter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28292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51003"/>
                <a:gridCol w="4951807"/>
                <a:gridCol w="2934404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If you are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The last part you need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evaluating whether to use this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Part I for the argument, then Part V for what an audit found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V — it is the honest one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an engineer who wants to run a query today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Part III, then `docs/QUICKSTART.md`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data scientist deciding whether numbers tie out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Part II — determinism and the date axis, as tests rather than claims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responsible for operating it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Part III §III.6 onward, then `docs/OPERATIONS.md` and `docs/SECURITY.md`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auditing it, or deciding whether to trust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Part IV on the evidence, then all of Part V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V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4383773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444F60"/>
                </a:solidFill>
                <a:latin typeface="Calibri"/>
              </a:rPr>
              <a:t>This deck is one of eighteen documents and it is the shortest. It does not replace them --- a deck that claimed to would be the mistake this project has already made once, when a twenty-seven-chapter book said it replaced the working documents it was assembled from and then went stale wherever they disagreed.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FRONT MATTER ·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What this deck is, and what it is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Front matter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238759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84203"/>
                <a:gridCol w="1742302"/>
                <a:gridCol w="6510709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Answers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`README.md`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one page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what it is, what runs today, where to go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`QUICKSTART.md`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session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install, start, query, tear down --- every transcript real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`ARCHITECTURE.md`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system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what a query does, and what is designed and not running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`TESTING.md`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evidence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gates, the mutations, and what none of it catches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`REMEDIATION.md`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log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129 findings, and what closing each one cost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This deck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argument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why the design is this shape, and what it refuses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39420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E1726"/>
                </a:solidFill>
                <a:latin typeface="Calibri"/>
              </a:rPr>
              <a:t>Every figure in this deck names what produced it. </a:t>
            </a:r>
            <a:r>
              <a:rPr sz="1100" b="0" i="0">
                <a:solidFill>
                  <a:srgbClr val="444F60"/>
                </a:solidFill>
                <a:latin typeface="Calibri"/>
              </a:rPr>
              <a:t>A number without a benchmark beside it is a claim, and this project published three speed tables that nothing in its history had ever produced --- restated across other documents until they read as established fact. Part V is about that.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FRONT MATTER ·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Nine terms, defined before they are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Front matter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5" cy="376877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9103"/>
                <a:gridCol w="8528112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means here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Warehouse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A directory of tables in open Delta format. Any engine that reads Delta reads it, with no SANKHYA process in the path.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Live set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The files a table consists of at a version, after replaying its log. Not what is on disk --- a retired file outlives the commit that replaced it.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`sank_data_date`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The business date a row belongs to, carried by every published table. Distinct from when it arrived, which is what makes a restatement expressible.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Cube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A declared aggregation over a fact table, with dimensions, measures and an additivity rule per measure. A measure with no rule is refused rather than summed.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Cuboid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One materialised roll-up of a cube at one grain. A cache: an unreadable one costs a slower answer, never a wrong one.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Completeness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The fraction of the grain a roll-up actually covered, returned beside the number. A total over 2 of 3 regions says so.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Snapshot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A named pin at a version, so files it needs are not reclaimed. Distinct from a version, which is a position in the log.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Shape (of a statement)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The first word, and a second only when it is a keyword. `select`, `create table`. Never `select nosuchcolumn` --- that is the caller's own text.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Window (of the audit)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The most recent 1,024 records held in memory. The file is the chain; the window is what a running process can show you.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3A6E"/>
                </a:solidFill>
                <a:latin typeface="Calibri"/>
              </a:rPr>
              <a:t>PART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680781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0" i="0">
                <a:solidFill>
                  <a:srgbClr val="FFFFFF"/>
                </a:solidFill>
                <a:latin typeface="Georgia"/>
              </a:rPr>
              <a:t>The name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429000"/>
            <a:ext cx="1645920" cy="36576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03320"/>
            <a:ext cx="638232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C8C2BA"/>
                </a:solidFill>
                <a:latin typeface="Calibri"/>
              </a:rPr>
              <a:t>What सांख्य means, what counting commits a system to, and the four positions this one takes as a result --- each with the price it charges.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546" y="1463040"/>
            <a:ext cx="3403908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950" b="1" i="0">
                <a:solidFill>
                  <a:srgbClr val="1E3A6E"/>
                </a:solidFill>
                <a:latin typeface="Calibri"/>
              </a:rPr>
              <a:t>CHAPTERS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1 · The name, and what it is for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2 · The estate, and what it costs to keep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3 · Four positions, and what each one costs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63393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FFFFFF"/>
                </a:solidFill>
                <a:latin typeface="Georgia"/>
              </a:rPr>
              <a:t>The Name, and What It Is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सांख्य --- to count is to make completely known.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NAME · WHAT IT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सांख्य — enumeration, not arithmetic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 · The Name, and What It Is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2377440" cy="1371600"/>
          </a:xfrm>
          <a:prstGeom prst="rect">
            <a:avLst/>
          </a:prstGeom>
          <a:solidFill>
            <a:srgbClr val="FBFAF7"/>
          </a:solidFill>
          <a:ln w="12700">
            <a:solidFill>
              <a:srgbClr val="D9D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1609344"/>
            <a:ext cx="20848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E3A6E"/>
                </a:solidFill>
                <a:latin typeface="Georgia"/>
              </a:rPr>
              <a:t>सांख्य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353312"/>
            <a:ext cx="798545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0E1726"/>
                </a:solidFill>
                <a:latin typeface="Calibri"/>
              </a:rPr>
              <a:t>Sāṅkhya is the oldest of the six darśanas — the enumerationist school. Its method is not calculation. It is the exhaustive listing of what there is, on the argument that a thing is known when everything it is composed of has been named and nothing has been left out.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0E1726"/>
                </a:solidFill>
                <a:latin typeface="Calibri"/>
              </a:rPr>
              <a:t>The root साङ्ख्य carries both senses at once: to count, and to make completely known. They are the same act. An enumeration with a gap in it is not a smaller enumeration — it is a different claim about the world, made silently.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E3A6E"/>
                </a:solidFill>
                <a:latin typeface="Calibri"/>
              </a:rPr>
              <a:t>Which is what an analytical warehouse is for, and what goes wrong with 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730752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95344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1726"/>
                </a:solidFill>
                <a:latin typeface="Calibri"/>
              </a:rPr>
              <a:t>A total that omits a partition is not a smaller total.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It is a different number, and it does not say so. Every position in this deck follows from taking that seriously: a system that counts must be able to say what it counted over, and must refuse rather than answer when it cannot.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NAME · THE 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The mark, and what it is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 · The Name, and What It Is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353312"/>
            <a:ext cx="780257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1E3A6E"/>
                </a:solidFill>
                <a:latin typeface="Calibri"/>
              </a:rPr>
              <a:t>A die, read three ways.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0E1726"/>
                </a:solidFill>
                <a:latin typeface="Calibri"/>
              </a:rPr>
              <a:t>The faces are a cube.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Which is the shape of the analytical model here: dimensions crossed with measures, sliced and rolled up.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0E1726"/>
                </a:solidFill>
                <a:latin typeface="Calibri"/>
              </a:rPr>
              <a:t>The pips are a count.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The oldest counting mark there is, and the thing the name means.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0E1726"/>
                </a:solidFill>
                <a:latin typeface="Calibri"/>
              </a:rPr>
              <a:t>The die is also a refusal.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It has six faces and no seventh. A shape that cannot express a value does not approximate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67912"/>
            <a:ext cx="10637215" cy="86868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67912"/>
            <a:ext cx="41148" cy="86868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3" y="3986784"/>
            <a:ext cx="10180015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mark is generated, not drawn. </a:t>
            </a:r>
            <a:r>
              <a:rPr sz="1050" b="0" i="0">
                <a:solidFill>
                  <a:srgbClr val="0E1726"/>
                </a:solidFill>
                <a:latin typeface="Calibri"/>
              </a:rPr>
              <a:t>`tools/make-logo.py` produces the wordmark, the favicon, the dark variant and this deck's palette from one source, for the same reason the metric catalogue is generated: so that they cannot drift apart. Change a proportion and every artefact changes with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78024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FFFFFF"/>
                </a:solidFill>
                <a:latin typeface="Georgia"/>
              </a:rPr>
              <a:t>The Estate, and What It Costs to Keep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Three engines, three copies, and a reconciliation function with no analytical output.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PROBLEM · WHAT IS THERE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What an estate actually holds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2 · The Estate, and What It Costs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3" cy="17029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84203"/>
                <a:gridCol w="3026104"/>
                <a:gridCol w="2659303"/>
                <a:gridCol w="2567603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The engine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 good at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Kept in step by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transactional store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one row, now, correctly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operational truth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being the source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An analytical engine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hundred million rows, columnar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copy, batched in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pipeline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graph store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traversal and reachability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second copy, reshaped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another pipeline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search index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text and ranking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third copy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third pipeline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3275761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0E1726"/>
                </a:solidFill>
                <a:latin typeface="Calibri"/>
              </a:rPr>
              <a:t>Each is the right tool. None of them is the problem. The problem is the arithmetic that follows from having them.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1726"/>
                </a:solidFill>
                <a:latin typeface="Calibri"/>
              </a:rPr>
              <a:t>Every pair of copies is a place they can disagree.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Four copies is six pairs; six copies is fifteen. The reconciliation function that grows to cover them produces no analytical output of its own — it exists entirely to answer whether two systems still agree, and it is never finished, because a system that stops reconciling is not a system that has converged.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PROBLEM · THE SHAPE OF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What the answer has to be, and what it cannot be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2 · The Estate, and What It Costs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22909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01204"/>
                <a:gridCol w="7336010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 answer that does not work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not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Make the copies converge faster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Halving the lag halves the window in which they disagree and removes none of the pairs. The reconciliation function is unchanged.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Make one engine do everything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row store scanning a hundred million rows and a column store fetching one row are both the wrong shape. The specialisation is real.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Put a query federator in front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copies still exist and still disagree; the federator now has to decide which one is right, at query time, with no basis for deciding.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One governed copy, several engines over it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pairs go to zero because there is one copy. This is the design, and §III says what it costs.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3863759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3A6E"/>
                </a:solidFill>
                <a:latin typeface="Calibri"/>
              </a:rPr>
              <a:t>The last row is a claim about today, and it is not true yet.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One engine runs — the analytical one, read-only. The transactional tier is a supervised child process that nothing in the server starts; the graph tier is registered against an empty catalogue and can never answer. Part V says so at length, and `docs/STATUS.md` is the document that must be believed over this 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78024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FFFFFF"/>
                </a:solidFill>
                <a:latin typeface="Georgia"/>
              </a:rPr>
              <a:t>Four Positions, and What Each One Costs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Each is a choice with a price, and the price is stated.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STANCE · WHAT IS CHOSEN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Four positions, and their cost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3 · Four Positions, and What Each One Costs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2861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92503"/>
                <a:gridCol w="4585006"/>
                <a:gridCol w="3759705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costs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63204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Refuse rather than approximate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A statement that cannot be answered exactly is refused by name. A measure with no additivity rule is not summed; a hash join too large for the pool is an error, not a slow answer.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Statements fail that other engines would answer. Every refusal has to be worth reading, or it becomes a thing people route around.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204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Determinism over speed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A reduction is order-independent by construction, so two runs of the same query agree bit for bit however the rows arrived.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**57× against an ordinary sum at eight values**, 12× at four thousand. Measured, and published beside the claim rather than instead of it.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63204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Open storage, no exception for the fast path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Tables are Delta. Any engine that reads Delta reads them with no SANKHYA process in the path, including the materialised cuboids.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The format bounds what can be expressed, and a protocol version this build cannot honour is refused rather than read approximately.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204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Evidence over assertion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Every rule has a check that fails the build. Every speed figure has a benchmark that produces it. Every claim about what is built is compared against one canonical line.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The checks are a system in themselves — twenty-seven of them — and Part V is the record of what they did not catch.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STANCE · WHERE THE RULE LIVES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Why governance has to be in the path, not beside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3 · Four Positions, and What Each One Costs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2522143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2522143" cy="4572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1499616"/>
            <a:ext cx="22295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3A6E"/>
                </a:solidFill>
                <a:latin typeface="Georgia"/>
              </a:rPr>
              <a:t>01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E1726"/>
                </a:solidFill>
                <a:latin typeface="Calibri"/>
              </a:rPr>
              <a:t>A caller asks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444F60"/>
                </a:solidFill>
                <a:latin typeface="Calibri"/>
              </a:rPr>
              <a:t>for a table by name, under a 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82263" y="1353312"/>
            <a:ext cx="2522143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82263" y="1353312"/>
            <a:ext cx="2522143" cy="4572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567" y="1499616"/>
            <a:ext cx="22295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3A6E"/>
                </a:solidFill>
                <a:latin typeface="Georgia"/>
              </a:rPr>
              <a:t>02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E1726"/>
                </a:solidFill>
                <a:latin typeface="Calibri"/>
              </a:rPr>
              <a:t>The session is built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444F60"/>
                </a:solidFill>
                <a:latin typeface="Calibri"/>
              </a:rPr>
              <a:t>with only the tables that principal may read — a refused table is absent, not present-and-filtered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353312"/>
            <a:ext cx="2522143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1353312"/>
            <a:ext cx="2522143" cy="4572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3591" y="1499616"/>
            <a:ext cx="22295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3A6E"/>
                </a:solidFill>
                <a:latin typeface="Georgia"/>
              </a:rPr>
              <a:t>03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E1726"/>
                </a:solidFill>
                <a:latin typeface="Calibri"/>
              </a:rPr>
              <a:t>The plan is checked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444F60"/>
                </a:solidFill>
                <a:latin typeface="Calibri"/>
              </a:rPr>
              <a:t>row predicates and column masks are physical operators, not advice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92311" y="1353312"/>
            <a:ext cx="2522143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92311" y="1353312"/>
            <a:ext cx="2522143" cy="4572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8615" y="1499616"/>
            <a:ext cx="22295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3A6E"/>
                </a:solidFill>
                <a:latin typeface="Georgia"/>
              </a:rPr>
              <a:t>04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E1726"/>
                </a:solidFill>
                <a:latin typeface="Calibri"/>
              </a:rPr>
              <a:t>The answer is recorded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444F60"/>
                </a:solidFill>
                <a:latin typeface="Calibri"/>
              </a:rPr>
              <a:t>who, what shape, how many rows, under what restriction — in a hash-linked chain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044952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E1726"/>
                </a:solidFill>
                <a:latin typeface="Calibri"/>
              </a:rPr>
              <a:t>A table the caller may not read is not registered in the session at all.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So a query naming it fails to resolve rather than planning and returning nothing — which would be indistinguishable from an empty table, and is the difference between a refusal and a wrong answer. The same reasoning governs the catalogue: a listing that showed tables the caller cannot read would disclose their existence through the back door of a schema browser.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41655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3A6E"/>
                </a:solidFill>
                <a:latin typeface="Calibri"/>
              </a:rPr>
              <a:t>And the cost.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Building a session per statement is work, and this design does it on every one. What it buys is that authorization cannot be bypassed by a path that forgot to check — there is no such path, because the check is what constructs the session.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3A6E"/>
                </a:solidFill>
                <a:latin typeface="Calibri"/>
              </a:rPr>
              <a:t>PART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680781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0" i="0">
                <a:solidFill>
                  <a:srgbClr val="FFFFFF"/>
                </a:solidFill>
                <a:latin typeface="Georgia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429000"/>
            <a:ext cx="1645920" cy="36576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03320"/>
            <a:ext cx="638232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C8C2BA"/>
                </a:solidFill>
                <a:latin typeface="Calibri"/>
              </a:rPr>
              <a:t>The two properties everything else rests on, stated as tests rather than as claims: a total that does not move, and a date that means one 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546" y="1463040"/>
            <a:ext cx="3403908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950" b="1" i="0">
                <a:solidFill>
                  <a:srgbClr val="1E3A6E"/>
                </a:solidFill>
                <a:latin typeface="Calibri"/>
              </a:rPr>
              <a:t>CHAPTERS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4 · A total that does not move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5 · The date axis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6 · What a cube refuses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34132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A Total That Does Not Move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Order-independence by construction, and what it costs.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FOUNDATIONS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The problem, in four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4 · A Total That Does Not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5531351" cy="1853488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1148" cy="1853488"/>
          </a:xfrm>
          <a:prstGeom prst="rect">
            <a:avLst/>
          </a:prstGeom>
          <a:solidFill>
            <a:srgbClr val="444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444752"/>
            <a:ext cx="516559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3A6E"/>
                </a:solidFill>
                <a:latin typeface="Calibri"/>
              </a:rPr>
              <a:t>the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746504"/>
            <a:ext cx="5165591" cy="13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SELECT sum(amount) FROM postings;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 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8395"/>
                </a:solidFill>
                <a:latin typeface="Consolas"/>
              </a:rPr>
              <a:t># the same four values, three arrival orders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  1e16,  1, -1e16,  1   -&gt;   ?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 -1e16,  1,  1e16,  1   -&gt;   ?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  1,  1e16,  1, -1e16   -&gt;   ?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627708" y="1353312"/>
          <a:ext cx="4786746" cy="17029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53637"/>
                <a:gridCol w="1933109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Engine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Ordinary floating-point sum, order 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Ordinary floating-point sum, order B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Ordinary floating-point sum, order 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SANKHYA, any order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**18**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3330625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1726"/>
                </a:solidFill>
                <a:latin typeface="Calibri"/>
              </a:rPr>
              <a:t>Eighteen is the correct answer, and the first three are all floating-point addition working exactly as specified.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Addition is not associative in binary floating point, so a total depends on the order the rows arrived in — which depends on which partition finished first, which depends on how busy the machine was. A warehouse whose totals move when the machine is busier is not one anybody can reconcile against.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FOUNDATIONS · THE MECHANISM AND THE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How, and what it costs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4 · A Total That Does Not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0E1726"/>
                </a:solidFill>
                <a:latin typeface="Calibri"/>
              </a:rPr>
              <a:t>The values are scaled to a common power of two and accumulated in a 127-bit integer. Integer addition is associative, so the order cannot matter — this is order-independence by construction rather than by sorting. Where no common scale exists, the reduction declines and falls back to an exact expansion over a canonical order; it never approximates.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450591"/>
          <a:ext cx="6595071" cy="17029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3973"/>
                <a:gridCol w="1831964"/>
                <a:gridCol w="2015161"/>
                <a:gridCol w="1373973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Values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`iter().sum()`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`deterministic_sum`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1.30 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74.1 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**57×**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14.5 ns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508 ns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**35×**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512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552 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5.89 µs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**10.7×**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4,096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4.45 µs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54.4 µs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**12.2×**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691429" y="2450591"/>
            <a:ext cx="372302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E3A6E"/>
                </a:solidFill>
                <a:latin typeface="Calibri"/>
              </a:rPr>
              <a:t>Measured, not asserted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444F60"/>
                </a:solidFill>
                <a:latin typeface="Calibri"/>
              </a:rPr>
              <a:t>`crates/sankhya-math/benches/reduce.rs`, criterion medians of a hundred samples, AMD Ryzen AI 9 HX 370, rustc 1.97.1, thin LTO.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444F60"/>
                </a:solidFill>
                <a:latin typeface="Calibri"/>
              </a:rPr>
              <a:t>The narrow case is the expensive one, and narrow is the common one here — a window of readings, a short curve. An i128 accumulator cannot be autovectorised.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91329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E3A6E"/>
                </a:solidFill>
                <a:latin typeface="Calibri"/>
              </a:rPr>
              <a:t>This table did not exist until an audit asked for it. </a:t>
            </a:r>
            <a:r>
              <a:rPr sz="1100" b="0" i="0">
                <a:solidFill>
                  <a:srgbClr val="444F60"/>
                </a:solidFill>
                <a:latin typeface="Calibri"/>
              </a:rPr>
              <a:t>What was published was a ratio against this project's own previous code, so a reader concluded the kernels were fast. They were faster than they had been.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FOUNDATIONS · THE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And what the guarantee does not cover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4 · A Total That Does Not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238759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85408"/>
                <a:gridCol w="2475903"/>
                <a:gridCol w="2475903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Kernel family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Bit-reproducible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Compensated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`vec_dot`, `sum`, `mean`, `norm_*`, `euclidean`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**yes**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`mat_multiply`, `mat_trace`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**yes**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statistics, calculus, regression, time series, finance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**yes**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LU — `mat_determinant`, `mat_solve`, `mat_inverse`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`mat_cholesky`, QR, eigen, singular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`gamma_p`, `gamma_q`, `beta_i` and what builds on them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3978656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E1726"/>
                </a:solidFill>
                <a:latin typeface="Calibri"/>
              </a:rPr>
              <a:t>Every kernel is reproducible run to run; not every kernel is compensated.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The decomposition family accumulates with ordinary addition in a fixed order, so two runs agree and a longer computation still loses precision the compensated path would have kept. That distinction was documented as one property until a reviewer read the code — and the decomposition family is the one a risk calculation actually uses.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Georgia"/>
              </a:rPr>
              <a:t>The Date 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One column, on every table, meaning one 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FOUNDATIONS · WHAT A DATE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Two dates, and the question that separates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5 · The Date Axis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20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5" cy="101838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00803"/>
                <a:gridCol w="4218206"/>
                <a:gridCol w="4218206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Answers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Moves when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`sank_data_date`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which business day this row belongs to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never — a restatement is a new row, not an edit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commit position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when this row became visible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every publication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2609443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0E1726"/>
                </a:solidFill>
                <a:latin typeface="Calibri"/>
              </a:rPr>
              <a:t>Every published table carries the first. That is not a convention — it is the column that makes a restatement expressible at all.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0E1726"/>
                </a:solidFill>
                <a:latin typeface="Calibri"/>
              </a:rPr>
              <a:t>Without it there is one date and it is doing two jobs.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A correction to Monday's figures, published on Wednesday, is either filed under Monday — losing the fact that Monday's number changed — or under Wednesday, losing the fact that it is about Monday. Neither is recoverable afterwards from the data, and both are the sort of thing an auditor asks about a year later.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E3A6E"/>
                </a:solidFill>
                <a:latin typeface="Calibri"/>
              </a:rPr>
              <a:t>With both, the question has an answer: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*what did we believe about Monday, as of Tuesday?* — which is a read at a position, filtered on a business date, and is the query a reconciliation is made of.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FOUNDATIONS · THE PRICE AND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What it costs, and where it is not yet true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5 · The Date Axis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21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13606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35207"/>
                <a:gridCol w="5502007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Carried by every table the publish path writes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**held**, and refused at publication if absent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Carried by rows arriving on the streaming path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**not held** — `FR-STORE-20` is unmet there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`_sankhya_commit_ts` on ingested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written as literal `0` for every row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2951746"/>
            <a:ext cx="1063721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1E3A6E"/>
                </a:solidFill>
                <a:latin typeface="Calibri"/>
              </a:rPr>
              <a:t>The gap is in the arm that does not run.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There is no change-capture runtime, so nothing arrives on the streaming path today — which makes the unmet requirement harmless now and a defect the moment capture is wired. It is recorded here rather than discovered then.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E1726"/>
                </a:solidFill>
                <a:latin typeface="Calibri"/>
              </a:rPr>
              <a:t>And the cost of the column itself: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every table is partitioned by it whether or not a query filters on it, so a query that does not mention the date still pays for the partitioning that makes one that does fast.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46350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What a Cube Refuses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Additivity is declared, never inferred — and a partial total says 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FOUNDATIONS · ADDITIVITY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Three measures, three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6 · What a Cube Refuses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23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13606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7603"/>
                <a:gridCol w="3668005"/>
                <a:gridCol w="4401606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Rolls up how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Asked to roll up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`amount` — a flow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summed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summed, across every dimension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`balance` — a stock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last, along time; summed elsewhere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closing balance, not twelve of them added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`margin_pct` — a 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**it does not**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**refused by name**, with the reason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2951746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0E1726"/>
                </a:solidFill>
                <a:latin typeface="Calibri"/>
              </a:rPr>
              <a:t>A ratio of sums is not the sum of ratios, and no rule makes it one.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So a cube declaring `margin_pct` with no additivity rule does not sum it, does not average it, and does not quietly return the first value. It refuses the roll-up and says which measure and why.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E3A6E"/>
                </a:solidFill>
                <a:latin typeface="Calibri"/>
              </a:rPr>
              <a:t>The alternative is the one every spreadsheet takes: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average the percentages. That produces a number, it is wrong by an amount nobody can bound, and nothing about it looks wrong. This is the clearest case in the system of a refusal being worth more than an answer.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FOUNDATIONS · COMPLETENESS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A total that says what it covered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6 · What a Cube Refuses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5956840" cy="1992866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1148" cy="1992866"/>
          </a:xfrm>
          <a:prstGeom prst="rect">
            <a:avLst/>
          </a:prstGeom>
          <a:solidFill>
            <a:srgbClr val="444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444752"/>
            <a:ext cx="5591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3A6E"/>
                </a:solidFill>
                <a:latin typeface="Calibri"/>
              </a:rPr>
              <a:t>a roll-up over a partly-covered grain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746504"/>
            <a:ext cx="5591080" cy="1517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1726"/>
                </a:solidFill>
                <a:latin typeface="Consolas"/>
              </a:rPr>
              <a:t>SELECT * FROM cube_rollup('sales', 'region');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1726"/>
                </a:solidFill>
                <a:latin typeface="Consolas"/>
              </a:rPr>
              <a:t> 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1726"/>
                </a:solidFill>
                <a:latin typeface="Consolas"/>
              </a:rPr>
              <a:t> region  |  amount  | completeness | withheld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1726"/>
                </a:solidFill>
                <a:latin typeface="Consolas"/>
              </a:rPr>
              <a:t>---------+----------+--------------+---------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1726"/>
                </a:solidFill>
                <a:latin typeface="Consolas"/>
              </a:rPr>
              <a:t> north   |   412000 |        1.000 |        0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1726"/>
                </a:solidFill>
                <a:latin typeface="Consolas"/>
              </a:rPr>
              <a:t> south   |   380500 |        1.000 |        0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1726"/>
                </a:solidFill>
                <a:latin typeface="Consolas"/>
              </a:rPr>
              <a:t> east    |   201750 |        0.667 |      333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569" y="1353312"/>
            <a:ext cx="4254886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E3A6E"/>
                </a:solidFill>
                <a:latin typeface="Calibri"/>
              </a:rPr>
              <a:t>The last row is the point.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44F60"/>
                </a:solidFill>
                <a:latin typeface="Calibri"/>
              </a:rPr>
              <a:t>`east` is a total over two of three days. The number is real, and on its own it is indistinguishable from a complete one — so it does not travel on its own.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444F60"/>
                </a:solidFill>
                <a:latin typeface="Calibri"/>
              </a:rPr>
              <a:t>`completeness` is the fraction of the grain actually covered; `withheld` is what was not. A consumer can decide; a consumer without them cannot.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867912"/>
            <a:ext cx="10637215" cy="86868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867912"/>
            <a:ext cx="41148" cy="86868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3" y="3986784"/>
            <a:ext cx="10180015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Two navigations, not four. </a:t>
            </a:r>
            <a:r>
              <a:rPr sz="1050" b="0" i="0">
                <a:solidFill>
                  <a:srgbClr val="0E1726"/>
                </a:solidFill>
                <a:latin typeface="Calibri"/>
              </a:rPr>
              <a:t>`cube_rollup` and `cube_slice` are registered. Dice is an option inside slice rather than a navigation of its own, and drill-down is not built — three documents claimed four or five until a reviewer counted the registrations.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3A6E"/>
                </a:solidFill>
                <a:latin typeface="Calibri"/>
              </a:rPr>
              <a:t>PART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680781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0" i="0">
                <a:solidFill>
                  <a:srgbClr val="FFFFFF"/>
                </a:solidFill>
                <a:latin typeface="Georgia"/>
              </a:rPr>
              <a:t>The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429000"/>
            <a:ext cx="1645920" cy="36576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03320"/>
            <a:ext cx="638232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C8C2BA"/>
                </a:solidFill>
                <a:latin typeface="Calibri"/>
              </a:rPr>
              <a:t>What a statement actually does, what bounds it, what it is allowed to see, and what an operator can find out afterwards.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546" y="1463040"/>
            <a:ext cx="3403908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950" b="1" i="0">
                <a:solidFill>
                  <a:srgbClr val="1E3A6E"/>
                </a:solidFill>
                <a:latin typeface="Calibri"/>
              </a:rPr>
              <a:t>CHAPTERS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7 · What a statement does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8 · What bounds 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9 · What it is allowed to see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10 · What an operator can find out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90241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What a Statement Does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One query, end to end, with nothing left 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SYSTEM · THE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A statement,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7 · What a Statement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384048" cy="384048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08176"/>
            <a:ext cx="384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1335024"/>
            <a:ext cx="10106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E1726"/>
                </a:solidFill>
                <a:latin typeface="Calibri"/>
              </a:rPr>
              <a:t>The connection  </a:t>
            </a:r>
            <a:r>
              <a:rPr sz="1050" b="0" i="0">
                <a:solidFill>
                  <a:srgbClr val="444F60"/>
                </a:solidFill>
                <a:latin typeface="Calibri"/>
              </a:rPr>
              <a:t>PostgreSQL wire protocol, hand-written codec, a pure state machine. TLS negotiated inside it. Past 1,024 connections the loop stops accepting and callers wait in the kernel backlog.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1920240"/>
            <a:ext cx="384048" cy="384048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5104"/>
            <a:ext cx="384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" y="1901952"/>
            <a:ext cx="10106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E1726"/>
                </a:solidFill>
                <a:latin typeface="Calibri"/>
              </a:rPr>
              <a:t>The principal  </a:t>
            </a:r>
            <a:r>
              <a:rPr sz="1050" b="0" i="0">
                <a:solidFill>
                  <a:srgbClr val="444F60"/>
                </a:solidFill>
                <a:latin typeface="Calibri"/>
              </a:rPr>
              <a:t>Established from the startup packet. There is no anonymous construction — a principal that cannot say how it was authenticated cannot be audited.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487168"/>
            <a:ext cx="384048" cy="384048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542032"/>
            <a:ext cx="384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2468880"/>
            <a:ext cx="10106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E1726"/>
                </a:solidFill>
                <a:latin typeface="Calibri"/>
              </a:rPr>
              <a:t>The tables  </a:t>
            </a:r>
            <a:r>
              <a:rPr sz="1050" b="0" i="0">
                <a:solidFill>
                  <a:srgbClr val="444F60"/>
                </a:solidFill>
                <a:latin typeface="Calibri"/>
              </a:rPr>
              <a:t>Re-discovered if the warehouse moved, through a log cache that reads only commits arriving since the last statement.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054096"/>
            <a:ext cx="384048" cy="384048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108960"/>
            <a:ext cx="384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3035808"/>
            <a:ext cx="10106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E1726"/>
                </a:solidFill>
                <a:latin typeface="Calibri"/>
              </a:rPr>
              <a:t>The session  </a:t>
            </a:r>
            <a:r>
              <a:rPr sz="1050" b="0" i="0">
                <a:solidFill>
                  <a:srgbClr val="444F60"/>
                </a:solidFill>
                <a:latin typeface="Calibri"/>
              </a:rPr>
              <a:t>Built with **only** the tables this principal may read. A refused table is absent, not present-and-filtered.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21024"/>
            <a:ext cx="384048" cy="384048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75888"/>
            <a:ext cx="384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3602736"/>
            <a:ext cx="10106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E1726"/>
                </a:solidFill>
                <a:latin typeface="Calibri"/>
              </a:rPr>
              <a:t>The plan  </a:t>
            </a:r>
            <a:r>
              <a:rPr sz="1050" b="0" i="0">
                <a:solidFill>
                  <a:srgbClr val="444F60"/>
                </a:solidFill>
                <a:latin typeface="Calibri"/>
              </a:rPr>
              <a:t>DataFusion, on a runtime shared by every statement, with row predicates and column masks as physical operators.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87952"/>
            <a:ext cx="384048" cy="384048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242816"/>
            <a:ext cx="384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7592" y="4169664"/>
            <a:ext cx="10106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E1726"/>
                </a:solidFill>
                <a:latin typeface="Calibri"/>
              </a:rPr>
              <a:t>The answer  </a:t>
            </a:r>
            <a:r>
              <a:rPr sz="1050" b="0" i="0">
                <a:solidFill>
                  <a:srgbClr val="444F60"/>
                </a:solidFill>
                <a:latin typeface="Calibri"/>
              </a:rPr>
              <a:t>Streamed and stopped at the row limit — the bound is checked while it runs, not after everything is in memory.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754880"/>
            <a:ext cx="384048" cy="384048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809744"/>
            <a:ext cx="384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7592" y="4736592"/>
            <a:ext cx="10106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E1726"/>
                </a:solidFill>
                <a:latin typeface="Calibri"/>
              </a:rPr>
              <a:t>The record  </a:t>
            </a:r>
            <a:r>
              <a:rPr sz="1050" b="0" i="0">
                <a:solidFill>
                  <a:srgbClr val="444F60"/>
                </a:solidFill>
                <a:latin typeface="Calibri"/>
              </a:rPr>
              <a:t>Two of them: a hash-linked audit entry for an investigator, and one log line for whoever is looking at a slow server.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SYSTEM · THE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What is open, and what that costs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7 · What a Statement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28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194868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68005"/>
                <a:gridCol w="6969209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follows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Tables are Delta, including materialised cuboids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Any engine that reads Delta reads them, with no SANKHYA process in the path. The fast path gets no exception — a cuboid is a published table on purpose.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log is the table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commit is a file appended to `_delta_log`. Concurrency control in its entirety is: pick the next version, fail if somebody took it.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protocol version this build cannot honour is refused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Reader version 2 is column mapping — every column would read null. Version 3 is deletion vectors — deleted rows would be served as live. Both are answers rather than errors.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3539744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3A6E"/>
                </a:solidFill>
                <a:latin typeface="Calibri"/>
              </a:rPr>
              <a:t>The last row was not true until recently.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`Action::Protocol` was parsed out of every log and thrown away, with no ceiling anywhere in the workspace — so a table another engine had upgraded was read anyway, with this reader understanding only the parts of it that happened to look like version 1.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04872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FFFFFF"/>
                </a:solidFill>
                <a:latin typeface="Georgia"/>
              </a:rPr>
              <a:t>What Bounds a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Four limits, one of which was a lie until recently.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SYSTEM ·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Four bounds, and which door each applies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8 · What Bounds a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2" cy="17029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9504"/>
                <a:gridCol w="1375501"/>
                <a:gridCol w="3301204"/>
                <a:gridCol w="2751003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Bound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 by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Applies to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Memory, **shared between all queries**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1 GiB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`SANKHYA_QUERY_MEMORY_BYTES`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every statement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Rows returned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compiled in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wire door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Statement deadline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30 minutes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`SANKHYA_STATEMENT_TIMEOUT_SECONDS`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wire door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Concurrent connections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compiled in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wire door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3294049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0E1726"/>
                </a:solidFill>
                <a:latin typeface="Calibri"/>
              </a:rPr>
              <a:t>The pool is fair rather than greedy, and that is the whole argument for sharing it.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A greedy pool serves whoever asks first and starves the rest, turning one expensive query into an outage for everybody. A fair one makes the expensive query fail *itself* — which is the query that should get the error.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3A6E"/>
                </a:solidFill>
                <a:latin typeface="Calibri"/>
              </a:rPr>
              <a:t>Spilling is not a silver bullet.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A sort or a grouping past the bound finishes slowly on disk. A hash join cannot spill at all, so it is refused whatever the limit is — worth knowing before somebody raises the limit expecting the join to start working.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SYSTEM · A CORRECTION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The bound that was not a bound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8 · What Bounds a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0E1726"/>
                </a:solidFill>
                <a:latin typeface="Calibri"/>
              </a:rPr>
              <a:t>The setting says what a server's queries may use **between them**. The first implementation built a fresh pool on every call.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0" i="0">
                <a:solidFill>
                  <a:srgbClr val="444F60"/>
                </a:solidFill>
                <a:latin typeface="Calibri"/>
              </a:rPr>
              <a:t>So each statement got its own gibibyte, ten concurrent statements got ten, and the machine died exactly as it had before — while the setting, its help text and the remediation log all said otherwise. </a:t>
            </a:r>
            <a:r>
              <a:rPr sz="1150" b="1" i="0">
                <a:solidFill>
                  <a:srgbClr val="0E1726"/>
                </a:solidFill>
                <a:latin typeface="Calibri"/>
              </a:rPr>
              <a:t>A pool that is not shared is not a bound; it is a per-statement allowance wearing a bound's name, which is worse than no bound because it reads as solved.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3A6E"/>
                </a:solidFill>
                <a:latin typeface="Calibri"/>
              </a:rPr>
              <a:t>And fairness was the entire reason for choosing that pool.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With a pool each, there is nothing to be fair about.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47872"/>
            <a:ext cx="10637215" cy="105156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547872"/>
            <a:ext cx="41148" cy="105156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3" y="3666744"/>
            <a:ext cx="10180015" cy="832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test written to prove it passed either way. </a:t>
            </a:r>
            <a:r>
              <a:rPr sz="1050" b="0" i="0">
                <a:solidFill>
                  <a:srgbClr val="0E1726"/>
                </a:solidFill>
                <a:latin typeface="Calibri"/>
              </a:rPr>
              <a:t>Two sessions and two hash joins against a megabyte are refused whether the pool is shared or per-statement — each is refused against a megabyte of its own. It was thrown away for one that asks the question directly: the two runtimes, and the pools inside them, must be the same object.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78024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FFFFFF"/>
                </a:solidFill>
                <a:latin typeface="Georgia"/>
              </a:rPr>
              <a:t>What a Statement Is Allowed to See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Rows, columns, and the catalogue — one mechanism, three surfaces.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SYSTEM ·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Three things a policy governs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9 · What a Statement Is Allowed to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33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194868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00803"/>
                <a:gridCol w="3301204"/>
                <a:gridCol w="5135207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Surface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is not advice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Which tables exist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an unauthorised table is never registered in the session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query naming it fails to resolve, rather than planning and returning nothing — which is indistinguishable from an empty table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Which rows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predicate spliced into the plan as a physical operator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filter the optimiser could reorder past is a filter that sometimes does not run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Which columns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masking expression wrapping the projection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`concat` treats null as empty string, so it would turn a null e-mail into `***` — a value where there was none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3539744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E1726"/>
                </a:solidFill>
                <a:latin typeface="Calibri"/>
              </a:rPr>
              <a:t>A masked column also stops being a filter target.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Pushing a predicate on a masked column down to the scan would test the real value and reveal it through which rows came back — so the table reports those filters as unsupported and the plan keeps them above the mask.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SYSTEM · WHAT IS ON BY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The posture as shipped, stated plainly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9 · What a Statement Is Allowed to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34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248698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2302"/>
                <a:gridCol w="2200803"/>
                <a:gridCol w="6694109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Shipped default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Consequence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**off**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wire is plain unless a certificate is configured; there is no environment variable for it, so a container configured purely by environment cannot turn it 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Passwords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required, verifier list empty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no credential matches, so every login is refused until one is configured — the safe direction, and not obvious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`/metrics`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**unauthenticated**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bound to loopback in the shipped unit; a collector reaches it through the pod boundary or a sidecar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columnar door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identity from an unverified header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Flight takes a `sankhya-user` header and never binds it to a client certificate, even under mutual TLS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405975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3A6E"/>
                </a:solidFill>
                <a:latin typeface="Calibri"/>
              </a:rPr>
              <a:t>Each of these was documented honestly, and separately.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A security reviewer needs them on one page, which is what `docs/SECURITY.md` is for — the assembly is the finding, not any single row.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63393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FFFFFF"/>
                </a:solidFill>
                <a:latin typeface="Georgia"/>
              </a:rPr>
              <a:t>What an Operator Can Find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Two records, one diagnostic, and the things that cannot be seen.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SYSTEM · WHAT IS RECORDED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Two records of the same event, for two people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10 · What an Operator Can Find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36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18989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25702"/>
                <a:gridCol w="4309906"/>
                <a:gridCol w="4401606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The audit chain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The query log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Read by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an investigator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whoever is looking at a slow server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hash-linked records, appended to a file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one structured line per statement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Carries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who, which table, what shape, how many rows, under what restriction, at what version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who, the shape, tables scanned, rows, **milliseconds**, refused or answered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Does not carry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statement text — a second place the data lives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statement text, and not the refusal's reason either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347176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E1726"/>
                </a:solidFill>
                <a:latin typeface="Calibri"/>
              </a:rPr>
              <a:t>A refusal's detail is withheld deliberately.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A planner's message frequently quotes what the caller typed — that was a real disclosure, where a misspelt column returned the list of every real one. So the log says a statement was refused, and the audit says which statement it was.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SYSTEM · WHAT A SHAPE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The shape, and why it is one word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10 · What an Operator Can Find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6169584" cy="1639062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1148" cy="1639062"/>
          </a:xfrm>
          <a:prstGeom prst="rect">
            <a:avLst/>
          </a:prstGeom>
          <a:solidFill>
            <a:srgbClr val="444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444752"/>
            <a:ext cx="580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3A6E"/>
                </a:solidFill>
                <a:latin typeface="Calibri"/>
              </a:rPr>
              <a:t>statement in, shape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746504"/>
            <a:ext cx="5803824" cy="1163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SELECT region FROM orders            -&gt;  select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SELECT nosuchcolumn FROM orders      -&gt;  select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SELECT 'a-secret-value' FROM orders  -&gt;  select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CREATE TABLE q3 CLONE sales.orders   -&gt;  create table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SHOW FEEDS                           -&gt;  show feeds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2313" y="1353312"/>
            <a:ext cx="404214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E3A6E"/>
                </a:solidFill>
                <a:latin typeface="Calibri"/>
              </a:rPr>
              <a:t>The second word survives only when it is one of ours.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444F60"/>
                </a:solidFill>
                <a:latin typeface="Calibri"/>
              </a:rPr>
              <a:t>`create table` and `show feeds` are worth telling apart. `select nosuchcolumn` is a column the caller named, and `select 'a-secret-value'` is a literal.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444F60"/>
                </a:solidFill>
                <a:latin typeface="Calibri"/>
              </a:rPr>
              <a:t>It took the first two words until a query log was written and the same helper was read again — it had been putting caller text into the durable audit since the day the audit was made durable.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SYSTEM · THE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What an operator still cannot see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10 · What an Operator Can Find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38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18989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02007"/>
                <a:gridCol w="5135207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Maintenance counters — ticks, failures, bytes reclaimed, tables held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counted on the handle and **exported nowhere**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Four of the six error codes that page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cannot fire; the subsystems that would raise them do not run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Replication lag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check is written, tested, exported and called by nothing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audit chain's head, continuously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printed once at startup; nothing queries it, so truncation is not detectable the way the design assumes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347176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3A6E"/>
                </a:solidFill>
                <a:latin typeface="Calibri"/>
              </a:rPr>
              <a:t>A metric nothing emits and an alert that can never fire are the same failure: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absence rendering as health. `check-catalogues` fails when a documented code has no construction site, and the catalogue marks the twelve that cannot fire — because an alert rule written from a document should be able to fire.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3A6E"/>
                </a:solidFill>
                <a:latin typeface="Calibri"/>
              </a:rPr>
              <a:t>PART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680781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0" i="0">
                <a:solidFill>
                  <a:srgbClr val="FFFFFF"/>
                </a:solidFill>
                <a:latin typeface="Georgia"/>
              </a:rPr>
              <a:t>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429000"/>
            <a:ext cx="1645920" cy="36576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03320"/>
            <a:ext cx="638232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C8C2BA"/>
                </a:solidFill>
                <a:latin typeface="Calibri"/>
              </a:rPr>
              <a:t>Four kinds of evidence, each answering a question the previous one cannot — and a plain statement of what none of them catches.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546" y="1463040"/>
            <a:ext cx="3403908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950" b="1" i="0">
                <a:solidFill>
                  <a:srgbClr val="1E3A6E"/>
                </a:solidFill>
                <a:latin typeface="Calibri"/>
              </a:rPr>
              <a:t>CHAPTERS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11 · Four kinds of evidence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12 · Would the tests notice?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13 · What none of it catches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90241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Four Kinds of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Each answers a question the previous one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EVIDENCE · THE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Four questions, four mechanisms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11 · Four Kinds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41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3" cy="18989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2302"/>
                <a:gridCol w="3301204"/>
                <a:gridCol w="4126505"/>
                <a:gridCol w="1467202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Answers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Fails when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does it do the thing?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behaviour changes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2,805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Gates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does the repository still hold its own rules?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rule breaks anywhere, **including in a document**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Mutations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would the tests notice if it stopped?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deliberate defect survives the suite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909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Benchmarks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is the number real?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published figure has nothing that produces it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2 suites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3490048"/>
            <a:ext cx="10637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0E1726"/>
                </a:solidFill>
                <a:latin typeface="Calibri"/>
              </a:rPr>
              <a:t>A test proves that code does what a test says.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It does not prove the test would notice if the code stopped. Nor does a green build prove the checks ran, that they measured anything, or that what they measured is what a document claims.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E3A6E"/>
                </a:solidFill>
                <a:latin typeface="Calibri"/>
              </a:rPr>
              <a:t>Twelve audits found 129 things in a repository whose gate was green.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Not one was found by a failing test, because none of them made a test fail.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EVIDENCE · THE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Cheapest first, and why that is the whole trick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11 · Four Kinds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42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7658794" cy="101838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99988"/>
                <a:gridCol w="1458818"/>
                <a:gridCol w="3099988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Checks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Read files and decide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**about two seconds, for all of them**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Build something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twenty to twenty-five minutes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2646019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0E1726"/>
                </a:solidFill>
                <a:latin typeface="Calibri"/>
              </a:rPr>
              <a:t>The expensive one used to run first.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So a stale figure, a file fifteen lines over the length ceiling, and a banned word in a comment — combined computation under five seconds — were reported **twenty-five minutes** into a run. That happened three times in one sitting.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E3A6E"/>
                </a:solidFill>
                <a:latin typeface="Calibri"/>
              </a:rPr>
              <a:t>Cheapest-first does not make the gate faster.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It makes the loop faster, which is the thing that was slow: the answer arrives while the person who caused it is still looking at what they changed. `cargo xtask check-fast` is the same set on its own.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04872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FFFFFF"/>
                </a:solidFill>
                <a:latin typeface="Georgia"/>
              </a:rPr>
              <a:t>Would the Tests Notice?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Nine hundred deliberate defects, and what surviving one means.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EVIDENCE · MUTATION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The only mechanism that asks the right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12 · Would the Tests Notice?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E1726"/>
                </a:solidFill>
                <a:latin typeface="Calibri"/>
              </a:rPr>
              <a:t>A defect is applied to the source, the suite is run, and the entry passes only if the suite **fails**. A mutation that survives is a hole in the tests, named and located.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59152"/>
          <a:ext cx="10637214" cy="18989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619812"/>
                <a:gridCol w="2017402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surviving revealed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How many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Equivalent mutants no test could ever have caught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Entries inert until corrected — two did not compile; one patched the harmless copy of a guard that appears twice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Tests that did not test what their names claimed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Defects in **tests** rather than in code — all three the same defect: an unbounded wait, so removing a deadline hung the build rather than failing it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447760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E1726"/>
                </a:solidFill>
                <a:latin typeface="Calibri"/>
              </a:rPr>
              <a:t>A hang is strictly worse than a failure — it takes the build with it and reports nothing.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Every wait now goes through one bounded helper. And a mutation that hangs the build is worse than one that survives: one sandbox entry made a spawn block on a full pipe and was removed, with the reasoning recorded.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EVIDENCE · BAD MUTATIONS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The discipline turned on itself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12 · Would the Tests Notice?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45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18989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34805"/>
                <a:gridCol w="6602409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 mutation that proved nothing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survived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Changed a log message's wording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assertion matched a substring of both wordings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Asserted that the log cache caches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true before the fix and after it — the property was whether the *caller* used it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Added a `println!` beside the `tracing` call it replaced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nothing was taken away, so nothing could notice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Reverted a parse to skip a bad line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a *different* mechanism — the empty-body seal — returned the same error variant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3490048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E1726"/>
                </a:solidFill>
                <a:latin typeface="Calibri"/>
              </a:rPr>
              <a:t>Each of those survived, each was rewritten, and each is in the log.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The last one is the sharpest: the only test guarding *a malformed line is reported* passed because the commit it wrote had **nothing else in it**, so an unrelated check fired first. A line that is valid JSON but not a valid action was skipped silently — the commit replaying as though it did less than it did.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04872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FFFFFF"/>
                </a:solidFill>
                <a:latin typeface="Georgia"/>
              </a:rPr>
              <a:t>What None of It Catches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The section to read if you are deciding how much to trust the 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EVIDENCE · THE HONEST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Where the evidence does not reach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13 · What None of It Catches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47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283876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9504"/>
                <a:gridCol w="7427710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63204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Documentation is gated **syntactically**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Links resolve, pins match, crate names exist, status lines agree. No gate checks a behaviour, a config key, an environment variable, a command name, or a claim that something is enforced. Every one of the 129 findings lived in that space.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A crate name inside a code fence is invisible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`check-docs` pairs single backticks, and a fenced block is where stale architecture diagrams live.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Numbers propagate from comments into prose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*"299 source files publish through the atomic writer"* travelled from a comment in the gate's own source into a chapter. Ten files import it.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Nine gate modules have no rejection test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A check that has never been shown to fail is one nobody has shown to work.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Fifteen of eighteen objectives are unmeasured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And the gate measuring the other three drives the engine directly — never crossing the server or the wire — so every per-statement cost is outside the measured path.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Fourteen end-to-end tests pass without running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When PostgreSQL is not configured, which is the CI configuration. One variable makes it a failure; CI does not set it.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EVIDENCE · THE SHARPEST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And the gate that measured nothing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13 · What None of It Catches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0E1726"/>
                </a:solidFill>
                <a:latin typeface="Calibri"/>
              </a:rPr>
              <a:t>`check-catalogues` fails when a documented error code has no construction site. It asked whether the sources contain `Error::CoverageGap {`.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176272"/>
            <a:ext cx="8509772" cy="1639062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76272"/>
            <a:ext cx="41148" cy="1639062"/>
          </a:xfrm>
          <a:prstGeom prst="rect">
            <a:avLst/>
          </a:prstGeom>
          <a:solidFill>
            <a:srgbClr val="444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2267712"/>
            <a:ext cx="81440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3A6E"/>
                </a:solidFill>
                <a:latin typeface="Calibri"/>
              </a:rPr>
              <a:t>a different type, in a different crate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569463"/>
            <a:ext cx="8144012" cy="1163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crates/sankhya-plan/src/splice.rs:151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 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    return Err(SpliceError::CoverageGap {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                     ^^^^^^^^^^^^^^^^^^^^^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E1726"/>
                </a:solidFill>
                <a:latin typeface="Consolas"/>
              </a:rPr>
              <a:t>                     contains "Error::CoverageGap {"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9312"/>
            <a:ext cx="1063721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0E1726"/>
                </a:solidFill>
                <a:latin typeface="Calibri"/>
              </a:rPr>
              <a:t>So `SNK-S0001` read as producible while nothing in the workspace could raise it.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It is `Class::Fatal` — it pages — and a runbook had been written for it. Four of the six codes that page cannot fire; the catalogue said three.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E3A6E"/>
                </a:solidFill>
                <a:latin typeface="Calibri"/>
              </a:rPr>
              <a:t>The check built to find exactly this failed at exactly this,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and it was found by a reviewer reading the gate rather than trusting it. It requires a word boundary now, with a test that another type's variant of the same name does not count.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3A6E"/>
                </a:solidFill>
                <a:latin typeface="Calibri"/>
              </a:rPr>
              <a:t>PART 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680781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0" i="0">
                <a:solidFill>
                  <a:srgbClr val="FFFFFF"/>
                </a:solidFill>
                <a:latin typeface="Georgia"/>
              </a:rPr>
              <a:t>The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429000"/>
            <a:ext cx="1645920" cy="36576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03320"/>
            <a:ext cx="638232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C8C2BA"/>
                </a:solidFill>
                <a:latin typeface="Calibri"/>
              </a:rPr>
              <a:t>Twelve reviewers, three days, a hundred and twenty-nine findings — in a repository whose gate was green. What they found, what the four causes were, and what it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546" y="1463040"/>
            <a:ext cx="3403908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950" b="1" i="0">
                <a:solidFill>
                  <a:srgbClr val="1E3A6E"/>
                </a:solidFill>
                <a:latin typeface="Calibri"/>
              </a:rPr>
              <a:t>CHAPTERS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14 · What twelve reviewers found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15 · The four causes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4DED6"/>
                </a:solidFill>
                <a:latin typeface="Calibri"/>
              </a:rPr>
              <a:t>16 · What is still open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48763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What Twelve Reviewers Found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129 findings, in a repository whose gate was green.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AUDIT · THE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The number, and how to read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14 · What Twelve Reviewers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2508427" cy="1078992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1148" cy="10789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499616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3A6E"/>
                </a:solidFill>
                <a:latin typeface="Georgia"/>
              </a:rPr>
              <a:t>129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75104"/>
            <a:ext cx="21975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44F60"/>
                </a:solidFill>
                <a:latin typeface="Calibri"/>
              </a:rPr>
              <a:t>findings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1353312"/>
            <a:ext cx="2508427" cy="1078992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6835" y="1353312"/>
            <a:ext cx="41148" cy="10789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8003" y="1499616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3A6E"/>
                </a:solidFill>
                <a:latin typeface="Georgia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8003" y="1975104"/>
            <a:ext cx="21975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44F60"/>
                </a:solidFill>
                <a:latin typeface="Calibri"/>
              </a:rPr>
              <a:t>reviewers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353312"/>
            <a:ext cx="2508427" cy="1078992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353312"/>
            <a:ext cx="41148" cy="10789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499616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3A6E"/>
                </a:solidFill>
                <a:latin typeface="Georg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1975104"/>
            <a:ext cx="21975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44F60"/>
                </a:solidFill>
                <a:latin typeface="Calibri"/>
              </a:rPr>
              <a:t>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1353312"/>
            <a:ext cx="2508427" cy="1078992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1353312"/>
            <a:ext cx="41148" cy="10789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195" y="1499616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3A6E"/>
                </a:solidFill>
                <a:latin typeface="Georgi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195" y="1975104"/>
            <a:ext cx="21975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44F60"/>
                </a:solidFill>
                <a:latin typeface="Calibri"/>
              </a:rPr>
              <a:t>found by a failing 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587752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E3A6E"/>
                </a:solidFill>
                <a:latin typeface="Calibri"/>
              </a:rPr>
              <a:t>The correct reading of that number is that it is a **lower bound**.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0E1726"/>
                </a:solidFill>
                <a:latin typeface="Calibri"/>
              </a:rPr>
              <a:t>Not one was found by a failing test, because none of them made a test fail.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They were found by people reading code against the documents that described it — which is a method that scales with attention and not with hardware, and which nobody was applying.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1726"/>
                </a:solidFill>
                <a:latin typeface="Calibri"/>
              </a:rPr>
              <a:t>What closing them produced is not a clean bill of health. </a:t>
            </a:r>
            <a:r>
              <a:rPr sz="1200" b="0" i="0">
                <a:solidFill>
                  <a:srgbClr val="444F60"/>
                </a:solidFill>
                <a:latin typeface="Calibri"/>
              </a:rPr>
              <a:t>It is a system where the next hundred findings would be visible: a gate that fails when a document contradicts the code, a catalogue that says which alerts cannot fire, a benchmark behind every published figure.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AUDIT · WHY THEY WERE THERE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The four causes, and what each explains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14 · What Twelve Reviewers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52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3" cy="248698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1900"/>
                <a:gridCol w="3851405"/>
                <a:gridCol w="6143908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The cause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explains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R1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test fixture and the documented recipe silently diverged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every doc-versus-reality finding — the transcripts were real, taken from a warehouse the instructions no longer built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R2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There is no CI — the gate runs when somebody chooses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the fact that all 129 survived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R3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Gates report green when they measure nothing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fifteen e2e tests skipping to green, a coverage gate counting nothing, a soak whose verdict is printed rather than asserted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R4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Documents assert; nothing checks the assertion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E1726"/>
                          </a:solidFill>
                          <a:latin typeface="Calibri"/>
                        </a:rPr>
                        <a:t>three published speed tables nothing ever produced, and a milestone line that was wrong in thirteen files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4078046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3A6E"/>
                </a:solidFill>
                <a:latin typeface="Calibri"/>
              </a:rPr>
              <a:t>R4 survived inside the fix for R4.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The check comparing status lines only looked at documents that *declared* one, and not one of the book's twenty-nine chapters did — so the book opted out of the check written to stop drift, for free. That is how the section headed *"the one to read before believing anything else"* still carried a retracted milestone claim.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78024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FFFFFF"/>
                </a:solidFill>
                <a:latin typeface="Georgia"/>
              </a:rPr>
              <a:t>What It Cost, and What Is Still Open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Six defects found while fixing five, and the list nobody has 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AUDIT · WHAT THE WORK TURNED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Fixing it found more of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15 · What It Cost, and What Is Still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54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268710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01204"/>
                <a:gridCol w="7336010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Found while fixing something else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was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63204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An unreadable log replayed as an **empty table**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`Path::exists` answers `false` for every failure, including *this directory cannot be searched*. A `_delta_log` under a half-mounted export ended the commit walk at version zero — so a `SELECT` returned no rows and **succeeded**. One `chmod` away.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The audit stopped writing to disk after 1,024 records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Silently, with its own alert at zero. The record index was the whole-chain count; the buffer was the 1,024 window. On restart it was immediate rather than eventual.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A memory bound that was per-statement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Ten concurrent statements got ten gibibytes while the setting said *between them*. Introduced by the item that added the bound.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A shape that leaked the caller's own text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`select nosuchcolumn` — a column the caller named — recorded in the durable audit since the day it was made durable.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The container image misses its own baseline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Built on Debian 11, needs `GLIBC_2.30`, declares 2.28. Found by building the image rather than shipping the Dockerfile unbuilt.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3A6E"/>
                </a:solidFill>
                <a:latin typeface="Calibri"/>
              </a:rPr>
              <a:t>THE AUDIT · THE REMAINDER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E1726"/>
                </a:solidFill>
                <a:latin typeface="Georgia"/>
              </a:rPr>
              <a:t>What is still open, named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395"/>
                </a:solidFill>
                <a:latin typeface="Calibri"/>
              </a:rPr>
              <a:t>15 · What It Cost, and What Is Still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88395"/>
                </a:solidFill>
                <a:latin typeface="Calibri"/>
              </a:rPr>
              <a:t>55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251005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34805"/>
                <a:gridCol w="6602409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82296" marR="64008" marT="32004" marB="32004" anchor="ctr">
                    <a:solidFill>
                      <a:srgbClr val="1E3A6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No write path from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the analytical door is read-only; a warehouse is published to by `sankhya-publish`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No change-capture runtime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the CDC crate carries no client dependency — it cannot open a connection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The graph cannot answer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registered against a freshly constructed empty catalogue on every session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Packs cannot load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the loader is not wired; two of the reference packs are non-financial and the flagship pair never existed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Cube hierarchies are validated and ignored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Checkpoints erase partitioning and configuration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and an unknown action variant still ends a table</a:t>
                      </a:r>
                    </a:p>
                  </a:txBody>
                  <a:tcPr marL="82296" marR="64008" marT="32004" marB="32004" anchor="ctr">
                    <a:solidFill>
                      <a:srgbClr val="FBFA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`check-performance` is not in `check-all`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Calibri"/>
                        </a:rPr>
                        <a:t>so no automated build has ever failed on a performance budget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4082821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3A6E"/>
                </a:solidFill>
                <a:latin typeface="Calibri"/>
              </a:rPr>
              <a:t>Every one of these is written down in `docs/STATUS.md`, once. </a:t>
            </a:r>
            <a:r>
              <a:rPr sz="1150" b="0" i="0">
                <a:solidFill>
                  <a:srgbClr val="444F60"/>
                </a:solidFill>
                <a:latin typeface="Calibri"/>
              </a:rPr>
              <a:t>It used to be written down in fourteen places, each holding a different piece — which is how a reader could meet six of them and conclude they had the list.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4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90569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सांख्य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sz="2000" b="0" i="1">
                <a:solidFill>
                  <a:srgbClr val="B9C6DD"/>
                </a:solidFill>
                <a:latin typeface="Georgia"/>
              </a:rPr>
              <a:t>To count is to make completely known.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DDE4EF"/>
                </a:solidFill>
                <a:latin typeface="Calibri"/>
              </a:rPr>
              <a:t>An enumeration with a gap in it is not a smaller enumeration. It is a different claim about the world, made silently — and everything in this deck is an attempt to make that impossible to do by accident.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
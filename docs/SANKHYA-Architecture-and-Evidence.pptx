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2191695" cy="3977639"/>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Rectangle 3"/>
          <p:cNvSpPr/>
          <p:nvPr/>
        </p:nvSpPr>
        <p:spPr>
          <a:xfrm>
            <a:off x="0" y="3977639"/>
            <a:ext cx="12191695" cy="54864"/>
          </a:xfrm>
          <a:prstGeom prst="rect">
            <a:avLst/>
          </a:prstGeom>
          <a:solidFill>
            <a:srgbClr val="E0A3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 name="Rectangle 4"/>
          <p:cNvSpPr/>
          <p:nvPr/>
        </p:nvSpPr>
        <p:spPr>
          <a:xfrm>
            <a:off x="0" y="0"/>
            <a:ext cx="182880" cy="3977639"/>
          </a:xfrm>
          <a:prstGeom prst="rect">
            <a:avLst/>
          </a:prstGeom>
          <a:solidFill>
            <a:srgbClr val="1428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6" name="TextBox 5"/>
          <p:cNvSpPr txBox="1"/>
          <p:nvPr/>
        </p:nvSpPr>
        <p:spPr>
          <a:xfrm>
            <a:off x="1911095" y="905256"/>
            <a:ext cx="9686239" cy="310896"/>
          </a:xfrm>
          <a:prstGeom prst="rect">
            <a:avLst/>
          </a:prstGeom>
          <a:noFill/>
        </p:spPr>
        <p:txBody>
          <a:bodyPr wrap="square" lIns="0" rIns="0" tIns="0" bIns="0" anchor="t">
            <a:spAutoFit/>
          </a:bodyPr>
          <a:lstStyle/>
          <a:p>
            <a:pPr algn="l">
              <a:spcBef>
                <a:spcPts val="0"/>
              </a:spcBef>
              <a:spcAft>
                <a:spcPts val="0"/>
              </a:spcAft>
            </a:pPr>
            <a:r>
              <a:rPr sz="1000" b="1" i="0">
                <a:solidFill>
                  <a:srgbClr val="B9C6DD"/>
                </a:solidFill>
                <a:latin typeface="Calibri"/>
              </a:rPr>
              <a:t>SANKHYA  ·  सांख्य  ·  ONE BINARY  ·  THREE DATA MODELS  ·  ONE COPY OF THE DATA</a:t>
            </a:r>
          </a:p>
        </p:txBody>
      </p:sp>
      <p:sp>
        <p:nvSpPr>
          <p:cNvPr id="7" name="TextBox 6"/>
          <p:cNvSpPr txBox="1"/>
          <p:nvPr/>
        </p:nvSpPr>
        <p:spPr>
          <a:xfrm>
            <a:off x="1051560" y="1298448"/>
            <a:ext cx="9573493" cy="2103120"/>
          </a:xfrm>
          <a:prstGeom prst="rect">
            <a:avLst/>
          </a:prstGeom>
          <a:noFill/>
        </p:spPr>
        <p:txBody>
          <a:bodyPr wrap="square" lIns="0" rIns="0" tIns="0" bIns="0" anchor="t">
            <a:spAutoFit/>
          </a:bodyPr>
          <a:lstStyle/>
          <a:p>
            <a:pPr algn="l">
              <a:spcBef>
                <a:spcPts val="0"/>
              </a:spcBef>
              <a:spcAft>
                <a:spcPts val="200"/>
              </a:spcAft>
            </a:pPr>
            <a:r>
              <a:rPr sz="3300" b="0" i="0">
                <a:solidFill>
                  <a:srgbClr val="FFFFFF"/>
                </a:solidFill>
                <a:latin typeface="Georgia"/>
              </a:rPr>
              <a:t>An Integrated OLTP, OLAP</a:t>
            </a:r>
          </a:p>
          <a:p>
            <a:pPr>
              <a:spcBef>
                <a:spcPts val="0"/>
              </a:spcBef>
              <a:spcAft>
                <a:spcPts val="600"/>
              </a:spcAft>
            </a:pPr>
            <a:r>
              <a:rPr sz="3300" b="0" i="0">
                <a:solidFill>
                  <a:srgbClr val="FFFFFF"/>
                </a:solidFill>
                <a:latin typeface="Georgia"/>
              </a:rPr>
              <a:t>and Graph Data Platform</a:t>
            </a:r>
          </a:p>
          <a:p>
            <a:pPr>
              <a:spcBef>
                <a:spcPts val="0"/>
              </a:spcBef>
              <a:spcAft>
                <a:spcPts val="400"/>
              </a:spcAft>
            </a:pPr>
            <a:r>
              <a:rPr sz="1700" b="0" i="0">
                <a:solidFill>
                  <a:srgbClr val="B9C6DD"/>
                </a:solidFill>
                <a:latin typeface="Georgia"/>
              </a:rPr>
              <a:t>Concepts, Architecture and Implementation</a:t>
            </a:r>
          </a:p>
        </p:txBody>
      </p:sp>
      <p:sp>
        <p:nvSpPr>
          <p:cNvPr id="8" name="Rectangle 7"/>
          <p:cNvSpPr/>
          <p:nvPr/>
        </p:nvSpPr>
        <p:spPr>
          <a:xfrm>
            <a:off x="1051560" y="3127248"/>
            <a:ext cx="1554480" cy="32004"/>
          </a:xfrm>
          <a:prstGeom prst="rect">
            <a:avLst/>
          </a:prstGeom>
          <a:solidFill>
            <a:srgbClr val="B9C6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9" name="TextBox 8"/>
          <p:cNvSpPr txBox="1"/>
          <p:nvPr/>
        </p:nvSpPr>
        <p:spPr>
          <a:xfrm>
            <a:off x="1051560" y="3310128"/>
            <a:ext cx="9360749" cy="640080"/>
          </a:xfrm>
          <a:prstGeom prst="rect">
            <a:avLst/>
          </a:prstGeom>
          <a:noFill/>
        </p:spPr>
        <p:txBody>
          <a:bodyPr wrap="square" lIns="0" rIns="0" tIns="0" bIns="0" anchor="t">
            <a:spAutoFit/>
          </a:bodyPr>
          <a:lstStyle/>
          <a:p>
            <a:pPr algn="l">
              <a:lnSpc>
                <a:spcPct val="122000"/>
              </a:lnSpc>
              <a:spcBef>
                <a:spcPts val="0"/>
              </a:spcBef>
              <a:spcAft>
                <a:spcPts val="0"/>
              </a:spcAft>
            </a:pPr>
            <a:r>
              <a:rPr sz="1200" b="0" i="1">
                <a:solidFill>
                  <a:srgbClr val="DDE4EF"/>
                </a:solidFill>
                <a:latin typeface="Calibri"/>
              </a:rPr>
              <a:t>One substrate — one catalogue, one enforcement point, one date axis, one open format, one audit chain — and the three data models built over it. What a statement does, what a cube actually is, what a clone costs, and the machine-checked list of what does not run yet</a:t>
            </a:r>
          </a:p>
        </p:txBody>
      </p:sp>
      <p:sp>
        <p:nvSpPr>
          <p:cNvPr id="10" name="TextBox 9"/>
          <p:cNvSpPr txBox="1"/>
          <p:nvPr/>
        </p:nvSpPr>
        <p:spPr>
          <a:xfrm>
            <a:off x="1051560" y="4443984"/>
            <a:ext cx="5318607" cy="1097280"/>
          </a:xfrm>
          <a:prstGeom prst="rect">
            <a:avLst/>
          </a:prstGeom>
          <a:noFill/>
        </p:spPr>
        <p:txBody>
          <a:bodyPr wrap="square" lIns="0" rIns="0" tIns="0" bIns="0" anchor="t">
            <a:spAutoFit/>
          </a:bodyPr>
          <a:lstStyle/>
          <a:p>
            <a:pPr algn="l">
              <a:spcBef>
                <a:spcPts val="0"/>
              </a:spcBef>
              <a:spcAft>
                <a:spcPts val="300"/>
              </a:spcAft>
            </a:pPr>
            <a:r>
              <a:rPr sz="2000" b="1" i="0">
                <a:solidFill>
                  <a:srgbClr val="0E1726"/>
                </a:solidFill>
                <a:latin typeface="Georgia"/>
              </a:rPr>
              <a:t>Ashutosh Sinha</a:t>
            </a:r>
          </a:p>
          <a:p>
            <a:pPr>
              <a:spcBef>
                <a:spcPts val="0"/>
              </a:spcBef>
              <a:spcAft>
                <a:spcPts val="100"/>
              </a:spcAft>
            </a:pPr>
            <a:r>
              <a:rPr sz="1200" b="0" i="0">
                <a:solidFill>
                  <a:srgbClr val="1E3A6E"/>
                </a:solidFill>
                <a:latin typeface="Calibri"/>
              </a:rPr>
              <a:t>Independent Researcher</a:t>
            </a:r>
          </a:p>
          <a:p>
            <a:pPr>
              <a:spcBef>
                <a:spcPts val="0"/>
              </a:spcBef>
              <a:spcAft>
                <a:spcPts val="600"/>
              </a:spcAft>
            </a:pPr>
            <a:r>
              <a:rPr sz="1050" b="0" i="0">
                <a:solidFill>
                  <a:srgbClr val="788395"/>
                </a:solidFill>
                <a:latin typeface="Calibri"/>
              </a:rPr>
              <a:t>September 2026</a:t>
            </a:r>
          </a:p>
        </p:txBody>
      </p:sp>
      <p:sp>
        <p:nvSpPr>
          <p:cNvPr id="11" name="TextBox 10"/>
          <p:cNvSpPr txBox="1"/>
          <p:nvPr/>
        </p:nvSpPr>
        <p:spPr>
          <a:xfrm>
            <a:off x="6095847" y="4315968"/>
            <a:ext cx="5318607" cy="2194560"/>
          </a:xfrm>
          <a:prstGeom prst="rect">
            <a:avLst/>
          </a:prstGeom>
          <a:noFill/>
        </p:spPr>
        <p:txBody>
          <a:bodyPr wrap="square" lIns="0" rIns="0" tIns="0" bIns="0" anchor="t">
            <a:spAutoFit/>
          </a:bodyPr>
          <a:lstStyle/>
          <a:p>
            <a:pPr algn="l">
              <a:spcBef>
                <a:spcPts val="0"/>
              </a:spcBef>
              <a:spcAft>
                <a:spcPts val="500"/>
              </a:spcAft>
            </a:pPr>
            <a:r>
              <a:rPr sz="950" b="1" i="0">
                <a:solidFill>
                  <a:srgbClr val="1E3A6E"/>
                </a:solidFill>
                <a:latin typeface="Calibri"/>
              </a:rPr>
              <a:t>IN SIX PARTS</a:t>
            </a:r>
          </a:p>
          <a:p>
            <a:pPr>
              <a:spcBef>
                <a:spcPts val="0"/>
              </a:spcBef>
              <a:spcAft>
                <a:spcPts val="300"/>
              </a:spcAft>
            </a:pPr>
            <a:r>
              <a:rPr sz="950" b="1" i="0">
                <a:solidFill>
                  <a:srgbClr val="1E3A6E"/>
                </a:solidFill>
                <a:latin typeface="Calibri"/>
              </a:rPr>
              <a:t>I    </a:t>
            </a:r>
            <a:r>
              <a:rPr sz="950" b="1" i="0">
                <a:solidFill>
                  <a:srgbClr val="0E1726"/>
                </a:solidFill>
                <a:latin typeface="Calibri"/>
              </a:rPr>
              <a:t>The reckoning  </a:t>
            </a:r>
            <a:r>
              <a:rPr sz="950" b="0" i="0">
                <a:solidFill>
                  <a:srgbClr val="444F60"/>
                </a:solidFill>
                <a:latin typeface="Calibri"/>
              </a:rPr>
              <a:t>what counting commits a system to, and the four positions that follow</a:t>
            </a:r>
          </a:p>
          <a:p>
            <a:pPr>
              <a:spcBef>
                <a:spcPts val="0"/>
              </a:spcBef>
              <a:spcAft>
                <a:spcPts val="300"/>
              </a:spcAft>
            </a:pPr>
            <a:r>
              <a:rPr sz="950" b="1" i="0">
                <a:solidFill>
                  <a:srgbClr val="1E3A6E"/>
                </a:solidFill>
                <a:latin typeface="Calibri"/>
              </a:rPr>
              <a:t>II   </a:t>
            </a:r>
            <a:r>
              <a:rPr sz="950" b="1" i="0">
                <a:solidFill>
                  <a:srgbClr val="0E1726"/>
                </a:solidFill>
                <a:latin typeface="Calibri"/>
              </a:rPr>
              <a:t>One substrate  </a:t>
            </a:r>
            <a:r>
              <a:rPr sz="950" b="0" i="0">
                <a:solidFill>
                  <a:srgbClr val="444F60"/>
                </a:solidFill>
                <a:latin typeface="Calibri"/>
              </a:rPr>
              <a:t>the layer all three data models stand on, and one statement crossing it</a:t>
            </a:r>
          </a:p>
          <a:p>
            <a:pPr>
              <a:spcBef>
                <a:spcPts val="0"/>
              </a:spcBef>
              <a:spcAft>
                <a:spcPts val="300"/>
              </a:spcAft>
            </a:pPr>
            <a:r>
              <a:rPr sz="950" b="1" i="0">
                <a:solidFill>
                  <a:srgbClr val="1E3A6E"/>
                </a:solidFill>
                <a:latin typeface="Calibri"/>
              </a:rPr>
              <a:t>III  </a:t>
            </a:r>
            <a:r>
              <a:rPr sz="950" b="1" i="0">
                <a:solidFill>
                  <a:srgbClr val="0E1726"/>
                </a:solidFill>
                <a:latin typeface="Calibri"/>
              </a:rPr>
              <a:t>The cube  </a:t>
            </a:r>
            <a:r>
              <a:rPr sz="950" b="0" i="0">
                <a:solidFill>
                  <a:srgbClr val="444F60"/>
                </a:solidFill>
                <a:latin typeface="Calibri"/>
              </a:rPr>
              <a:t>a declared model, and one dataset sliced, diced and rolled up</a:t>
            </a:r>
          </a:p>
          <a:p>
            <a:pPr>
              <a:spcBef>
                <a:spcPts val="0"/>
              </a:spcBef>
              <a:spcAft>
                <a:spcPts val="300"/>
              </a:spcAft>
            </a:pPr>
            <a:r>
              <a:rPr sz="950" b="1" i="0">
                <a:solidFill>
                  <a:srgbClr val="1E3A6E"/>
                </a:solidFill>
                <a:latin typeface="Calibri"/>
              </a:rPr>
              <a:t>IV   </a:t>
            </a:r>
            <a:r>
              <a:rPr sz="950" b="1" i="0">
                <a:solidFill>
                  <a:srgbClr val="0E1726"/>
                </a:solidFill>
                <a:latin typeface="Calibri"/>
              </a:rPr>
              <a:t>Versions and copies  </a:t>
            </a:r>
            <a:r>
              <a:rPr sz="950" b="0" i="0">
                <a:solidFill>
                  <a:srgbClr val="444F60"/>
                </a:solidFill>
                <a:latin typeface="Calibri"/>
              </a:rPr>
              <a:t>time travel, snapshots, and a clone that costs nothing</a:t>
            </a:r>
          </a:p>
          <a:p>
            <a:pPr>
              <a:spcBef>
                <a:spcPts val="0"/>
              </a:spcBef>
              <a:spcAft>
                <a:spcPts val="300"/>
              </a:spcAft>
            </a:pPr>
            <a:r>
              <a:rPr sz="950" b="1" i="0">
                <a:solidFill>
                  <a:srgbClr val="1E3A6E"/>
                </a:solidFill>
                <a:latin typeface="Calibri"/>
              </a:rPr>
              <a:t>V    </a:t>
            </a:r>
            <a:r>
              <a:rPr sz="950" b="1" i="0">
                <a:solidFill>
                  <a:srgbClr val="0E1726"/>
                </a:solidFill>
                <a:latin typeface="Calibri"/>
              </a:rPr>
              <a:t>The other two engines  </a:t>
            </a:r>
            <a:r>
              <a:rPr sz="950" b="0" i="0">
                <a:solidFill>
                  <a:srgbClr val="444F60"/>
                </a:solidFill>
                <a:latin typeface="Calibri"/>
              </a:rPr>
              <a:t>the graph tier, the transactional tier, one catalogue on every path</a:t>
            </a:r>
          </a:p>
          <a:p>
            <a:pPr>
              <a:spcBef>
                <a:spcPts val="0"/>
              </a:spcBef>
              <a:spcAft>
                <a:spcPts val="300"/>
              </a:spcAft>
            </a:pPr>
            <a:r>
              <a:rPr sz="950" b="1" i="0">
                <a:solidFill>
                  <a:srgbClr val="1E3A6E"/>
                </a:solidFill>
                <a:latin typeface="Calibri"/>
              </a:rPr>
              <a:t>VI   </a:t>
            </a:r>
            <a:r>
              <a:rPr sz="950" b="1" i="0">
                <a:solidFill>
                  <a:srgbClr val="0E1726"/>
                </a:solidFill>
                <a:latin typeface="Calibri"/>
              </a:rPr>
              <a:t>Evidence  </a:t>
            </a:r>
            <a:r>
              <a:rPr sz="950" b="0" i="0">
                <a:solidFill>
                  <a:srgbClr val="444F60"/>
                </a:solidFill>
                <a:latin typeface="Calibri"/>
              </a:rPr>
              <a:t>four kinds, then the hundred and twenty-nine things they did not catch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FRONT MATTER · THE SUMMARY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Five things, before the argument for any of them</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Front matter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1</a:t>
            </a:r>
          </a:p>
        </p:txBody>
      </p:sp>
      <p:sp>
        <p:nvSpPr>
          <p:cNvPr id="10" name="Rectangle 9"/>
          <p:cNvSpPr/>
          <p:nvPr/>
        </p:nvSpPr>
        <p:spPr>
          <a:xfrm>
            <a:off x="777240" y="1353312"/>
            <a:ext cx="10637215" cy="786384"/>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786384"/>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41832" y="1444752"/>
            <a:ext cx="457200" cy="365760"/>
          </a:xfrm>
          <a:prstGeom prst="rect">
            <a:avLst/>
          </a:prstGeom>
          <a:noFill/>
        </p:spPr>
        <p:txBody>
          <a:bodyPr wrap="square" lIns="0" rIns="0" tIns="0" bIns="0" anchor="t">
            <a:spAutoFit/>
          </a:bodyPr>
          <a:lstStyle/>
          <a:p>
            <a:pPr algn="l">
              <a:spcBef>
                <a:spcPts val="0"/>
              </a:spcBef>
              <a:spcAft>
                <a:spcPts val="0"/>
              </a:spcAft>
            </a:pPr>
            <a:r>
              <a:rPr sz="1500" b="1" i="0">
                <a:solidFill>
                  <a:srgbClr val="1E3A6E"/>
                </a:solidFill>
                <a:latin typeface="Georgia"/>
              </a:rPr>
              <a:t>01</a:t>
            </a:r>
          </a:p>
        </p:txBody>
      </p:sp>
      <p:sp>
        <p:nvSpPr>
          <p:cNvPr id="13" name="TextBox 12"/>
          <p:cNvSpPr txBox="1"/>
          <p:nvPr/>
        </p:nvSpPr>
        <p:spPr>
          <a:xfrm>
            <a:off x="1435607" y="1435608"/>
            <a:ext cx="9795967" cy="640080"/>
          </a:xfrm>
          <a:prstGeom prst="rect">
            <a:avLst/>
          </a:prstGeom>
          <a:noFill/>
        </p:spPr>
        <p:txBody>
          <a:bodyPr wrap="square" lIns="0" rIns="0" tIns="0" bIns="0" anchor="t">
            <a:spAutoFit/>
          </a:bodyPr>
          <a:lstStyle/>
          <a:p>
            <a:pPr algn="l">
              <a:lnSpc>
                <a:spcPct val="115000"/>
              </a:lnSpc>
              <a:spcBef>
                <a:spcPts val="0"/>
              </a:spcBef>
              <a:spcAft>
                <a:spcPts val="200"/>
              </a:spcAft>
            </a:pPr>
            <a:r>
              <a:rPr sz="1150" b="1" i="0">
                <a:solidFill>
                  <a:srgbClr val="1E3A6E"/>
                </a:solidFill>
                <a:latin typeface="Calibri"/>
              </a:rPr>
              <a:t>The integration is in the substrate, and the substrate is built.</a:t>
            </a:r>
          </a:p>
          <a:p>
            <a:pPr>
              <a:lnSpc>
                <a:spcPct val="122000"/>
              </a:lnSpc>
              <a:spcBef>
                <a:spcPts val="0"/>
              </a:spcBef>
              <a:spcAft>
                <a:spcPts val="0"/>
              </a:spcAft>
            </a:pPr>
            <a:r>
              <a:rPr sz="950" b="0" i="0">
                <a:solidFill>
                  <a:srgbClr val="444F60"/>
                </a:solidFill>
                <a:latin typeface="Calibri"/>
              </a:rPr>
              <a:t>One address space, one catalogue, one enforcement point at plan construction, one business-date axis on every table, one open storage format, one hash-chained audit. Three data models are designed against that layer rather than bolted to each other.</a:t>
            </a:r>
          </a:p>
        </p:txBody>
      </p:sp>
      <p:sp>
        <p:nvSpPr>
          <p:cNvPr id="14" name="Rectangle 13"/>
          <p:cNvSpPr/>
          <p:nvPr/>
        </p:nvSpPr>
        <p:spPr>
          <a:xfrm>
            <a:off x="777240" y="2212848"/>
            <a:ext cx="10637215" cy="786384"/>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777240" y="2212848"/>
            <a:ext cx="41148" cy="786384"/>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941832" y="2304288"/>
            <a:ext cx="457200" cy="365760"/>
          </a:xfrm>
          <a:prstGeom prst="rect">
            <a:avLst/>
          </a:prstGeom>
          <a:noFill/>
        </p:spPr>
        <p:txBody>
          <a:bodyPr wrap="square" lIns="0" rIns="0" tIns="0" bIns="0" anchor="t">
            <a:spAutoFit/>
          </a:bodyPr>
          <a:lstStyle/>
          <a:p>
            <a:pPr algn="l">
              <a:spcBef>
                <a:spcPts val="0"/>
              </a:spcBef>
              <a:spcAft>
                <a:spcPts val="0"/>
              </a:spcAft>
            </a:pPr>
            <a:r>
              <a:rPr sz="1500" b="1" i="0">
                <a:solidFill>
                  <a:srgbClr val="1E3A6E"/>
                </a:solidFill>
                <a:latin typeface="Georgia"/>
              </a:rPr>
              <a:t>02</a:t>
            </a:r>
          </a:p>
        </p:txBody>
      </p:sp>
      <p:sp>
        <p:nvSpPr>
          <p:cNvPr id="17" name="TextBox 16"/>
          <p:cNvSpPr txBox="1"/>
          <p:nvPr/>
        </p:nvSpPr>
        <p:spPr>
          <a:xfrm>
            <a:off x="1435607" y="2295144"/>
            <a:ext cx="9795967" cy="640080"/>
          </a:xfrm>
          <a:prstGeom prst="rect">
            <a:avLst/>
          </a:prstGeom>
          <a:noFill/>
        </p:spPr>
        <p:txBody>
          <a:bodyPr wrap="square" lIns="0" rIns="0" tIns="0" bIns="0" anchor="t">
            <a:spAutoFit/>
          </a:bodyPr>
          <a:lstStyle/>
          <a:p>
            <a:pPr algn="l">
              <a:lnSpc>
                <a:spcPct val="115000"/>
              </a:lnSpc>
              <a:spcBef>
                <a:spcPts val="0"/>
              </a:spcBef>
              <a:spcAft>
                <a:spcPts val="200"/>
              </a:spcAft>
            </a:pPr>
            <a:r>
              <a:rPr sz="1150" b="1" i="0">
                <a:solidFill>
                  <a:srgbClr val="1E3A6E"/>
                </a:solidFill>
                <a:latin typeface="Calibri"/>
              </a:rPr>
              <a:t>Of the three engines, one answers today.</a:t>
            </a:r>
          </a:p>
          <a:p>
            <a:pPr>
              <a:lnSpc>
                <a:spcPct val="122000"/>
              </a:lnSpc>
              <a:spcBef>
                <a:spcPts val="0"/>
              </a:spcBef>
              <a:spcAft>
                <a:spcPts val="0"/>
              </a:spcAft>
            </a:pPr>
            <a:r>
              <a:rPr sz="950" b="0" i="0">
                <a:solidFill>
                  <a:srgbClr val="444F60"/>
                </a:solidFill>
                <a:latin typeface="Calibri"/>
              </a:rPr>
              <a:t>The analytical engine runs: start a binary, connect with `psql` or Arrow Flight SQL, query real Parquet. The graph engine is a built, tested, zero-dependency library that nothing hydrates on a timer. The transactional tier is a supervisor that is a dev-dependency of the server, and the server never starts a database.</a:t>
            </a:r>
          </a:p>
        </p:txBody>
      </p:sp>
      <p:sp>
        <p:nvSpPr>
          <p:cNvPr id="18" name="Rectangle 17"/>
          <p:cNvSpPr/>
          <p:nvPr/>
        </p:nvSpPr>
        <p:spPr>
          <a:xfrm>
            <a:off x="777240" y="3072384"/>
            <a:ext cx="10637215" cy="786384"/>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Rectangle 18"/>
          <p:cNvSpPr/>
          <p:nvPr/>
        </p:nvSpPr>
        <p:spPr>
          <a:xfrm>
            <a:off x="777240" y="3072384"/>
            <a:ext cx="41148" cy="786384"/>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TextBox 19"/>
          <p:cNvSpPr txBox="1"/>
          <p:nvPr/>
        </p:nvSpPr>
        <p:spPr>
          <a:xfrm>
            <a:off x="941832" y="3163824"/>
            <a:ext cx="457200" cy="365760"/>
          </a:xfrm>
          <a:prstGeom prst="rect">
            <a:avLst/>
          </a:prstGeom>
          <a:noFill/>
        </p:spPr>
        <p:txBody>
          <a:bodyPr wrap="square" lIns="0" rIns="0" tIns="0" bIns="0" anchor="t">
            <a:spAutoFit/>
          </a:bodyPr>
          <a:lstStyle/>
          <a:p>
            <a:pPr algn="l">
              <a:spcBef>
                <a:spcPts val="0"/>
              </a:spcBef>
              <a:spcAft>
                <a:spcPts val="0"/>
              </a:spcAft>
            </a:pPr>
            <a:r>
              <a:rPr sz="1500" b="1" i="0">
                <a:solidFill>
                  <a:srgbClr val="1E3A6E"/>
                </a:solidFill>
                <a:latin typeface="Georgia"/>
              </a:rPr>
              <a:t>03</a:t>
            </a:r>
          </a:p>
        </p:txBody>
      </p:sp>
      <p:sp>
        <p:nvSpPr>
          <p:cNvPr id="21" name="TextBox 20"/>
          <p:cNvSpPr txBox="1"/>
          <p:nvPr/>
        </p:nvSpPr>
        <p:spPr>
          <a:xfrm>
            <a:off x="1435607" y="3154679"/>
            <a:ext cx="9795967" cy="640080"/>
          </a:xfrm>
          <a:prstGeom prst="rect">
            <a:avLst/>
          </a:prstGeom>
          <a:noFill/>
        </p:spPr>
        <p:txBody>
          <a:bodyPr wrap="square" lIns="0" rIns="0" tIns="0" bIns="0" anchor="t">
            <a:spAutoFit/>
          </a:bodyPr>
          <a:lstStyle/>
          <a:p>
            <a:pPr algn="l">
              <a:lnSpc>
                <a:spcPct val="115000"/>
              </a:lnSpc>
              <a:spcBef>
                <a:spcPts val="0"/>
              </a:spcBef>
              <a:spcAft>
                <a:spcPts val="200"/>
              </a:spcAft>
            </a:pPr>
            <a:r>
              <a:rPr sz="1150" b="1" i="0">
                <a:solidFill>
                  <a:srgbClr val="1E3A6E"/>
                </a:solidFill>
                <a:latin typeface="Calibri"/>
              </a:rPr>
              <a:t>What does run is a product on its own.</a:t>
            </a:r>
          </a:p>
          <a:p>
            <a:pPr>
              <a:lnSpc>
                <a:spcPct val="122000"/>
              </a:lnSpc>
              <a:spcBef>
                <a:spcPts val="0"/>
              </a:spcBef>
              <a:spcAft>
                <a:spcPts val="0"/>
              </a:spcAft>
            </a:pPr>
            <a:r>
              <a:rPr sz="950" b="0" i="0">
                <a:solidFill>
                  <a:srgbClr val="444F60"/>
                </a:solidFill>
                <a:latin typeface="Calibri"/>
              </a:rPr>
              <a:t>A single-node analytical warehouse over an open format, with a declared multidimensional model answered on demand, zero-copy clones, named snapshots across many tables, time travel, statistics-driven pruning, maintenance on a timer, file feeds, and 155 functions over vector and matrix columns.</a:t>
            </a:r>
          </a:p>
        </p:txBody>
      </p:sp>
      <p:sp>
        <p:nvSpPr>
          <p:cNvPr id="22" name="Rectangle 21"/>
          <p:cNvSpPr/>
          <p:nvPr/>
        </p:nvSpPr>
        <p:spPr>
          <a:xfrm>
            <a:off x="777240" y="3931920"/>
            <a:ext cx="10637215" cy="786384"/>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Rectangle 22"/>
          <p:cNvSpPr/>
          <p:nvPr/>
        </p:nvSpPr>
        <p:spPr>
          <a:xfrm>
            <a:off x="777240" y="3931920"/>
            <a:ext cx="41148" cy="786384"/>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4" name="TextBox 23"/>
          <p:cNvSpPr txBox="1"/>
          <p:nvPr/>
        </p:nvSpPr>
        <p:spPr>
          <a:xfrm>
            <a:off x="941832" y="4023359"/>
            <a:ext cx="457200" cy="365760"/>
          </a:xfrm>
          <a:prstGeom prst="rect">
            <a:avLst/>
          </a:prstGeom>
          <a:noFill/>
        </p:spPr>
        <p:txBody>
          <a:bodyPr wrap="square" lIns="0" rIns="0" tIns="0" bIns="0" anchor="t">
            <a:spAutoFit/>
          </a:bodyPr>
          <a:lstStyle/>
          <a:p>
            <a:pPr algn="l">
              <a:spcBef>
                <a:spcPts val="0"/>
              </a:spcBef>
              <a:spcAft>
                <a:spcPts val="0"/>
              </a:spcAft>
            </a:pPr>
            <a:r>
              <a:rPr sz="1500" b="1" i="0">
                <a:solidFill>
                  <a:srgbClr val="1E3A6E"/>
                </a:solidFill>
                <a:latin typeface="Georgia"/>
              </a:rPr>
              <a:t>04</a:t>
            </a:r>
          </a:p>
        </p:txBody>
      </p:sp>
      <p:sp>
        <p:nvSpPr>
          <p:cNvPr id="25" name="TextBox 24"/>
          <p:cNvSpPr txBox="1"/>
          <p:nvPr/>
        </p:nvSpPr>
        <p:spPr>
          <a:xfrm>
            <a:off x="1435607" y="4014215"/>
            <a:ext cx="9795967" cy="640080"/>
          </a:xfrm>
          <a:prstGeom prst="rect">
            <a:avLst/>
          </a:prstGeom>
          <a:noFill/>
        </p:spPr>
        <p:txBody>
          <a:bodyPr wrap="square" lIns="0" rIns="0" tIns="0" bIns="0" anchor="t">
            <a:spAutoFit/>
          </a:bodyPr>
          <a:lstStyle/>
          <a:p>
            <a:pPr algn="l">
              <a:lnSpc>
                <a:spcPct val="115000"/>
              </a:lnSpc>
              <a:spcBef>
                <a:spcPts val="0"/>
              </a:spcBef>
              <a:spcAft>
                <a:spcPts val="200"/>
              </a:spcAft>
            </a:pPr>
            <a:r>
              <a:rPr sz="1150" b="1" i="0">
                <a:solidFill>
                  <a:srgbClr val="1E3A6E"/>
                </a:solidFill>
                <a:latin typeface="Calibri"/>
              </a:rPr>
              <a:t>The interesting behaviour is what it refuses.</a:t>
            </a:r>
          </a:p>
          <a:p>
            <a:pPr>
              <a:lnSpc>
                <a:spcPct val="122000"/>
              </a:lnSpc>
              <a:spcBef>
                <a:spcPts val="0"/>
              </a:spcBef>
              <a:spcAft>
                <a:spcPts val="0"/>
              </a:spcAft>
            </a:pPr>
            <a:r>
              <a:rPr sz="950" b="0" i="0">
                <a:solidFill>
                  <a:srgbClr val="444F60"/>
                </a:solidFill>
                <a:latin typeface="Calibri"/>
              </a:rPr>
              <a:t>A measure with no declared way to combine along a dimension is refused at planning, never defaulted to SUM. A total over part of a grain returns `completeness` and `withheld` as columns on the row. A hash join too large for the shared pool is an error, not a slow answer.</a:t>
            </a:r>
          </a:p>
        </p:txBody>
      </p:sp>
      <p:sp>
        <p:nvSpPr>
          <p:cNvPr id="26" name="Rectangle 25"/>
          <p:cNvSpPr/>
          <p:nvPr/>
        </p:nvSpPr>
        <p:spPr>
          <a:xfrm>
            <a:off x="777240" y="4791456"/>
            <a:ext cx="10637215" cy="786384"/>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777240" y="4791456"/>
            <a:ext cx="41148" cy="786384"/>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941832" y="4882896"/>
            <a:ext cx="457200" cy="365760"/>
          </a:xfrm>
          <a:prstGeom prst="rect">
            <a:avLst/>
          </a:prstGeom>
          <a:noFill/>
        </p:spPr>
        <p:txBody>
          <a:bodyPr wrap="square" lIns="0" rIns="0" tIns="0" bIns="0" anchor="t">
            <a:spAutoFit/>
          </a:bodyPr>
          <a:lstStyle/>
          <a:p>
            <a:pPr algn="l">
              <a:spcBef>
                <a:spcPts val="0"/>
              </a:spcBef>
              <a:spcAft>
                <a:spcPts val="0"/>
              </a:spcAft>
            </a:pPr>
            <a:r>
              <a:rPr sz="1500" b="1" i="0">
                <a:solidFill>
                  <a:srgbClr val="1E3A6E"/>
                </a:solidFill>
                <a:latin typeface="Georgia"/>
              </a:rPr>
              <a:t>05</a:t>
            </a:r>
          </a:p>
        </p:txBody>
      </p:sp>
      <p:sp>
        <p:nvSpPr>
          <p:cNvPr id="29" name="TextBox 28"/>
          <p:cNvSpPr txBox="1"/>
          <p:nvPr/>
        </p:nvSpPr>
        <p:spPr>
          <a:xfrm>
            <a:off x="1435607" y="4873752"/>
            <a:ext cx="9795967" cy="640080"/>
          </a:xfrm>
          <a:prstGeom prst="rect">
            <a:avLst/>
          </a:prstGeom>
          <a:noFill/>
        </p:spPr>
        <p:txBody>
          <a:bodyPr wrap="square" lIns="0" rIns="0" tIns="0" bIns="0" anchor="t">
            <a:spAutoFit/>
          </a:bodyPr>
          <a:lstStyle/>
          <a:p>
            <a:pPr algn="l">
              <a:lnSpc>
                <a:spcPct val="115000"/>
              </a:lnSpc>
              <a:spcBef>
                <a:spcPts val="0"/>
              </a:spcBef>
              <a:spcAft>
                <a:spcPts val="200"/>
              </a:spcAft>
            </a:pPr>
            <a:r>
              <a:rPr sz="1150" b="1" i="0">
                <a:solidFill>
                  <a:srgbClr val="1E3A6E"/>
                </a:solidFill>
                <a:latin typeface="Calibri"/>
              </a:rPr>
              <a:t>A documented claim that nothing keeps is the worst defect class here.</a:t>
            </a:r>
          </a:p>
          <a:p>
            <a:pPr>
              <a:lnSpc>
                <a:spcPct val="122000"/>
              </a:lnSpc>
              <a:spcBef>
                <a:spcPts val="0"/>
              </a:spcBef>
              <a:spcAft>
                <a:spcPts val="0"/>
              </a:spcAft>
            </a:pPr>
            <a:r>
              <a:rPr sz="950" b="0" i="0">
                <a:solidFill>
                  <a:srgbClr val="444F60"/>
                </a:solidFill>
                <a:latin typeface="Calibri"/>
              </a:rPr>
              <a:t>Twelve audits found 129 findings in a repository whose gate was green, and **not one was found by a failing test.** They were found by people reading code against the documents describing it. The count is a lower bound.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FRONT MATTER · SCOPE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What this deck is, and what it is not</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Front matter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2</a:t>
            </a:r>
          </a:p>
        </p:txBody>
      </p:sp>
      <p:graphicFrame>
        <p:nvGraphicFramePr>
          <p:cNvPr id="10" name="Table 9"/>
          <p:cNvGraphicFramePr>
            <a:graphicFrameLocks noGrp="1"/>
          </p:cNvGraphicFramePr>
          <p:nvPr/>
        </p:nvGraphicFramePr>
        <p:xfrm>
          <a:off x="777240" y="1353312"/>
          <a:ext cx="10637214" cy="2925901"/>
        </p:xfrm>
        <a:graphic>
          <a:graphicData uri="http://schemas.openxmlformats.org/drawingml/2006/table">
            <a:tbl>
              <a:tblPr firstRow="1">
                <a:tableStyleId>{5C22544A-7EE6-4342-B048-85BDC9FD1C3A}</a:tableStyleId>
              </a:tblPr>
              <a:tblGrid>
                <a:gridCol w="2109103"/>
                <a:gridCol w="1834002"/>
                <a:gridCol w="6694109"/>
              </a:tblGrid>
              <a:tr h="333781">
                <a:tc>
                  <a:txBody>
                    <a:bodyPr wrap="square"/>
                    <a:lstStyle/>
                    <a:p>
                      <a:pPr algn="l"/>
                      <a:r>
                        <a:rPr sz="1100" b="1">
                          <a:solidFill>
                            <a:srgbClr val="FFFFFF"/>
                          </a:solidFill>
                          <a:latin typeface="Calibri"/>
                        </a:rPr>
                        <a:t>Document</a:t>
                      </a:r>
                    </a:p>
                  </a:txBody>
                  <a:tcPr marL="82296" marR="64008" marT="32004" marB="32004" anchor="ctr">
                    <a:solidFill>
                      <a:srgbClr val="1E3A6E"/>
                    </a:solidFill>
                  </a:tcPr>
                </a:tc>
                <a:tc>
                  <a:txBody>
                    <a:bodyPr wrap="square"/>
                    <a:lstStyle/>
                    <a:p>
                      <a:pPr algn="l"/>
                      <a:r>
                        <a:rPr sz="1100" b="1">
                          <a:solidFill>
                            <a:srgbClr val="FFFFFF"/>
                          </a:solidFill>
                          <a:latin typeface="Calibri"/>
                        </a:rPr>
                        <a:t>Level</a:t>
                      </a:r>
                    </a:p>
                  </a:txBody>
                  <a:tcPr marL="82296" marR="64008" marT="32004" marB="32004" anchor="ctr">
                    <a:solidFill>
                      <a:srgbClr val="1E3A6E"/>
                    </a:solidFill>
                  </a:tcPr>
                </a:tc>
                <a:tc>
                  <a:txBody>
                    <a:bodyPr wrap="square"/>
                    <a:lstStyle/>
                    <a:p>
                      <a:pPr algn="l"/>
                      <a:r>
                        <a:rPr sz="1100" b="1">
                          <a:solidFill>
                            <a:srgbClr val="FFFFFF"/>
                          </a:solidFill>
                          <a:latin typeface="Calibri"/>
                        </a:rPr>
                        <a:t>Answers</a:t>
                      </a:r>
                    </a:p>
                  </a:txBody>
                  <a:tcPr marL="82296" marR="64008" marT="32004" marB="32004" anchor="ctr">
                    <a:solidFill>
                      <a:srgbClr val="1E3A6E"/>
                    </a:solidFill>
                  </a:tcPr>
                </a:tc>
              </a:tr>
              <a:tr h="342303">
                <a:tc>
                  <a:txBody>
                    <a:bodyPr wrap="square"/>
                    <a:lstStyle/>
                    <a:p>
                      <a:pPr algn="l"/>
                      <a:r>
                        <a:rPr sz="1150" b="0">
                          <a:solidFill>
                            <a:srgbClr val="0E1726"/>
                          </a:solidFill>
                          <a:latin typeface="Calibri"/>
                        </a:rPr>
                        <a:t>`README.md`</a:t>
                      </a:r>
                    </a:p>
                  </a:txBody>
                  <a:tcPr marL="82296" marR="64008" marT="32004" marB="32004" anchor="ctr">
                    <a:solidFill>
                      <a:srgbClr val="FFFFFF"/>
                    </a:solidFill>
                  </a:tcPr>
                </a:tc>
                <a:tc>
                  <a:txBody>
                    <a:bodyPr wrap="square"/>
                    <a:lstStyle/>
                    <a:p>
                      <a:pPr algn="l"/>
                      <a:r>
                        <a:rPr sz="1150" b="0">
                          <a:solidFill>
                            <a:srgbClr val="0E1726"/>
                          </a:solidFill>
                          <a:latin typeface="Calibri"/>
                        </a:rPr>
                        <a:t>one page</a:t>
                      </a:r>
                    </a:p>
                  </a:txBody>
                  <a:tcPr marL="82296" marR="64008" marT="32004" marB="32004" anchor="ctr">
                    <a:solidFill>
                      <a:srgbClr val="FFFFFF"/>
                    </a:solidFill>
                  </a:tcPr>
                </a:tc>
                <a:tc>
                  <a:txBody>
                    <a:bodyPr wrap="square"/>
                    <a:lstStyle/>
                    <a:p>
                      <a:pPr algn="l"/>
                      <a:r>
                        <a:rPr sz="1150" b="0">
                          <a:solidFill>
                            <a:srgbClr val="0E1726"/>
                          </a:solidFill>
                          <a:latin typeface="Calibri"/>
                        </a:rPr>
                        <a:t>what it is, what runs today, where to go next</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`QUICKSTART.md`</a:t>
                      </a:r>
                    </a:p>
                  </a:txBody>
                  <a:tcPr marL="82296" marR="64008" marT="32004" marB="32004" anchor="ctr">
                    <a:solidFill>
                      <a:srgbClr val="FBFAF7"/>
                    </a:solidFill>
                  </a:tcPr>
                </a:tc>
                <a:tc>
                  <a:txBody>
                    <a:bodyPr wrap="square"/>
                    <a:lstStyle/>
                    <a:p>
                      <a:pPr algn="l"/>
                      <a:r>
                        <a:rPr sz="1150" b="0">
                          <a:solidFill>
                            <a:srgbClr val="0E1726"/>
                          </a:solidFill>
                          <a:latin typeface="Calibri"/>
                        </a:rPr>
                        <a:t>a session</a:t>
                      </a:r>
                    </a:p>
                  </a:txBody>
                  <a:tcPr marL="82296" marR="64008" marT="32004" marB="32004" anchor="ctr">
                    <a:solidFill>
                      <a:srgbClr val="FBFAF7"/>
                    </a:solidFill>
                  </a:tcPr>
                </a:tc>
                <a:tc>
                  <a:txBody>
                    <a:bodyPr wrap="square"/>
                    <a:lstStyle/>
                    <a:p>
                      <a:pPr algn="l"/>
                      <a:r>
                        <a:rPr sz="1150" b="0">
                          <a:solidFill>
                            <a:srgbClr val="0E1726"/>
                          </a:solidFill>
                          <a:latin typeface="Calibri"/>
                        </a:rPr>
                        <a:t>install, start, query, tear down --- every transcript reproducible</a:t>
                      </a:r>
                    </a:p>
                  </a:txBody>
                  <a:tcPr marL="82296" marR="64008" marT="32004" marB="32004" anchor="ctr">
                    <a:solidFill>
                      <a:srgbClr val="FBFAF7"/>
                    </a:solidFill>
                  </a:tcPr>
                </a:tc>
              </a:tr>
              <a:tr h="342303">
                <a:tc>
                  <a:txBody>
                    <a:bodyPr wrap="square"/>
                    <a:lstStyle/>
                    <a:p>
                      <a:pPr algn="l"/>
                      <a:r>
                        <a:rPr sz="1150" b="0">
                          <a:solidFill>
                            <a:srgbClr val="0E1726"/>
                          </a:solidFill>
                          <a:latin typeface="Calibri"/>
                        </a:rPr>
                        <a:t>`ARCHITECTURE.md`</a:t>
                      </a:r>
                    </a:p>
                  </a:txBody>
                  <a:tcPr marL="82296" marR="64008" marT="32004" marB="32004" anchor="ctr">
                    <a:solidFill>
                      <a:srgbClr val="FFFFFF"/>
                    </a:solidFill>
                  </a:tcPr>
                </a:tc>
                <a:tc>
                  <a:txBody>
                    <a:bodyPr wrap="square"/>
                    <a:lstStyle/>
                    <a:p>
                      <a:pPr algn="l"/>
                      <a:r>
                        <a:rPr sz="1150" b="0">
                          <a:solidFill>
                            <a:srgbClr val="0E1726"/>
                          </a:solidFill>
                          <a:latin typeface="Calibri"/>
                        </a:rPr>
                        <a:t>section by section</a:t>
                      </a:r>
                    </a:p>
                  </a:txBody>
                  <a:tcPr marL="82296" marR="64008" marT="32004" marB="32004" anchor="ctr">
                    <a:solidFill>
                      <a:srgbClr val="FFFFFF"/>
                    </a:solidFill>
                  </a:tcPr>
                </a:tc>
                <a:tc>
                  <a:txBody>
                    <a:bodyPr wrap="square"/>
                    <a:lstStyle/>
                    <a:p>
                      <a:pPr algn="l"/>
                      <a:r>
                        <a:rPr sz="1150" b="0">
                          <a:solidFill>
                            <a:srgbClr val="0E1726"/>
                          </a:solidFill>
                          <a:latin typeface="Calibri"/>
                        </a:rPr>
                        <a:t>what each part does, marked **[Built]**, **[Built, with a named gap]** or **[Designed]**</a:t>
                      </a:r>
                    </a:p>
                  </a:txBody>
                  <a:tcPr marL="82296" marR="64008" marT="32004" marB="32004" anchor="ctr">
                    <a:solidFill>
                      <a:srgbClr val="FFFFFF"/>
                    </a:solidFill>
                  </a:tcPr>
                </a:tc>
              </a:tr>
              <a:tr h="538302">
                <a:tc>
                  <a:txBody>
                    <a:bodyPr wrap="square"/>
                    <a:lstStyle/>
                    <a:p>
                      <a:pPr algn="l"/>
                      <a:r>
                        <a:rPr sz="1150" b="0">
                          <a:solidFill>
                            <a:srgbClr val="0E1726"/>
                          </a:solidFill>
                          <a:latin typeface="Calibri"/>
                        </a:rPr>
                        <a:t>`STATUS.md`</a:t>
                      </a:r>
                    </a:p>
                  </a:txBody>
                  <a:tcPr marL="82296" marR="64008" marT="32004" marB="32004" anchor="ctr">
                    <a:solidFill>
                      <a:srgbClr val="FBFAF7"/>
                    </a:solidFill>
                  </a:tcPr>
                </a:tc>
                <a:tc>
                  <a:txBody>
                    <a:bodyPr wrap="square"/>
                    <a:lstStyle/>
                    <a:p>
                      <a:pPr algn="l"/>
                      <a:r>
                        <a:rPr sz="1150" b="0">
                          <a:solidFill>
                            <a:srgbClr val="0E1726"/>
                          </a:solidFill>
                          <a:latin typeface="Calibri"/>
                        </a:rPr>
                        <a:t>the ground truth</a:t>
                      </a:r>
                    </a:p>
                  </a:txBody>
                  <a:tcPr marL="82296" marR="64008" marT="32004" marB="32004" anchor="ctr">
                    <a:solidFill>
                      <a:srgbClr val="FBFAF7"/>
                    </a:solidFill>
                  </a:tcPr>
                </a:tc>
                <a:tc>
                  <a:txBody>
                    <a:bodyPr wrap="square"/>
                    <a:lstStyle/>
                    <a:p>
                      <a:pPr algn="l"/>
                      <a:r>
                        <a:rPr sz="1150" b="0">
                          <a:solidFill>
                            <a:srgbClr val="0E1726"/>
                          </a:solidFill>
                          <a:latin typeface="Calibri"/>
                        </a:rPr>
                        <a:t>what works today, and the canonical list of what does not. **Where this deck and that document disagree, that document is right**</a:t>
                      </a:r>
                    </a:p>
                  </a:txBody>
                  <a:tcPr marL="82296" marR="64008" marT="32004" marB="32004" anchor="ctr">
                    <a:solidFill>
                      <a:srgbClr val="FBFAF7"/>
                    </a:solidFill>
                  </a:tcPr>
                </a:tc>
              </a:tr>
              <a:tr h="342303">
                <a:tc>
                  <a:txBody>
                    <a:bodyPr wrap="square"/>
                    <a:lstStyle/>
                    <a:p>
                      <a:pPr algn="l"/>
                      <a:r>
                        <a:rPr sz="1150" b="0">
                          <a:solidFill>
                            <a:srgbClr val="0E1726"/>
                          </a:solidFill>
                          <a:latin typeface="Calibri"/>
                        </a:rPr>
                        <a:t>`TESTING.md`</a:t>
                      </a:r>
                    </a:p>
                  </a:txBody>
                  <a:tcPr marL="82296" marR="64008" marT="32004" marB="32004" anchor="ctr">
                    <a:solidFill>
                      <a:srgbClr val="FFFFFF"/>
                    </a:solidFill>
                  </a:tcPr>
                </a:tc>
                <a:tc>
                  <a:txBody>
                    <a:bodyPr wrap="square"/>
                    <a:lstStyle/>
                    <a:p>
                      <a:pPr algn="l"/>
                      <a:r>
                        <a:rPr sz="1150" b="0">
                          <a:solidFill>
                            <a:srgbClr val="0E1726"/>
                          </a:solidFill>
                          <a:latin typeface="Calibri"/>
                        </a:rPr>
                        <a:t>the evidence</a:t>
                      </a:r>
                    </a:p>
                  </a:txBody>
                  <a:tcPr marL="82296" marR="64008" marT="32004" marB="32004" anchor="ctr">
                    <a:solidFill>
                      <a:srgbClr val="FFFFFF"/>
                    </a:solidFill>
                  </a:tcPr>
                </a:tc>
                <a:tc>
                  <a:txBody>
                    <a:bodyPr wrap="square"/>
                    <a:lstStyle/>
                    <a:p>
                      <a:pPr algn="l"/>
                      <a:r>
                        <a:rPr sz="1150" b="0">
                          <a:solidFill>
                            <a:srgbClr val="0E1726"/>
                          </a:solidFill>
                          <a:latin typeface="Calibri"/>
                        </a:rPr>
                        <a:t>the gates, the mutations, and what the build only *intends*</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`REMEDIATION.md`</a:t>
                      </a:r>
                    </a:p>
                  </a:txBody>
                  <a:tcPr marL="82296" marR="64008" marT="32004" marB="32004" anchor="ctr">
                    <a:solidFill>
                      <a:srgbClr val="FBFAF7"/>
                    </a:solidFill>
                  </a:tcPr>
                </a:tc>
                <a:tc>
                  <a:txBody>
                    <a:bodyPr wrap="square"/>
                    <a:lstStyle/>
                    <a:p>
                      <a:pPr algn="l"/>
                      <a:r>
                        <a:rPr sz="1150" b="0">
                          <a:solidFill>
                            <a:srgbClr val="0E1726"/>
                          </a:solidFill>
                          <a:latin typeface="Calibri"/>
                        </a:rPr>
                        <a:t>the log</a:t>
                      </a:r>
                    </a:p>
                  </a:txBody>
                  <a:tcPr marL="82296" marR="64008" marT="32004" marB="32004" anchor="ctr">
                    <a:solidFill>
                      <a:srgbClr val="FBFAF7"/>
                    </a:solidFill>
                  </a:tcPr>
                </a:tc>
                <a:tc>
                  <a:txBody>
                    <a:bodyPr wrap="square"/>
                    <a:lstStyle/>
                    <a:p>
                      <a:pPr algn="l"/>
                      <a:r>
                        <a:rPr sz="1150" b="0">
                          <a:solidFill>
                            <a:srgbClr val="0E1726"/>
                          </a:solidFill>
                          <a:latin typeface="Calibri"/>
                        </a:rPr>
                        <a:t>129 findings, and what closing each one cost</a:t>
                      </a:r>
                    </a:p>
                  </a:txBody>
                  <a:tcPr marL="82296" marR="64008" marT="32004" marB="32004" anchor="ctr">
                    <a:solidFill>
                      <a:srgbClr val="FBFAF7"/>
                    </a:solidFill>
                  </a:tcPr>
                </a:tc>
              </a:tr>
              <a:tr h="342303">
                <a:tc>
                  <a:txBody>
                    <a:bodyPr wrap="square"/>
                    <a:lstStyle/>
                    <a:p>
                      <a:pPr algn="l"/>
                      <a:r>
                        <a:rPr sz="1150" b="0">
                          <a:solidFill>
                            <a:srgbClr val="0E1726"/>
                          </a:solidFill>
                          <a:latin typeface="Calibri"/>
                        </a:rPr>
                        <a:t>**This deck**</a:t>
                      </a:r>
                    </a:p>
                  </a:txBody>
                  <a:tcPr marL="82296" marR="64008" marT="32004" marB="32004" anchor="ctr">
                    <a:solidFill>
                      <a:srgbClr val="FFFFFF"/>
                    </a:solidFill>
                  </a:tcPr>
                </a:tc>
                <a:tc>
                  <a:txBody>
                    <a:bodyPr wrap="square"/>
                    <a:lstStyle/>
                    <a:p>
                      <a:pPr algn="l"/>
                      <a:r>
                        <a:rPr sz="1150" b="0">
                          <a:solidFill>
                            <a:srgbClr val="0E1726"/>
                          </a:solidFill>
                          <a:latin typeface="Calibri"/>
                        </a:rPr>
                        <a:t>the whole system</a:t>
                      </a:r>
                    </a:p>
                  </a:txBody>
                  <a:tcPr marL="82296" marR="64008" marT="32004" marB="32004" anchor="ctr">
                    <a:solidFill>
                      <a:srgbClr val="FFFFFF"/>
                    </a:solidFill>
                  </a:tcPr>
                </a:tc>
                <a:tc>
                  <a:txBody>
                    <a:bodyPr wrap="square"/>
                    <a:lstStyle/>
                    <a:p>
                      <a:pPr algn="l"/>
                      <a:r>
                        <a:rPr sz="1150" b="0">
                          <a:solidFill>
                            <a:srgbClr val="0E1726"/>
                          </a:solidFill>
                          <a:latin typeface="Calibri"/>
                        </a:rPr>
                        <a:t>why the design is this shape, what it refuses, and which third of it you can run</a:t>
                      </a:r>
                    </a:p>
                  </a:txBody>
                  <a:tcPr marL="82296" marR="64008" marT="32004" marB="32004" anchor="ctr">
                    <a:solidFill>
                      <a:srgbClr val="FFFFFF"/>
                    </a:solidFill>
                  </a:tcPr>
                </a:tc>
              </a:tr>
            </a:tbl>
          </a:graphicData>
        </a:graphic>
      </p:graphicFrame>
      <p:sp>
        <p:nvSpPr>
          <p:cNvPr id="11" name="Rectangle 10"/>
          <p:cNvSpPr/>
          <p:nvPr/>
        </p:nvSpPr>
        <p:spPr>
          <a:xfrm>
            <a:off x="777240" y="4480382"/>
            <a:ext cx="10637215" cy="13716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480382"/>
            <a:ext cx="41148" cy="137160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599254"/>
            <a:ext cx="10180015" cy="11521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1E3A6E"/>
                </a:solidFill>
                <a:latin typeface="Calibri"/>
              </a:rPr>
              <a:t>Every figure in this deck names what produced it. </a:t>
            </a:r>
            <a:r>
              <a:rPr sz="1050" b="0" i="0">
                <a:solidFill>
                  <a:srgbClr val="0E1726"/>
                </a:solidFill>
                <a:latin typeface="Calibri"/>
              </a:rPr>
              <a:t>A number with no benchmark beside it is a claim, and this project once published three speed tables that nothing in its history had ever produced --- restated across other documents until they read as established. Part VI is about that, and it is why the tense of every sentence here is load-bearing: *runs*, *is built and reaches no door*, and *is designed* are three different states and are never printed as one.</a:t>
            </a:r>
            <a:r>
              <a:rPr sz="1050" b="1" i="0">
                <a:solidFill>
                  <a:srgbClr val="0E1726"/>
                </a:solidFill>
                <a:latin typeface="Calibri"/>
              </a:rPr>
              <a:t> This deck does not replace the documents above; it is the shortest of them. It is not a benchmark report --- three of eighteen performance objectives are measured. And it is not a claim of production readiness: twelve audits returned *not production-ready*, and nothing since has re-run that verdict.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2191695" cy="9144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417320"/>
            <a:ext cx="10637215" cy="457200"/>
          </a:xfrm>
          <a:prstGeom prst="rect">
            <a:avLst/>
          </a:prstGeom>
          <a:noFill/>
        </p:spPr>
        <p:txBody>
          <a:bodyPr wrap="square" lIns="0" rIns="0" tIns="0" bIns="0" anchor="t">
            <a:spAutoFit/>
          </a:bodyPr>
          <a:lstStyle/>
          <a:p>
            <a:pPr algn="l">
              <a:spcBef>
                <a:spcPts val="0"/>
              </a:spcBef>
              <a:spcAft>
                <a:spcPts val="0"/>
              </a:spcAft>
            </a:pPr>
            <a:r>
              <a:rPr sz="1300" b="1" i="0">
                <a:solidFill>
                  <a:srgbClr val="1E3A6E"/>
                </a:solidFill>
                <a:latin typeface="Calibri"/>
              </a:rPr>
              <a:t>PART I</a:t>
            </a:r>
          </a:p>
        </p:txBody>
      </p:sp>
      <p:sp>
        <p:nvSpPr>
          <p:cNvPr id="5" name="TextBox 4"/>
          <p:cNvSpPr txBox="1"/>
          <p:nvPr/>
        </p:nvSpPr>
        <p:spPr>
          <a:xfrm>
            <a:off x="1005840" y="1965960"/>
            <a:ext cx="6807817" cy="1280160"/>
          </a:xfrm>
          <a:prstGeom prst="rect">
            <a:avLst/>
          </a:prstGeom>
          <a:noFill/>
        </p:spPr>
        <p:txBody>
          <a:bodyPr wrap="square" lIns="0" rIns="0" tIns="0" bIns="0" anchor="t">
            <a:spAutoFit/>
          </a:bodyPr>
          <a:lstStyle/>
          <a:p>
            <a:pPr algn="l">
              <a:spcBef>
                <a:spcPts val="0"/>
              </a:spcBef>
              <a:spcAft>
                <a:spcPts val="0"/>
              </a:spcAft>
            </a:pPr>
            <a:r>
              <a:rPr sz="5200" b="0" i="0">
                <a:solidFill>
                  <a:srgbClr val="FFFFFF"/>
                </a:solidFill>
                <a:latin typeface="Georgia"/>
              </a:rPr>
              <a:t>The reckoning</a:t>
            </a:r>
          </a:p>
        </p:txBody>
      </p:sp>
      <p:sp>
        <p:nvSpPr>
          <p:cNvPr id="6" name="Rectangle 5"/>
          <p:cNvSpPr/>
          <p:nvPr/>
        </p:nvSpPr>
        <p:spPr>
          <a:xfrm>
            <a:off x="1005840" y="3429000"/>
            <a:ext cx="1645920" cy="36576"/>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703320"/>
            <a:ext cx="6382329" cy="1005840"/>
          </a:xfrm>
          <a:prstGeom prst="rect">
            <a:avLst/>
          </a:prstGeom>
          <a:noFill/>
        </p:spPr>
        <p:txBody>
          <a:bodyPr wrap="square" lIns="0" rIns="0" tIns="0" bIns="0" anchor="t">
            <a:spAutoFit/>
          </a:bodyPr>
          <a:lstStyle/>
          <a:p>
            <a:pPr algn="l">
              <a:lnSpc>
                <a:spcPct val="130000"/>
              </a:lnSpc>
              <a:spcBef>
                <a:spcPts val="0"/>
              </a:spcBef>
              <a:spcAft>
                <a:spcPts val="0"/>
              </a:spcAft>
            </a:pPr>
            <a:r>
              <a:rPr sz="1600" b="0" i="1">
                <a:solidFill>
                  <a:srgbClr val="C8C2BA"/>
                </a:solidFill>
                <a:latin typeface="Calibri"/>
              </a:rPr>
              <a:t>what counting commits a system to, and the four positions that follow</a:t>
            </a:r>
          </a:p>
        </p:txBody>
      </p:sp>
      <p:sp>
        <p:nvSpPr>
          <p:cNvPr id="8" name="TextBox 7"/>
          <p:cNvSpPr txBox="1"/>
          <p:nvPr/>
        </p:nvSpPr>
        <p:spPr>
          <a:xfrm>
            <a:off x="8010546" y="1463040"/>
            <a:ext cx="3403908" cy="4206240"/>
          </a:xfrm>
          <a:prstGeom prst="rect">
            <a:avLst/>
          </a:prstGeom>
          <a:noFill/>
        </p:spPr>
        <p:txBody>
          <a:bodyPr wrap="square" lIns="0" rIns="0" tIns="0" bIns="0" anchor="t">
            <a:spAutoFit/>
          </a:bodyPr>
          <a:lstStyle/>
          <a:p>
            <a:pPr algn="l">
              <a:spcBef>
                <a:spcPts val="0"/>
              </a:spcBef>
              <a:spcAft>
                <a:spcPts val="1200"/>
              </a:spcAft>
            </a:pPr>
            <a:r>
              <a:rPr sz="950" b="1" i="0">
                <a:solidFill>
                  <a:srgbClr val="1E3A6E"/>
                </a:solidFill>
                <a:latin typeface="Calibri"/>
              </a:rPr>
              <a:t>CHAPTERS</a:t>
            </a:r>
          </a:p>
          <a:p>
            <a:pPr>
              <a:lnSpc>
                <a:spcPct val="115000"/>
              </a:lnSpc>
              <a:spcBef>
                <a:spcPts val="0"/>
              </a:spcBef>
              <a:spcAft>
                <a:spcPts val="800"/>
              </a:spcAft>
            </a:pPr>
            <a:r>
              <a:rPr sz="1150" b="0" i="0">
                <a:solidFill>
                  <a:srgbClr val="E4DED6"/>
                </a:solidFill>
                <a:latin typeface="Calibri"/>
              </a:rPr>
              <a:t>1 · The name, and what it is for</a:t>
            </a:r>
          </a:p>
          <a:p>
            <a:pPr>
              <a:lnSpc>
                <a:spcPct val="115000"/>
              </a:lnSpc>
              <a:spcBef>
                <a:spcPts val="0"/>
              </a:spcBef>
              <a:spcAft>
                <a:spcPts val="800"/>
              </a:spcAft>
            </a:pPr>
            <a:r>
              <a:rPr sz="1150" b="0" i="0">
                <a:solidFill>
                  <a:srgbClr val="E4DED6"/>
                </a:solidFill>
                <a:latin typeface="Calibri"/>
              </a:rPr>
              <a:t>2 · The estate, and the arithmetic of copies</a:t>
            </a:r>
          </a:p>
          <a:p>
            <a:pPr>
              <a:lnSpc>
                <a:spcPct val="115000"/>
              </a:lnSpc>
              <a:spcBef>
                <a:spcPts val="0"/>
              </a:spcBef>
              <a:spcAft>
                <a:spcPts val="800"/>
              </a:spcAft>
            </a:pPr>
            <a:r>
              <a:rPr sz="1150" b="0" i="0">
                <a:solidFill>
                  <a:srgbClr val="E4DED6"/>
                </a:solidFill>
                <a:latin typeface="Calibri"/>
              </a:rPr>
              <a:t>3 · Four positions, and what each costs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NAME · WHAT IT MEANS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सांख्य — enumeration, not arithmetic</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1 · The name, and what it is for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4</a:t>
            </a:r>
          </a:p>
        </p:txBody>
      </p:sp>
      <p:sp>
        <p:nvSpPr>
          <p:cNvPr id="10" name="Rectangle 9"/>
          <p:cNvSpPr/>
          <p:nvPr/>
        </p:nvSpPr>
        <p:spPr>
          <a:xfrm>
            <a:off x="777240" y="1353312"/>
            <a:ext cx="2377440" cy="1371600"/>
          </a:xfrm>
          <a:prstGeom prst="rect">
            <a:avLst/>
          </a:prstGeom>
          <a:solidFill>
            <a:srgbClr val="FBFAF7"/>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TextBox 10"/>
          <p:cNvSpPr txBox="1"/>
          <p:nvPr/>
        </p:nvSpPr>
        <p:spPr>
          <a:xfrm>
            <a:off x="923544" y="1609344"/>
            <a:ext cx="2084831" cy="914400"/>
          </a:xfrm>
          <a:prstGeom prst="rect">
            <a:avLst/>
          </a:prstGeom>
          <a:noFill/>
        </p:spPr>
        <p:txBody>
          <a:bodyPr wrap="square" lIns="0" rIns="0" tIns="0" bIns="0" anchor="t">
            <a:spAutoFit/>
          </a:bodyPr>
          <a:lstStyle/>
          <a:p>
            <a:pPr algn="ctr">
              <a:spcBef>
                <a:spcPts val="0"/>
              </a:spcBef>
              <a:spcAft>
                <a:spcPts val="0"/>
              </a:spcAft>
            </a:pPr>
            <a:r>
              <a:rPr sz="4000" b="0" i="0">
                <a:solidFill>
                  <a:srgbClr val="1E3A6E"/>
                </a:solidFill>
                <a:latin typeface="Georgia"/>
              </a:rPr>
              <a:t>सांख्य</a:t>
            </a:r>
          </a:p>
        </p:txBody>
      </p:sp>
      <p:sp>
        <p:nvSpPr>
          <p:cNvPr id="12" name="TextBox 11"/>
          <p:cNvSpPr txBox="1"/>
          <p:nvPr/>
        </p:nvSpPr>
        <p:spPr>
          <a:xfrm>
            <a:off x="3429000" y="1353312"/>
            <a:ext cx="7985455" cy="2194560"/>
          </a:xfrm>
          <a:prstGeom prst="rect">
            <a:avLst/>
          </a:prstGeom>
          <a:noFill/>
        </p:spPr>
        <p:txBody>
          <a:bodyPr wrap="square" lIns="0" rIns="0" tIns="0" bIns="0" anchor="t">
            <a:spAutoFit/>
          </a:bodyPr>
          <a:lstStyle/>
          <a:p>
            <a:pPr algn="l">
              <a:lnSpc>
                <a:spcPct val="132000"/>
              </a:lnSpc>
              <a:spcBef>
                <a:spcPts val="0"/>
              </a:spcBef>
              <a:spcAft>
                <a:spcPts val="800"/>
              </a:spcAft>
            </a:pPr>
            <a:r>
              <a:rPr sz="1250" b="0" i="0">
                <a:solidFill>
                  <a:srgbClr val="0E1726"/>
                </a:solidFill>
                <a:latin typeface="Calibri"/>
              </a:rPr>
              <a:t>Sāṅkhya is the oldest of the six darśanas — the enumerationist school. Its method is not calculation. It is the exhaustive listing of what there is, on the argument that a thing is known when everything it is composed of has been named and nothing has been left out.</a:t>
            </a:r>
          </a:p>
          <a:p>
            <a:pPr>
              <a:lnSpc>
                <a:spcPct val="132000"/>
              </a:lnSpc>
              <a:spcBef>
                <a:spcPts val="0"/>
              </a:spcBef>
              <a:spcAft>
                <a:spcPts val="800"/>
              </a:spcAft>
            </a:pPr>
            <a:r>
              <a:rPr sz="1250" b="0" i="0">
                <a:solidFill>
                  <a:srgbClr val="0E1726"/>
                </a:solidFill>
                <a:latin typeface="Calibri"/>
              </a:rPr>
              <a:t>The root साङ्ख्य carries both senses at once: to count, and to make completely known. They are the same act. An enumeration with a gap in it is not a smaller enumeration — it is a different claim about the world, made silently.</a:t>
            </a:r>
          </a:p>
          <a:p>
            <a:pPr>
              <a:lnSpc>
                <a:spcPct val="132000"/>
              </a:lnSpc>
              <a:spcBef>
                <a:spcPts val="0"/>
              </a:spcBef>
              <a:spcAft>
                <a:spcPts val="600"/>
              </a:spcAft>
            </a:pPr>
            <a:r>
              <a:rPr sz="1250" b="1" i="0">
                <a:solidFill>
                  <a:srgbClr val="1E3A6E"/>
                </a:solidFill>
                <a:latin typeface="Calibri"/>
              </a:rPr>
              <a:t>Which is what an analytical warehouse is for, and what goes wrong with one.</a:t>
            </a:r>
          </a:p>
        </p:txBody>
      </p:sp>
      <p:sp>
        <p:nvSpPr>
          <p:cNvPr id="13" name="Rectangle 12"/>
          <p:cNvSpPr/>
          <p:nvPr/>
        </p:nvSpPr>
        <p:spPr>
          <a:xfrm>
            <a:off x="777240" y="3730752"/>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777240" y="3895344"/>
            <a:ext cx="10637215" cy="1280160"/>
          </a:xfrm>
          <a:prstGeom prst="rect">
            <a:avLst/>
          </a:prstGeom>
          <a:noFill/>
        </p:spPr>
        <p:txBody>
          <a:bodyPr wrap="square" lIns="0" rIns="0" tIns="0" bIns="0" anchor="t">
            <a:spAutoFit/>
          </a:bodyPr>
          <a:lstStyle/>
          <a:p>
            <a:pPr algn="l"/>
          </a:p>
          <a:p>
            <a:pPr>
              <a:lnSpc>
                <a:spcPct val="132000"/>
              </a:lnSpc>
              <a:spcBef>
                <a:spcPts val="0"/>
              </a:spcBef>
              <a:spcAft>
                <a:spcPts val="600"/>
              </a:spcAft>
            </a:pPr>
            <a:r>
              <a:rPr sz="1200" b="1" i="0">
                <a:solidFill>
                  <a:srgbClr val="0E1726"/>
                </a:solidFill>
                <a:latin typeface="Calibri"/>
              </a:rPr>
              <a:t>A total that omits a partition is not a smaller total. </a:t>
            </a:r>
            <a:r>
              <a:rPr sz="1200" b="0" i="0">
                <a:solidFill>
                  <a:srgbClr val="444F60"/>
                </a:solidFill>
                <a:latin typeface="Calibri"/>
              </a:rPr>
              <a:t>It is a different number, and it does not say so. Every position in this deck follows from taking that seriously: a system that counts must be able to say what it counted over, and must refuse rather than answer when it cannot.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NAME · THE MARK</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The mark, and what it is reading</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1 · The name, and what it is for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5</a:t>
            </a:r>
          </a:p>
        </p:txBody>
      </p:sp>
      <p:sp>
        <p:nvSpPr>
          <p:cNvPr id="10" name="TextBox 9"/>
          <p:cNvSpPr txBox="1"/>
          <p:nvPr/>
        </p:nvSpPr>
        <p:spPr>
          <a:xfrm>
            <a:off x="3611880" y="1353312"/>
            <a:ext cx="7802575" cy="2377440"/>
          </a:xfrm>
          <a:prstGeom prst="rect">
            <a:avLst/>
          </a:prstGeom>
          <a:noFill/>
        </p:spPr>
        <p:txBody>
          <a:bodyPr wrap="square" lIns="0" rIns="0" tIns="0" bIns="0" anchor="t">
            <a:spAutoFit/>
          </a:bodyPr>
          <a:lstStyle/>
          <a:p>
            <a:pPr algn="l">
              <a:spcBef>
                <a:spcPts val="0"/>
              </a:spcBef>
              <a:spcAft>
                <a:spcPts val="1000"/>
              </a:spcAft>
            </a:pPr>
            <a:r>
              <a:rPr sz="1300" b="1" i="0">
                <a:solidFill>
                  <a:srgbClr val="1E3A6E"/>
                </a:solidFill>
                <a:latin typeface="Calibri"/>
              </a:rPr>
              <a:t>A die, read three ways.</a:t>
            </a:r>
          </a:p>
          <a:p>
            <a:pPr>
              <a:lnSpc>
                <a:spcPct val="128000"/>
              </a:lnSpc>
              <a:spcBef>
                <a:spcPts val="0"/>
              </a:spcBef>
              <a:spcAft>
                <a:spcPts val="800"/>
              </a:spcAft>
            </a:pPr>
            <a:r>
              <a:rPr sz="1150" b="1" i="0">
                <a:solidFill>
                  <a:srgbClr val="0E1726"/>
                </a:solidFill>
                <a:latin typeface="Calibri"/>
              </a:rPr>
              <a:t>The faces are a cube. </a:t>
            </a:r>
            <a:r>
              <a:rPr sz="1150" b="0" i="0">
                <a:solidFill>
                  <a:srgbClr val="444F60"/>
                </a:solidFill>
                <a:latin typeface="Calibri"/>
              </a:rPr>
              <a:t>Which is the shape of the analytical model here: dimensions crossed with measures, sliced and rolled up.</a:t>
            </a:r>
          </a:p>
          <a:p>
            <a:pPr>
              <a:lnSpc>
                <a:spcPct val="128000"/>
              </a:lnSpc>
              <a:spcBef>
                <a:spcPts val="0"/>
              </a:spcBef>
              <a:spcAft>
                <a:spcPts val="800"/>
              </a:spcAft>
            </a:pPr>
            <a:r>
              <a:rPr sz="1150" b="1" i="0">
                <a:solidFill>
                  <a:srgbClr val="0E1726"/>
                </a:solidFill>
                <a:latin typeface="Calibri"/>
              </a:rPr>
              <a:t>The pips are a count. </a:t>
            </a:r>
            <a:r>
              <a:rPr sz="1150" b="0" i="0">
                <a:solidFill>
                  <a:srgbClr val="444F60"/>
                </a:solidFill>
                <a:latin typeface="Calibri"/>
              </a:rPr>
              <a:t>The oldest counting mark there is, and the thing the name means.</a:t>
            </a:r>
          </a:p>
          <a:p>
            <a:pPr>
              <a:lnSpc>
                <a:spcPct val="128000"/>
              </a:lnSpc>
              <a:spcBef>
                <a:spcPts val="0"/>
              </a:spcBef>
              <a:spcAft>
                <a:spcPts val="800"/>
              </a:spcAft>
            </a:pPr>
            <a:r>
              <a:rPr sz="1150" b="1" i="0">
                <a:solidFill>
                  <a:srgbClr val="0E1726"/>
                </a:solidFill>
                <a:latin typeface="Calibri"/>
              </a:rPr>
              <a:t>The die is also a refusal. </a:t>
            </a:r>
            <a:r>
              <a:rPr sz="1150" b="0" i="0">
                <a:solidFill>
                  <a:srgbClr val="444F60"/>
                </a:solidFill>
                <a:latin typeface="Calibri"/>
              </a:rPr>
              <a:t>It has six faces and no seventh. A shape that cannot express a value does not approximate it.</a:t>
            </a:r>
          </a:p>
        </p:txBody>
      </p:sp>
      <p:sp>
        <p:nvSpPr>
          <p:cNvPr id="11" name="Rectangle 10"/>
          <p:cNvSpPr/>
          <p:nvPr/>
        </p:nvSpPr>
        <p:spPr>
          <a:xfrm>
            <a:off x="777240" y="3867912"/>
            <a:ext cx="10637215" cy="86868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867912"/>
            <a:ext cx="41148" cy="86868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3986784"/>
            <a:ext cx="10180015" cy="64922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1E3A6E"/>
                </a:solidFill>
                <a:latin typeface="Calibri"/>
              </a:rPr>
              <a:t>The mark is generated, not drawn. </a:t>
            </a:r>
            <a:r>
              <a:rPr sz="1050" b="0" i="0">
                <a:solidFill>
                  <a:srgbClr val="0E1726"/>
                </a:solidFill>
                <a:latin typeface="Calibri"/>
              </a:rPr>
              <a:t>`tools/make-logo.py` produces the wordmark, the favicon, the dark variant and this deck's palette from one source, for the same reason the metric catalogue is generated: so that they cannot drift apart. Change a proportion and every artefact changes with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PROBLEM · WHAT IS THERE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What an estate actually holds</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2 · The estate, and the arithmetic of copies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6</a:t>
            </a:r>
          </a:p>
        </p:txBody>
      </p:sp>
      <p:graphicFrame>
        <p:nvGraphicFramePr>
          <p:cNvPr id="10" name="Table 9"/>
          <p:cNvGraphicFramePr>
            <a:graphicFrameLocks noGrp="1"/>
          </p:cNvGraphicFramePr>
          <p:nvPr/>
        </p:nvGraphicFramePr>
        <p:xfrm>
          <a:off x="777240" y="1353312"/>
          <a:ext cx="10637213" cy="1702993"/>
        </p:xfrm>
        <a:graphic>
          <a:graphicData uri="http://schemas.openxmlformats.org/drawingml/2006/table">
            <a:tbl>
              <a:tblPr firstRow="1">
                <a:tableStyleId>{5C22544A-7EE6-4342-B048-85BDC9FD1C3A}</a:tableStyleId>
              </a:tblPr>
              <a:tblGrid>
                <a:gridCol w="2384203"/>
                <a:gridCol w="3026104"/>
                <a:gridCol w="2659303"/>
                <a:gridCol w="2567603"/>
              </a:tblGrid>
              <a:tr h="333781">
                <a:tc>
                  <a:txBody>
                    <a:bodyPr wrap="square"/>
                    <a:lstStyle/>
                    <a:p>
                      <a:pPr algn="l"/>
                      <a:r>
                        <a:rPr sz="1100" b="1">
                          <a:solidFill>
                            <a:srgbClr val="FFFFFF"/>
                          </a:solidFill>
                          <a:latin typeface="Calibri"/>
                        </a:rPr>
                        <a:t>The engine</a:t>
                      </a:r>
                    </a:p>
                  </a:txBody>
                  <a:tcPr marL="82296" marR="64008" marT="32004" marB="32004" anchor="ctr">
                    <a:solidFill>
                      <a:srgbClr val="1E3A6E"/>
                    </a:solidFill>
                  </a:tcPr>
                </a:tc>
                <a:tc>
                  <a:txBody>
                    <a:bodyPr wrap="square"/>
                    <a:lstStyle/>
                    <a:p>
                      <a:pPr algn="l"/>
                      <a:r>
                        <a:rPr sz="1100" b="1">
                          <a:solidFill>
                            <a:srgbClr val="FFFFFF"/>
                          </a:solidFill>
                          <a:latin typeface="Calibri"/>
                        </a:rPr>
                        <a:t>What it is good at</a:t>
                      </a:r>
                    </a:p>
                  </a:txBody>
                  <a:tcPr marL="82296" marR="64008" marT="32004" marB="32004" anchor="ctr">
                    <a:solidFill>
                      <a:srgbClr val="1E3A6E"/>
                    </a:solidFill>
                  </a:tcPr>
                </a:tc>
                <a:tc>
                  <a:txBody>
                    <a:bodyPr wrap="square"/>
                    <a:lstStyle/>
                    <a:p>
                      <a:pPr algn="l"/>
                      <a:r>
                        <a:rPr sz="1100" b="1">
                          <a:solidFill>
                            <a:srgbClr val="FFFFFF"/>
                          </a:solidFill>
                          <a:latin typeface="Calibri"/>
                        </a:rPr>
                        <a:t>What it holds</a:t>
                      </a:r>
                    </a:p>
                  </a:txBody>
                  <a:tcPr marL="82296" marR="64008" marT="32004" marB="32004" anchor="ctr">
                    <a:solidFill>
                      <a:srgbClr val="1E3A6E"/>
                    </a:solidFill>
                  </a:tcPr>
                </a:tc>
                <a:tc>
                  <a:txBody>
                    <a:bodyPr wrap="square"/>
                    <a:lstStyle/>
                    <a:p>
                      <a:pPr algn="l"/>
                      <a:r>
                        <a:rPr sz="1100" b="1">
                          <a:solidFill>
                            <a:srgbClr val="FFFFFF"/>
                          </a:solidFill>
                          <a:latin typeface="Calibri"/>
                        </a:rPr>
                        <a:t>Kept in step by</a:t>
                      </a:r>
                    </a:p>
                  </a:txBody>
                  <a:tcPr marL="82296" marR="64008" marT="32004" marB="32004" anchor="ctr">
                    <a:solidFill>
                      <a:srgbClr val="1E3A6E"/>
                    </a:solidFill>
                  </a:tcPr>
                </a:tc>
              </a:tr>
              <a:tr h="342303">
                <a:tc>
                  <a:txBody>
                    <a:bodyPr wrap="square"/>
                    <a:lstStyle/>
                    <a:p>
                      <a:pPr algn="l"/>
                      <a:r>
                        <a:rPr sz="1150" b="0">
                          <a:solidFill>
                            <a:srgbClr val="0E1726"/>
                          </a:solidFill>
                          <a:latin typeface="Calibri"/>
                        </a:rPr>
                        <a:t>A transactional store</a:t>
                      </a:r>
                    </a:p>
                  </a:txBody>
                  <a:tcPr marL="82296" marR="64008" marT="32004" marB="32004" anchor="ctr">
                    <a:solidFill>
                      <a:srgbClr val="FFFFFF"/>
                    </a:solidFill>
                  </a:tcPr>
                </a:tc>
                <a:tc>
                  <a:txBody>
                    <a:bodyPr wrap="square"/>
                    <a:lstStyle/>
                    <a:p>
                      <a:pPr algn="l"/>
                      <a:r>
                        <a:rPr sz="1150" b="0">
                          <a:solidFill>
                            <a:srgbClr val="0E1726"/>
                          </a:solidFill>
                          <a:latin typeface="Calibri"/>
                        </a:rPr>
                        <a:t>one row, now, correctly</a:t>
                      </a:r>
                    </a:p>
                  </a:txBody>
                  <a:tcPr marL="82296" marR="64008" marT="32004" marB="32004" anchor="ctr">
                    <a:solidFill>
                      <a:srgbClr val="FFFFFF"/>
                    </a:solidFill>
                  </a:tcPr>
                </a:tc>
                <a:tc>
                  <a:txBody>
                    <a:bodyPr wrap="square"/>
                    <a:lstStyle/>
                    <a:p>
                      <a:pPr algn="l"/>
                      <a:r>
                        <a:rPr sz="1150" b="0">
                          <a:solidFill>
                            <a:srgbClr val="0E1726"/>
                          </a:solidFill>
                          <a:latin typeface="Calibri"/>
                        </a:rPr>
                        <a:t>the operational truth</a:t>
                      </a:r>
                    </a:p>
                  </a:txBody>
                  <a:tcPr marL="82296" marR="64008" marT="32004" marB="32004" anchor="ctr">
                    <a:solidFill>
                      <a:srgbClr val="FFFFFF"/>
                    </a:solidFill>
                  </a:tcPr>
                </a:tc>
                <a:tc>
                  <a:txBody>
                    <a:bodyPr wrap="square"/>
                    <a:lstStyle/>
                    <a:p>
                      <a:pPr algn="l"/>
                      <a:r>
                        <a:rPr sz="1150" b="0">
                          <a:solidFill>
                            <a:srgbClr val="0E1726"/>
                          </a:solidFill>
                          <a:latin typeface="Calibri"/>
                        </a:rPr>
                        <a:t>being the source</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An analytical engine</a:t>
                      </a:r>
                    </a:p>
                  </a:txBody>
                  <a:tcPr marL="82296" marR="64008" marT="32004" marB="32004" anchor="ctr">
                    <a:solidFill>
                      <a:srgbClr val="FBFAF7"/>
                    </a:solidFill>
                  </a:tcPr>
                </a:tc>
                <a:tc>
                  <a:txBody>
                    <a:bodyPr wrap="square"/>
                    <a:lstStyle/>
                    <a:p>
                      <a:pPr algn="l"/>
                      <a:r>
                        <a:rPr sz="1150" b="0">
                          <a:solidFill>
                            <a:srgbClr val="0E1726"/>
                          </a:solidFill>
                          <a:latin typeface="Calibri"/>
                        </a:rPr>
                        <a:t>a hundred million rows, columnar</a:t>
                      </a:r>
                    </a:p>
                  </a:txBody>
                  <a:tcPr marL="82296" marR="64008" marT="32004" marB="32004" anchor="ctr">
                    <a:solidFill>
                      <a:srgbClr val="FBFAF7"/>
                    </a:solidFill>
                  </a:tcPr>
                </a:tc>
                <a:tc>
                  <a:txBody>
                    <a:bodyPr wrap="square"/>
                    <a:lstStyle/>
                    <a:p>
                      <a:pPr algn="l"/>
                      <a:r>
                        <a:rPr sz="1150" b="0">
                          <a:solidFill>
                            <a:srgbClr val="0E1726"/>
                          </a:solidFill>
                          <a:latin typeface="Calibri"/>
                        </a:rPr>
                        <a:t>a copy, batched in</a:t>
                      </a:r>
                    </a:p>
                  </a:txBody>
                  <a:tcPr marL="82296" marR="64008" marT="32004" marB="32004" anchor="ctr">
                    <a:solidFill>
                      <a:srgbClr val="FBFAF7"/>
                    </a:solidFill>
                  </a:tcPr>
                </a:tc>
                <a:tc>
                  <a:txBody>
                    <a:bodyPr wrap="square"/>
                    <a:lstStyle/>
                    <a:p>
                      <a:pPr algn="l"/>
                      <a:r>
                        <a:rPr sz="1150" b="0">
                          <a:solidFill>
                            <a:srgbClr val="0E1726"/>
                          </a:solidFill>
                          <a:latin typeface="Calibri"/>
                        </a:rPr>
                        <a:t>a pipeline</a:t>
                      </a:r>
                    </a:p>
                  </a:txBody>
                  <a:tcPr marL="82296" marR="64008" marT="32004" marB="32004" anchor="ctr">
                    <a:solidFill>
                      <a:srgbClr val="FBFAF7"/>
                    </a:solidFill>
                  </a:tcPr>
                </a:tc>
              </a:tr>
              <a:tr h="342303">
                <a:tc>
                  <a:txBody>
                    <a:bodyPr wrap="square"/>
                    <a:lstStyle/>
                    <a:p>
                      <a:pPr algn="l"/>
                      <a:r>
                        <a:rPr sz="1150" b="0">
                          <a:solidFill>
                            <a:srgbClr val="0E1726"/>
                          </a:solidFill>
                          <a:latin typeface="Calibri"/>
                        </a:rPr>
                        <a:t>A graph store</a:t>
                      </a:r>
                    </a:p>
                  </a:txBody>
                  <a:tcPr marL="82296" marR="64008" marT="32004" marB="32004" anchor="ctr">
                    <a:solidFill>
                      <a:srgbClr val="FFFFFF"/>
                    </a:solidFill>
                  </a:tcPr>
                </a:tc>
                <a:tc>
                  <a:txBody>
                    <a:bodyPr wrap="square"/>
                    <a:lstStyle/>
                    <a:p>
                      <a:pPr algn="l"/>
                      <a:r>
                        <a:rPr sz="1150" b="0">
                          <a:solidFill>
                            <a:srgbClr val="0E1726"/>
                          </a:solidFill>
                          <a:latin typeface="Calibri"/>
                        </a:rPr>
                        <a:t>traversal and reachability</a:t>
                      </a:r>
                    </a:p>
                  </a:txBody>
                  <a:tcPr marL="82296" marR="64008" marT="32004" marB="32004" anchor="ctr">
                    <a:solidFill>
                      <a:srgbClr val="FFFFFF"/>
                    </a:solidFill>
                  </a:tcPr>
                </a:tc>
                <a:tc>
                  <a:txBody>
                    <a:bodyPr wrap="square"/>
                    <a:lstStyle/>
                    <a:p>
                      <a:pPr algn="l"/>
                      <a:r>
                        <a:rPr sz="1150" b="0">
                          <a:solidFill>
                            <a:srgbClr val="0E1726"/>
                          </a:solidFill>
                          <a:latin typeface="Calibri"/>
                        </a:rPr>
                        <a:t>a second copy, reshaped</a:t>
                      </a:r>
                    </a:p>
                  </a:txBody>
                  <a:tcPr marL="82296" marR="64008" marT="32004" marB="32004" anchor="ctr">
                    <a:solidFill>
                      <a:srgbClr val="FFFFFF"/>
                    </a:solidFill>
                  </a:tcPr>
                </a:tc>
                <a:tc>
                  <a:txBody>
                    <a:bodyPr wrap="square"/>
                    <a:lstStyle/>
                    <a:p>
                      <a:pPr algn="l"/>
                      <a:r>
                        <a:rPr sz="1150" b="0">
                          <a:solidFill>
                            <a:srgbClr val="0E1726"/>
                          </a:solidFill>
                          <a:latin typeface="Calibri"/>
                        </a:rPr>
                        <a:t>another pipeline</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A search index</a:t>
                      </a:r>
                    </a:p>
                  </a:txBody>
                  <a:tcPr marL="82296" marR="64008" marT="32004" marB="32004" anchor="ctr">
                    <a:solidFill>
                      <a:srgbClr val="FBFAF7"/>
                    </a:solidFill>
                  </a:tcPr>
                </a:tc>
                <a:tc>
                  <a:txBody>
                    <a:bodyPr wrap="square"/>
                    <a:lstStyle/>
                    <a:p>
                      <a:pPr algn="l"/>
                      <a:r>
                        <a:rPr sz="1150" b="0">
                          <a:solidFill>
                            <a:srgbClr val="0E1726"/>
                          </a:solidFill>
                          <a:latin typeface="Calibri"/>
                        </a:rPr>
                        <a:t>text and ranking</a:t>
                      </a:r>
                    </a:p>
                  </a:txBody>
                  <a:tcPr marL="82296" marR="64008" marT="32004" marB="32004" anchor="ctr">
                    <a:solidFill>
                      <a:srgbClr val="FBFAF7"/>
                    </a:solidFill>
                  </a:tcPr>
                </a:tc>
                <a:tc>
                  <a:txBody>
                    <a:bodyPr wrap="square"/>
                    <a:lstStyle/>
                    <a:p>
                      <a:pPr algn="l"/>
                      <a:r>
                        <a:rPr sz="1150" b="0">
                          <a:solidFill>
                            <a:srgbClr val="0E1726"/>
                          </a:solidFill>
                          <a:latin typeface="Calibri"/>
                        </a:rPr>
                        <a:t>a third copy</a:t>
                      </a:r>
                    </a:p>
                  </a:txBody>
                  <a:tcPr marL="82296" marR="64008" marT="32004" marB="32004" anchor="ctr">
                    <a:solidFill>
                      <a:srgbClr val="FBFAF7"/>
                    </a:solidFill>
                  </a:tcPr>
                </a:tc>
                <a:tc>
                  <a:txBody>
                    <a:bodyPr wrap="square"/>
                    <a:lstStyle/>
                    <a:p>
                      <a:pPr algn="l"/>
                      <a:r>
                        <a:rPr sz="1150" b="0">
                          <a:solidFill>
                            <a:srgbClr val="0E1726"/>
                          </a:solidFill>
                          <a:latin typeface="Calibri"/>
                        </a:rPr>
                        <a:t>a third pipeline</a:t>
                      </a:r>
                    </a:p>
                  </a:txBody>
                  <a:tcPr marL="82296" marR="64008" marT="32004" marB="32004" anchor="ctr">
                    <a:solidFill>
                      <a:srgbClr val="FBFAF7"/>
                    </a:solidFill>
                  </a:tcPr>
                </a:tc>
              </a:tr>
            </a:tbl>
          </a:graphicData>
        </a:graphic>
      </p:graphicFrame>
      <p:sp>
        <p:nvSpPr>
          <p:cNvPr id="11" name="TextBox 10"/>
          <p:cNvSpPr txBox="1"/>
          <p:nvPr/>
        </p:nvSpPr>
        <p:spPr>
          <a:xfrm>
            <a:off x="777240" y="3275761"/>
            <a:ext cx="10637215" cy="1463040"/>
          </a:xfrm>
          <a:prstGeom prst="rect">
            <a:avLst/>
          </a:prstGeom>
          <a:noFill/>
        </p:spPr>
        <p:txBody>
          <a:bodyPr wrap="square" lIns="0" rIns="0" tIns="0" bIns="0" anchor="t">
            <a:spAutoFit/>
          </a:bodyPr>
          <a:lstStyle/>
          <a:p>
            <a:pPr algn="l">
              <a:lnSpc>
                <a:spcPct val="130000"/>
              </a:lnSpc>
              <a:spcBef>
                <a:spcPts val="0"/>
              </a:spcBef>
              <a:spcAft>
                <a:spcPts val="1000"/>
              </a:spcAft>
            </a:pPr>
            <a:r>
              <a:rPr sz="1250" b="1" i="0">
                <a:solidFill>
                  <a:srgbClr val="0E1726"/>
                </a:solidFill>
                <a:latin typeface="Calibri"/>
              </a:rPr>
              <a:t>Each is the right tool. None of them is the problem. The problem is the arithmetic that follows from having them.</a:t>
            </a:r>
          </a:p>
          <a:p>
            <a:pPr>
              <a:lnSpc>
                <a:spcPct val="130000"/>
              </a:lnSpc>
              <a:spcBef>
                <a:spcPts val="0"/>
              </a:spcBef>
              <a:spcAft>
                <a:spcPts val="600"/>
              </a:spcAft>
            </a:pPr>
            <a:r>
              <a:rPr sz="1200" b="1" i="0">
                <a:solidFill>
                  <a:srgbClr val="0E1726"/>
                </a:solidFill>
                <a:latin typeface="Calibri"/>
              </a:rPr>
              <a:t>Every pair of copies is a place they can disagree. </a:t>
            </a:r>
            <a:r>
              <a:rPr sz="1200" b="0" i="0">
                <a:solidFill>
                  <a:srgbClr val="444F60"/>
                </a:solidFill>
                <a:latin typeface="Calibri"/>
              </a:rPr>
              <a:t>Four copies is six pairs; six copies is fifteen. The reconciliation function that grows to cover them produces no analytical output of its own — it exists entirely to answer whether two systems still agree, and it is never finished, because a system that stops reconciling is not a system that has converged.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PROBLEM · THE SHAPE OF AN ANSWER</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What the answer has to be, and what it cannot be</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2 · The estate, and the arithmetic of copies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7</a:t>
            </a:r>
          </a:p>
        </p:txBody>
      </p:sp>
      <p:graphicFrame>
        <p:nvGraphicFramePr>
          <p:cNvPr id="10" name="Table 9"/>
          <p:cNvGraphicFramePr>
            <a:graphicFrameLocks noGrp="1"/>
          </p:cNvGraphicFramePr>
          <p:nvPr/>
        </p:nvGraphicFramePr>
        <p:xfrm>
          <a:off x="777240" y="1353312"/>
          <a:ext cx="10637214" cy="2290990"/>
        </p:xfrm>
        <a:graphic>
          <a:graphicData uri="http://schemas.openxmlformats.org/drawingml/2006/table">
            <a:tbl>
              <a:tblPr firstRow="1">
                <a:tableStyleId>{5C22544A-7EE6-4342-B048-85BDC9FD1C3A}</a:tableStyleId>
              </a:tblPr>
              <a:tblGrid>
                <a:gridCol w="3301204"/>
                <a:gridCol w="7336010"/>
              </a:tblGrid>
              <a:tr h="333781">
                <a:tc>
                  <a:txBody>
                    <a:bodyPr wrap="square"/>
                    <a:lstStyle/>
                    <a:p>
                      <a:pPr algn="l"/>
                      <a:r>
                        <a:rPr sz="1100" b="1">
                          <a:solidFill>
                            <a:srgbClr val="FFFFFF"/>
                          </a:solidFill>
                          <a:latin typeface="Calibri"/>
                        </a:rPr>
                        <a:t>An answer that does not work</a:t>
                      </a:r>
                    </a:p>
                  </a:txBody>
                  <a:tcPr marL="82296" marR="64008" marT="32004" marB="32004" anchor="ctr">
                    <a:solidFill>
                      <a:srgbClr val="1E3A6E"/>
                    </a:solidFill>
                  </a:tcPr>
                </a:tc>
                <a:tc>
                  <a:txBody>
                    <a:bodyPr wrap="square"/>
                    <a:lstStyle/>
                    <a:p>
                      <a:pPr algn="l"/>
                      <a:r>
                        <a:rPr sz="1100" b="1">
                          <a:solidFill>
                            <a:srgbClr val="FFFFFF"/>
                          </a:solidFill>
                          <a:latin typeface="Calibri"/>
                        </a:rPr>
                        <a:t>Why not</a:t>
                      </a:r>
                    </a:p>
                  </a:txBody>
                  <a:tcPr marL="82296" marR="64008" marT="32004" marB="32004" anchor="ctr">
                    <a:solidFill>
                      <a:srgbClr val="1E3A6E"/>
                    </a:solidFill>
                  </a:tcPr>
                </a:tc>
              </a:tr>
              <a:tr h="538302">
                <a:tc>
                  <a:txBody>
                    <a:bodyPr wrap="square"/>
                    <a:lstStyle/>
                    <a:p>
                      <a:pPr algn="l"/>
                      <a:r>
                        <a:rPr sz="1150" b="0">
                          <a:solidFill>
                            <a:srgbClr val="0E1726"/>
                          </a:solidFill>
                          <a:latin typeface="Calibri"/>
                        </a:rPr>
                        <a:t>Make the copies converge faster</a:t>
                      </a:r>
                    </a:p>
                  </a:txBody>
                  <a:tcPr marL="82296" marR="64008" marT="32004" marB="32004" anchor="ctr">
                    <a:solidFill>
                      <a:srgbClr val="FFFFFF"/>
                    </a:solidFill>
                  </a:tcPr>
                </a:tc>
                <a:tc>
                  <a:txBody>
                    <a:bodyPr wrap="square"/>
                    <a:lstStyle/>
                    <a:p>
                      <a:pPr algn="l"/>
                      <a:r>
                        <a:rPr sz="1150" b="0">
                          <a:solidFill>
                            <a:srgbClr val="0E1726"/>
                          </a:solidFill>
                          <a:latin typeface="Calibri"/>
                        </a:rPr>
                        <a:t>Halving the lag halves the window in which they disagree and removes none of the pairs. The reconciliation function is unchanged.</a:t>
                      </a:r>
                    </a:p>
                  </a:txBody>
                  <a:tcPr marL="82296" marR="64008" marT="32004" marB="32004" anchor="ctr">
                    <a:solidFill>
                      <a:srgbClr val="FFFFFF"/>
                    </a:solidFill>
                  </a:tcPr>
                </a:tc>
              </a:tr>
              <a:tr h="538302">
                <a:tc>
                  <a:txBody>
                    <a:bodyPr wrap="square"/>
                    <a:lstStyle/>
                    <a:p>
                      <a:pPr algn="l"/>
                      <a:r>
                        <a:rPr sz="1150" b="0">
                          <a:solidFill>
                            <a:srgbClr val="0E1726"/>
                          </a:solidFill>
                          <a:latin typeface="Calibri"/>
                        </a:rPr>
                        <a:t>Make one engine do everything</a:t>
                      </a:r>
                    </a:p>
                  </a:txBody>
                  <a:tcPr marL="82296" marR="64008" marT="32004" marB="32004" anchor="ctr">
                    <a:solidFill>
                      <a:srgbClr val="FBFAF7"/>
                    </a:solidFill>
                  </a:tcPr>
                </a:tc>
                <a:tc>
                  <a:txBody>
                    <a:bodyPr wrap="square"/>
                    <a:lstStyle/>
                    <a:p>
                      <a:pPr algn="l"/>
                      <a:r>
                        <a:rPr sz="1150" b="0">
                          <a:solidFill>
                            <a:srgbClr val="0E1726"/>
                          </a:solidFill>
                          <a:latin typeface="Calibri"/>
                        </a:rPr>
                        <a:t>A row store scanning a hundred million rows and a column store fetching one row are both the wrong shape. The specialisation is real.</a:t>
                      </a:r>
                    </a:p>
                  </a:txBody>
                  <a:tcPr marL="82296" marR="64008" marT="32004" marB="32004" anchor="ctr">
                    <a:solidFill>
                      <a:srgbClr val="FBFAF7"/>
                    </a:solidFill>
                  </a:tcPr>
                </a:tc>
              </a:tr>
              <a:tr h="538302">
                <a:tc>
                  <a:txBody>
                    <a:bodyPr wrap="square"/>
                    <a:lstStyle/>
                    <a:p>
                      <a:pPr algn="l"/>
                      <a:r>
                        <a:rPr sz="1150" b="0">
                          <a:solidFill>
                            <a:srgbClr val="0E1726"/>
                          </a:solidFill>
                          <a:latin typeface="Calibri"/>
                        </a:rPr>
                        <a:t>Put a query federator in front</a:t>
                      </a:r>
                    </a:p>
                  </a:txBody>
                  <a:tcPr marL="82296" marR="64008" marT="32004" marB="32004" anchor="ctr">
                    <a:solidFill>
                      <a:srgbClr val="FFFFFF"/>
                    </a:solidFill>
                  </a:tcPr>
                </a:tc>
                <a:tc>
                  <a:txBody>
                    <a:bodyPr wrap="square"/>
                    <a:lstStyle/>
                    <a:p>
                      <a:pPr algn="l"/>
                      <a:r>
                        <a:rPr sz="1150" b="0">
                          <a:solidFill>
                            <a:srgbClr val="0E1726"/>
                          </a:solidFill>
                          <a:latin typeface="Calibri"/>
                        </a:rPr>
                        <a:t>The copies still exist and still disagree; the federator now has to decide which one is right, at query time, with no basis for deciding.</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One governed copy, several engines over it</a:t>
                      </a:r>
                    </a:p>
                  </a:txBody>
                  <a:tcPr marL="82296" marR="64008" marT="32004" marB="32004" anchor="ctr">
                    <a:solidFill>
                      <a:srgbClr val="FBFAF7"/>
                    </a:solidFill>
                  </a:tcPr>
                </a:tc>
                <a:tc>
                  <a:txBody>
                    <a:bodyPr wrap="square"/>
                    <a:lstStyle/>
                    <a:p>
                      <a:pPr algn="l"/>
                      <a:r>
                        <a:rPr sz="1150" b="0">
                          <a:solidFill>
                            <a:srgbClr val="0E1726"/>
                          </a:solidFill>
                          <a:latin typeface="Calibri"/>
                        </a:rPr>
                        <a:t>The pairs go to zero because there is one copy. This is the design, and §III says what it costs.</a:t>
                      </a:r>
                    </a:p>
                  </a:txBody>
                  <a:tcPr marL="82296" marR="64008" marT="32004" marB="32004" anchor="ctr">
                    <a:solidFill>
                      <a:srgbClr val="FBFAF7"/>
                    </a:solidFill>
                  </a:tcPr>
                </a:tc>
              </a:tr>
            </a:tbl>
          </a:graphicData>
        </a:graphic>
      </p:graphicFrame>
      <p:sp>
        <p:nvSpPr>
          <p:cNvPr id="11" name="TextBox 10"/>
          <p:cNvSpPr txBox="1"/>
          <p:nvPr/>
        </p:nvSpPr>
        <p:spPr>
          <a:xfrm>
            <a:off x="777240" y="3863759"/>
            <a:ext cx="10637215" cy="1097280"/>
          </a:xfrm>
          <a:prstGeom prst="rect">
            <a:avLst/>
          </a:prstGeom>
          <a:noFill/>
        </p:spPr>
        <p:txBody>
          <a:bodyPr wrap="square" lIns="0" rIns="0" tIns="0" bIns="0" anchor="t">
            <a:spAutoFit/>
          </a:bodyPr>
          <a:lstStyle/>
          <a:p>
            <a:pPr algn="l"/>
          </a:p>
          <a:p>
            <a:pPr>
              <a:lnSpc>
                <a:spcPct val="130000"/>
              </a:lnSpc>
              <a:spcBef>
                <a:spcPts val="0"/>
              </a:spcBef>
              <a:spcAft>
                <a:spcPts val="600"/>
              </a:spcAft>
            </a:pPr>
            <a:r>
              <a:rPr sz="1150" b="1" i="0">
                <a:solidFill>
                  <a:srgbClr val="1E3A6E"/>
                </a:solidFill>
                <a:latin typeface="Calibri"/>
              </a:rPr>
              <a:t>The last row is a claim about today, and it is not true yet. </a:t>
            </a:r>
            <a:r>
              <a:rPr sz="1150" b="0" i="0">
                <a:solidFill>
                  <a:srgbClr val="444F60"/>
                </a:solidFill>
                <a:latin typeface="Calibri"/>
              </a:rPr>
              <a:t>One engine runs — the analytical one, read-only. The transactional tier is a supervised child process that nothing in the server starts; the graph tier is registered against an empty catalogue and can never answer. Part V says so at length, and `docs/STATUS.md` is the document that must be believed over this 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STANCE · WHAT IS CHOSEN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Four positions, and their cost</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3 · Four positions, and what each costs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8</a:t>
            </a:r>
          </a:p>
        </p:txBody>
      </p:sp>
      <p:graphicFrame>
        <p:nvGraphicFramePr>
          <p:cNvPr id="10" name="Table 9"/>
          <p:cNvGraphicFramePr>
            <a:graphicFrameLocks noGrp="1"/>
          </p:cNvGraphicFramePr>
          <p:nvPr/>
        </p:nvGraphicFramePr>
        <p:xfrm>
          <a:off x="777240" y="1353312"/>
          <a:ext cx="10637214" cy="2861941"/>
        </p:xfrm>
        <a:graphic>
          <a:graphicData uri="http://schemas.openxmlformats.org/drawingml/2006/table">
            <a:tbl>
              <a:tblPr firstRow="1">
                <a:tableStyleId>{5C22544A-7EE6-4342-B048-85BDC9FD1C3A}</a:tableStyleId>
              </a:tblPr>
              <a:tblGrid>
                <a:gridCol w="2292503"/>
                <a:gridCol w="4585006"/>
                <a:gridCol w="3759705"/>
              </a:tblGrid>
              <a:tr h="333781">
                <a:tc>
                  <a:txBody>
                    <a:bodyPr wrap="square"/>
                    <a:lstStyle/>
                    <a:p>
                      <a:pPr algn="l"/>
                      <a:r>
                        <a:rPr sz="1100" b="1">
                          <a:solidFill>
                            <a:srgbClr val="FFFFFF"/>
                          </a:solidFill>
                          <a:latin typeface="Calibri"/>
                        </a:rPr>
                        <a:t>Position</a:t>
                      </a:r>
                    </a:p>
                  </a:txBody>
                  <a:tcPr marL="82296" marR="64008" marT="32004" marB="32004" anchor="ctr">
                    <a:solidFill>
                      <a:srgbClr val="1E3A6E"/>
                    </a:solidFill>
                  </a:tcPr>
                </a:tc>
                <a:tc>
                  <a:txBody>
                    <a:bodyPr wrap="square"/>
                    <a:lstStyle/>
                    <a:p>
                      <a:pPr algn="l"/>
                      <a:r>
                        <a:rPr sz="1100" b="1">
                          <a:solidFill>
                            <a:srgbClr val="FFFFFF"/>
                          </a:solidFill>
                          <a:latin typeface="Calibri"/>
                        </a:rPr>
                        <a:t>What it means</a:t>
                      </a:r>
                    </a:p>
                  </a:txBody>
                  <a:tcPr marL="82296" marR="64008" marT="32004" marB="32004" anchor="ctr">
                    <a:solidFill>
                      <a:srgbClr val="1E3A6E"/>
                    </a:solidFill>
                  </a:tcPr>
                </a:tc>
                <a:tc>
                  <a:txBody>
                    <a:bodyPr wrap="square"/>
                    <a:lstStyle/>
                    <a:p>
                      <a:pPr algn="l"/>
                      <a:r>
                        <a:rPr sz="1100" b="1">
                          <a:solidFill>
                            <a:srgbClr val="FFFFFF"/>
                          </a:solidFill>
                          <a:latin typeface="Calibri"/>
                        </a:rPr>
                        <a:t>What it costs</a:t>
                      </a:r>
                    </a:p>
                  </a:txBody>
                  <a:tcPr marL="82296" marR="64008" marT="32004" marB="32004" anchor="ctr">
                    <a:solidFill>
                      <a:srgbClr val="1E3A6E"/>
                    </a:solidFill>
                  </a:tcPr>
                </a:tc>
              </a:tr>
              <a:tr h="632040">
                <a:tc>
                  <a:txBody>
                    <a:bodyPr wrap="square"/>
                    <a:lstStyle/>
                    <a:p>
                      <a:pPr algn="l"/>
                      <a:r>
                        <a:rPr sz="950" b="0">
                          <a:solidFill>
                            <a:srgbClr val="0E1726"/>
                          </a:solidFill>
                          <a:latin typeface="Calibri"/>
                        </a:rPr>
                        <a:t>Refuse rather than approximate</a:t>
                      </a:r>
                    </a:p>
                  </a:txBody>
                  <a:tcPr marL="82296" marR="64008" marT="32004" marB="32004" anchor="ctr">
                    <a:solidFill>
                      <a:srgbClr val="FFFFFF"/>
                    </a:solidFill>
                  </a:tcPr>
                </a:tc>
                <a:tc>
                  <a:txBody>
                    <a:bodyPr wrap="square"/>
                    <a:lstStyle/>
                    <a:p>
                      <a:pPr algn="l"/>
                      <a:r>
                        <a:rPr sz="950" b="0">
                          <a:solidFill>
                            <a:srgbClr val="0E1726"/>
                          </a:solidFill>
                          <a:latin typeface="Calibri"/>
                        </a:rPr>
                        <a:t>A statement that cannot be answered exactly is refused by name. A measure with no additivity rule is not summed; a hash join too large for the pool is an error, not a slow answer.</a:t>
                      </a:r>
                    </a:p>
                  </a:txBody>
                  <a:tcPr marL="82296" marR="64008" marT="32004" marB="32004" anchor="ctr">
                    <a:solidFill>
                      <a:srgbClr val="FFFFFF"/>
                    </a:solidFill>
                  </a:tcPr>
                </a:tc>
                <a:tc>
                  <a:txBody>
                    <a:bodyPr wrap="square"/>
                    <a:lstStyle/>
                    <a:p>
                      <a:pPr algn="l"/>
                      <a:r>
                        <a:rPr sz="950" b="0">
                          <a:solidFill>
                            <a:srgbClr val="0E1726"/>
                          </a:solidFill>
                          <a:latin typeface="Calibri"/>
                        </a:rPr>
                        <a:t>Statements fail that other engines would answer. Every refusal has to be worth reading, or it becomes a thing people route around.</a:t>
                      </a:r>
                    </a:p>
                  </a:txBody>
                  <a:tcPr marL="82296" marR="64008" marT="32004" marB="32004" anchor="ctr">
                    <a:solidFill>
                      <a:srgbClr val="FFFFFF"/>
                    </a:solidFill>
                  </a:tcPr>
                </a:tc>
              </a:tr>
              <a:tr h="632040">
                <a:tc>
                  <a:txBody>
                    <a:bodyPr wrap="square"/>
                    <a:lstStyle/>
                    <a:p>
                      <a:pPr algn="l"/>
                      <a:r>
                        <a:rPr sz="950" b="0">
                          <a:solidFill>
                            <a:srgbClr val="0E1726"/>
                          </a:solidFill>
                          <a:latin typeface="Calibri"/>
                        </a:rPr>
                        <a:t>Determinism over speed</a:t>
                      </a:r>
                    </a:p>
                  </a:txBody>
                  <a:tcPr marL="82296" marR="64008" marT="32004" marB="32004" anchor="ctr">
                    <a:solidFill>
                      <a:srgbClr val="FBFAF7"/>
                    </a:solidFill>
                  </a:tcPr>
                </a:tc>
                <a:tc>
                  <a:txBody>
                    <a:bodyPr wrap="square"/>
                    <a:lstStyle/>
                    <a:p>
                      <a:pPr algn="l"/>
                      <a:r>
                        <a:rPr sz="950" b="0">
                          <a:solidFill>
                            <a:srgbClr val="0E1726"/>
                          </a:solidFill>
                          <a:latin typeface="Calibri"/>
                        </a:rPr>
                        <a:t>A reduction is order-independent by construction, so two runs of the same query agree bit for bit however the rows arrived.</a:t>
                      </a:r>
                    </a:p>
                  </a:txBody>
                  <a:tcPr marL="82296" marR="64008" marT="32004" marB="32004" anchor="ctr">
                    <a:solidFill>
                      <a:srgbClr val="FBFAF7"/>
                    </a:solidFill>
                  </a:tcPr>
                </a:tc>
                <a:tc>
                  <a:txBody>
                    <a:bodyPr wrap="square"/>
                    <a:lstStyle/>
                    <a:p>
                      <a:pPr algn="l"/>
                      <a:r>
                        <a:rPr sz="950" b="0">
                          <a:solidFill>
                            <a:srgbClr val="0E1726"/>
                          </a:solidFill>
                          <a:latin typeface="Calibri"/>
                        </a:rPr>
                        <a:t>**57× against an ordinary sum at eight values**, 12.2× at four thousand. Measured, and published beside the claim rather than instead of it.</a:t>
                      </a:r>
                    </a:p>
                  </a:txBody>
                  <a:tcPr marL="82296" marR="64008" marT="32004" marB="32004" anchor="ctr">
                    <a:solidFill>
                      <a:srgbClr val="FBFAF7"/>
                    </a:solidFill>
                  </a:tcPr>
                </a:tc>
              </a:tr>
              <a:tr h="632040">
                <a:tc>
                  <a:txBody>
                    <a:bodyPr wrap="square"/>
                    <a:lstStyle/>
                    <a:p>
                      <a:pPr algn="l"/>
                      <a:r>
                        <a:rPr sz="950" b="0">
                          <a:solidFill>
                            <a:srgbClr val="0E1726"/>
                          </a:solidFill>
                          <a:latin typeface="Calibri"/>
                        </a:rPr>
                        <a:t>Open storage, no exception for the fast path</a:t>
                      </a:r>
                    </a:p>
                  </a:txBody>
                  <a:tcPr marL="82296" marR="64008" marT="32004" marB="32004" anchor="ctr">
                    <a:solidFill>
                      <a:srgbClr val="FFFFFF"/>
                    </a:solidFill>
                  </a:tcPr>
                </a:tc>
                <a:tc>
                  <a:txBody>
                    <a:bodyPr wrap="square"/>
                    <a:lstStyle/>
                    <a:p>
                      <a:pPr algn="l"/>
                      <a:r>
                        <a:rPr sz="950" b="0">
                          <a:solidFill>
                            <a:srgbClr val="0E1726"/>
                          </a:solidFill>
                          <a:latin typeface="Calibri"/>
                        </a:rPr>
                        <a:t>Tables are Delta. Any engine that reads Delta reads them with no SANKHYA process in the path, including the materialised cuboids.</a:t>
                      </a:r>
                    </a:p>
                  </a:txBody>
                  <a:tcPr marL="82296" marR="64008" marT="32004" marB="32004" anchor="ctr">
                    <a:solidFill>
                      <a:srgbClr val="FFFFFF"/>
                    </a:solidFill>
                  </a:tcPr>
                </a:tc>
                <a:tc>
                  <a:txBody>
                    <a:bodyPr wrap="square"/>
                    <a:lstStyle/>
                    <a:p>
                      <a:pPr algn="l"/>
                      <a:r>
                        <a:rPr sz="950" b="0">
                          <a:solidFill>
                            <a:srgbClr val="0E1726"/>
                          </a:solidFill>
                          <a:latin typeface="Calibri"/>
                        </a:rPr>
                        <a:t>The format bounds what can be expressed, and a protocol version this build cannot honour is refused rather than read approximately.</a:t>
                      </a:r>
                    </a:p>
                  </a:txBody>
                  <a:tcPr marL="82296" marR="64008" marT="32004" marB="32004" anchor="ctr">
                    <a:solidFill>
                      <a:srgbClr val="FFFFFF"/>
                    </a:solidFill>
                  </a:tcPr>
                </a:tc>
              </a:tr>
              <a:tr h="632040">
                <a:tc>
                  <a:txBody>
                    <a:bodyPr wrap="square"/>
                    <a:lstStyle/>
                    <a:p>
                      <a:pPr algn="l"/>
                      <a:r>
                        <a:rPr sz="950" b="0">
                          <a:solidFill>
                            <a:srgbClr val="0E1726"/>
                          </a:solidFill>
                          <a:latin typeface="Calibri"/>
                        </a:rPr>
                        <a:t>Evidence over assertion</a:t>
                      </a:r>
                    </a:p>
                  </a:txBody>
                  <a:tcPr marL="82296" marR="64008" marT="32004" marB="32004" anchor="ctr">
                    <a:solidFill>
                      <a:srgbClr val="FBFAF7"/>
                    </a:solidFill>
                  </a:tcPr>
                </a:tc>
                <a:tc>
                  <a:txBody>
                    <a:bodyPr wrap="square"/>
                    <a:lstStyle/>
                    <a:p>
                      <a:pPr algn="l"/>
                      <a:r>
                        <a:rPr sz="950" b="0">
                          <a:solidFill>
                            <a:srgbClr val="0E1726"/>
                          </a:solidFill>
                          <a:latin typeface="Calibri"/>
                        </a:rPr>
                        <a:t>Every rule has a check that fails the build. Every speed figure has a benchmark that produces it. Every claim about what is built is compared against one canonical line.</a:t>
                      </a:r>
                    </a:p>
                  </a:txBody>
                  <a:tcPr marL="82296" marR="64008" marT="32004" marB="32004" anchor="ctr">
                    <a:solidFill>
                      <a:srgbClr val="FBFAF7"/>
                    </a:solidFill>
                  </a:tcPr>
                </a:tc>
                <a:tc>
                  <a:txBody>
                    <a:bodyPr wrap="square"/>
                    <a:lstStyle/>
                    <a:p>
                      <a:pPr algn="l"/>
                      <a:r>
                        <a:rPr sz="950" b="0">
                          <a:solidFill>
                            <a:srgbClr val="0E1726"/>
                          </a:solidFill>
                          <a:latin typeface="Calibri"/>
                        </a:rPr>
                        <a:t>The checks are a system in themselves — twenty-seven of them — and Part V is the record of what they did not catch.</a:t>
                      </a:r>
                    </a:p>
                  </a:txBody>
                  <a:tcPr marL="82296" marR="64008" marT="32004" marB="32004" anchor="ctr">
                    <a:solidFill>
                      <a:srgbClr val="FBFAF7"/>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STANCE · WHERE THE RULE LIVES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Why governance has to be in the path, not beside it</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3 · Four positions, and what each costs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9</a:t>
            </a:r>
          </a:p>
        </p:txBody>
      </p:sp>
      <p:sp>
        <p:nvSpPr>
          <p:cNvPr id="10" name="Rectangle 9"/>
          <p:cNvSpPr/>
          <p:nvPr/>
        </p:nvSpPr>
        <p:spPr>
          <a:xfrm>
            <a:off x="777240" y="1353312"/>
            <a:ext cx="2522143" cy="1463040"/>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2522143" cy="4572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23544" y="1499616"/>
            <a:ext cx="2229535" cy="1188720"/>
          </a:xfrm>
          <a:prstGeom prst="rect">
            <a:avLst/>
          </a:prstGeom>
          <a:noFill/>
        </p:spPr>
        <p:txBody>
          <a:bodyPr wrap="square" lIns="0" rIns="0" tIns="0" bIns="0" anchor="t">
            <a:spAutoFit/>
          </a:bodyPr>
          <a:lstStyle/>
          <a:p>
            <a:pPr algn="l">
              <a:spcBef>
                <a:spcPts val="0"/>
              </a:spcBef>
              <a:spcAft>
                <a:spcPts val="200"/>
              </a:spcAft>
            </a:pPr>
            <a:r>
              <a:rPr sz="1400" b="1" i="0">
                <a:solidFill>
                  <a:srgbClr val="1E3A6E"/>
                </a:solidFill>
                <a:latin typeface="Georgia"/>
              </a:rPr>
              <a:t>01</a:t>
            </a:r>
          </a:p>
          <a:p>
            <a:pPr>
              <a:spcBef>
                <a:spcPts val="0"/>
              </a:spcBef>
              <a:spcAft>
                <a:spcPts val="400"/>
              </a:spcAft>
            </a:pPr>
            <a:r>
              <a:rPr sz="1100" b="1" i="0">
                <a:solidFill>
                  <a:srgbClr val="0E1726"/>
                </a:solidFill>
                <a:latin typeface="Calibri"/>
              </a:rPr>
              <a:t>A caller asks</a:t>
            </a:r>
          </a:p>
          <a:p>
            <a:pPr>
              <a:lnSpc>
                <a:spcPct val="115000"/>
              </a:lnSpc>
              <a:spcBef>
                <a:spcPts val="0"/>
              </a:spcBef>
              <a:spcAft>
                <a:spcPts val="600"/>
              </a:spcAft>
            </a:pPr>
            <a:r>
              <a:rPr sz="850" b="0" i="0">
                <a:solidFill>
                  <a:srgbClr val="444F60"/>
                </a:solidFill>
                <a:latin typeface="Calibri"/>
              </a:rPr>
              <a:t>for a table by name, under a principal</a:t>
            </a:r>
          </a:p>
        </p:txBody>
      </p:sp>
      <p:sp>
        <p:nvSpPr>
          <p:cNvPr id="13" name="Rectangle 12"/>
          <p:cNvSpPr/>
          <p:nvPr/>
        </p:nvSpPr>
        <p:spPr>
          <a:xfrm>
            <a:off x="3482263" y="1353312"/>
            <a:ext cx="2522143" cy="1463040"/>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3482263" y="1353312"/>
            <a:ext cx="2522143" cy="4572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3628567" y="1499616"/>
            <a:ext cx="2229535" cy="1188720"/>
          </a:xfrm>
          <a:prstGeom prst="rect">
            <a:avLst/>
          </a:prstGeom>
          <a:noFill/>
        </p:spPr>
        <p:txBody>
          <a:bodyPr wrap="square" lIns="0" rIns="0" tIns="0" bIns="0" anchor="t">
            <a:spAutoFit/>
          </a:bodyPr>
          <a:lstStyle/>
          <a:p>
            <a:pPr algn="l">
              <a:spcBef>
                <a:spcPts val="0"/>
              </a:spcBef>
              <a:spcAft>
                <a:spcPts val="200"/>
              </a:spcAft>
            </a:pPr>
            <a:r>
              <a:rPr sz="1400" b="1" i="0">
                <a:solidFill>
                  <a:srgbClr val="1E3A6E"/>
                </a:solidFill>
                <a:latin typeface="Georgia"/>
              </a:rPr>
              <a:t>02</a:t>
            </a:r>
          </a:p>
          <a:p>
            <a:pPr>
              <a:spcBef>
                <a:spcPts val="0"/>
              </a:spcBef>
              <a:spcAft>
                <a:spcPts val="400"/>
              </a:spcAft>
            </a:pPr>
            <a:r>
              <a:rPr sz="1100" b="1" i="0">
                <a:solidFill>
                  <a:srgbClr val="0E1726"/>
                </a:solidFill>
                <a:latin typeface="Calibri"/>
              </a:rPr>
              <a:t>The session is built</a:t>
            </a:r>
          </a:p>
          <a:p>
            <a:pPr>
              <a:lnSpc>
                <a:spcPct val="115000"/>
              </a:lnSpc>
              <a:spcBef>
                <a:spcPts val="0"/>
              </a:spcBef>
              <a:spcAft>
                <a:spcPts val="600"/>
              </a:spcAft>
            </a:pPr>
            <a:r>
              <a:rPr sz="850" b="0" i="0">
                <a:solidFill>
                  <a:srgbClr val="444F60"/>
                </a:solidFill>
                <a:latin typeface="Calibri"/>
              </a:rPr>
              <a:t>with only the tables that principal may read — a refused table is absent, not present-and-filtered</a:t>
            </a:r>
          </a:p>
        </p:txBody>
      </p:sp>
      <p:sp>
        <p:nvSpPr>
          <p:cNvPr id="16" name="Rectangle 15"/>
          <p:cNvSpPr/>
          <p:nvPr/>
        </p:nvSpPr>
        <p:spPr>
          <a:xfrm>
            <a:off x="6187287" y="1353312"/>
            <a:ext cx="2522143" cy="1463040"/>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6187287" y="1353312"/>
            <a:ext cx="2522143" cy="4572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6333591" y="1499616"/>
            <a:ext cx="2229535" cy="1188720"/>
          </a:xfrm>
          <a:prstGeom prst="rect">
            <a:avLst/>
          </a:prstGeom>
          <a:noFill/>
        </p:spPr>
        <p:txBody>
          <a:bodyPr wrap="square" lIns="0" rIns="0" tIns="0" bIns="0" anchor="t">
            <a:spAutoFit/>
          </a:bodyPr>
          <a:lstStyle/>
          <a:p>
            <a:pPr algn="l">
              <a:spcBef>
                <a:spcPts val="0"/>
              </a:spcBef>
              <a:spcAft>
                <a:spcPts val="200"/>
              </a:spcAft>
            </a:pPr>
            <a:r>
              <a:rPr sz="1400" b="1" i="0">
                <a:solidFill>
                  <a:srgbClr val="1E3A6E"/>
                </a:solidFill>
                <a:latin typeface="Georgia"/>
              </a:rPr>
              <a:t>03</a:t>
            </a:r>
          </a:p>
          <a:p>
            <a:pPr>
              <a:spcBef>
                <a:spcPts val="0"/>
              </a:spcBef>
              <a:spcAft>
                <a:spcPts val="400"/>
              </a:spcAft>
            </a:pPr>
            <a:r>
              <a:rPr sz="1100" b="1" i="0">
                <a:solidFill>
                  <a:srgbClr val="0E1726"/>
                </a:solidFill>
                <a:latin typeface="Calibri"/>
              </a:rPr>
              <a:t>The plan is checked</a:t>
            </a:r>
          </a:p>
          <a:p>
            <a:pPr>
              <a:lnSpc>
                <a:spcPct val="115000"/>
              </a:lnSpc>
              <a:spcBef>
                <a:spcPts val="0"/>
              </a:spcBef>
              <a:spcAft>
                <a:spcPts val="600"/>
              </a:spcAft>
            </a:pPr>
            <a:r>
              <a:rPr sz="850" b="0" i="0">
                <a:solidFill>
                  <a:srgbClr val="444F60"/>
                </a:solidFill>
                <a:latin typeface="Calibri"/>
              </a:rPr>
              <a:t>row predicates and column masks are physical operators, not advice</a:t>
            </a:r>
          </a:p>
        </p:txBody>
      </p:sp>
      <p:sp>
        <p:nvSpPr>
          <p:cNvPr id="19" name="Rectangle 18"/>
          <p:cNvSpPr/>
          <p:nvPr/>
        </p:nvSpPr>
        <p:spPr>
          <a:xfrm>
            <a:off x="8892311" y="1353312"/>
            <a:ext cx="2522143" cy="1463040"/>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8892311" y="1353312"/>
            <a:ext cx="2522143" cy="4572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9038615" y="1499616"/>
            <a:ext cx="2229535" cy="1188720"/>
          </a:xfrm>
          <a:prstGeom prst="rect">
            <a:avLst/>
          </a:prstGeom>
          <a:noFill/>
        </p:spPr>
        <p:txBody>
          <a:bodyPr wrap="square" lIns="0" rIns="0" tIns="0" bIns="0" anchor="t">
            <a:spAutoFit/>
          </a:bodyPr>
          <a:lstStyle/>
          <a:p>
            <a:pPr algn="l">
              <a:spcBef>
                <a:spcPts val="0"/>
              </a:spcBef>
              <a:spcAft>
                <a:spcPts val="200"/>
              </a:spcAft>
            </a:pPr>
            <a:r>
              <a:rPr sz="1400" b="1" i="0">
                <a:solidFill>
                  <a:srgbClr val="1E3A6E"/>
                </a:solidFill>
                <a:latin typeface="Georgia"/>
              </a:rPr>
              <a:t>04</a:t>
            </a:r>
          </a:p>
          <a:p>
            <a:pPr>
              <a:spcBef>
                <a:spcPts val="0"/>
              </a:spcBef>
              <a:spcAft>
                <a:spcPts val="400"/>
              </a:spcAft>
            </a:pPr>
            <a:r>
              <a:rPr sz="1100" b="1" i="0">
                <a:solidFill>
                  <a:srgbClr val="0E1726"/>
                </a:solidFill>
                <a:latin typeface="Calibri"/>
              </a:rPr>
              <a:t>The answer is recorded</a:t>
            </a:r>
          </a:p>
          <a:p>
            <a:pPr>
              <a:lnSpc>
                <a:spcPct val="115000"/>
              </a:lnSpc>
              <a:spcBef>
                <a:spcPts val="0"/>
              </a:spcBef>
              <a:spcAft>
                <a:spcPts val="600"/>
              </a:spcAft>
            </a:pPr>
            <a:r>
              <a:rPr sz="850" b="0" i="0">
                <a:solidFill>
                  <a:srgbClr val="444F60"/>
                </a:solidFill>
                <a:latin typeface="Calibri"/>
              </a:rPr>
              <a:t>who, what shape, how many rows, under what restriction — in a hash-linked chain</a:t>
            </a:r>
          </a:p>
        </p:txBody>
      </p:sp>
      <p:sp>
        <p:nvSpPr>
          <p:cNvPr id="22" name="TextBox 21"/>
          <p:cNvSpPr txBox="1"/>
          <p:nvPr/>
        </p:nvSpPr>
        <p:spPr>
          <a:xfrm>
            <a:off x="777240" y="3044952"/>
            <a:ext cx="10637215" cy="1463040"/>
          </a:xfrm>
          <a:prstGeom prst="rect">
            <a:avLst/>
          </a:prstGeom>
          <a:noFill/>
        </p:spPr>
        <p:txBody>
          <a:bodyPr wrap="square" lIns="0" rIns="0" tIns="0" bIns="0" anchor="t">
            <a:spAutoFit/>
          </a:bodyPr>
          <a:lstStyle/>
          <a:p>
            <a:pPr algn="l"/>
          </a:p>
          <a:p>
            <a:pPr>
              <a:lnSpc>
                <a:spcPct val="130000"/>
              </a:lnSpc>
              <a:spcBef>
                <a:spcPts val="0"/>
              </a:spcBef>
              <a:spcAft>
                <a:spcPts val="600"/>
              </a:spcAft>
            </a:pPr>
            <a:r>
              <a:rPr sz="1150" b="1" i="0">
                <a:solidFill>
                  <a:srgbClr val="0E1726"/>
                </a:solidFill>
                <a:latin typeface="Calibri"/>
              </a:rPr>
              <a:t>A table the caller may not read is not registered in the session at all. </a:t>
            </a:r>
            <a:r>
              <a:rPr sz="1150" b="0" i="0">
                <a:solidFill>
                  <a:srgbClr val="444F60"/>
                </a:solidFill>
                <a:latin typeface="Calibri"/>
              </a:rPr>
              <a:t>So a query naming it fails to resolve rather than planning and returning nothing — which would be indistinguishable from an empty table, and is the difference between a refusal and a wrong answer. The same reasoning governs the catalogue: a listing that showed tables the caller cannot read would disclose their existence through the back door of a schema browser.</a:t>
            </a:r>
          </a:p>
        </p:txBody>
      </p:sp>
      <p:sp>
        <p:nvSpPr>
          <p:cNvPr id="23" name="TextBox 22"/>
          <p:cNvSpPr txBox="1"/>
          <p:nvPr/>
        </p:nvSpPr>
        <p:spPr>
          <a:xfrm>
            <a:off x="777240" y="4416552"/>
            <a:ext cx="10637215" cy="822960"/>
          </a:xfrm>
          <a:prstGeom prst="rect">
            <a:avLst/>
          </a:prstGeom>
          <a:noFill/>
        </p:spPr>
        <p:txBody>
          <a:bodyPr wrap="square" lIns="0" rIns="0" tIns="0" bIns="0" anchor="t">
            <a:spAutoFit/>
          </a:bodyPr>
          <a:lstStyle/>
          <a:p>
            <a:pPr algn="l"/>
          </a:p>
          <a:p>
            <a:pPr>
              <a:lnSpc>
                <a:spcPct val="130000"/>
              </a:lnSpc>
              <a:spcBef>
                <a:spcPts val="0"/>
              </a:spcBef>
              <a:spcAft>
                <a:spcPts val="600"/>
              </a:spcAft>
            </a:pPr>
            <a:r>
              <a:rPr sz="1150" b="1" i="0">
                <a:solidFill>
                  <a:srgbClr val="1E3A6E"/>
                </a:solidFill>
                <a:latin typeface="Calibri"/>
              </a:rPr>
              <a:t>And the cost. </a:t>
            </a:r>
            <a:r>
              <a:rPr sz="1150" b="0" i="0">
                <a:solidFill>
                  <a:srgbClr val="444F60"/>
                </a:solidFill>
                <a:latin typeface="Calibri"/>
              </a:rPr>
              <a:t>Building a session per statement is work, and this design does it on every one. What it buys is that authorization cannot be bypassed by a path that forgot to check — there is no such path, because the check is what constructs the session.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2191695" cy="9144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417320"/>
            <a:ext cx="10637215" cy="457200"/>
          </a:xfrm>
          <a:prstGeom prst="rect">
            <a:avLst/>
          </a:prstGeom>
          <a:noFill/>
        </p:spPr>
        <p:txBody>
          <a:bodyPr wrap="square" lIns="0" rIns="0" tIns="0" bIns="0" anchor="t">
            <a:spAutoFit/>
          </a:bodyPr>
          <a:lstStyle/>
          <a:p>
            <a:pPr algn="l">
              <a:spcBef>
                <a:spcPts val="0"/>
              </a:spcBef>
              <a:spcAft>
                <a:spcPts val="0"/>
              </a:spcAft>
            </a:pPr>
            <a:r>
              <a:rPr sz="1300" b="1" i="0">
                <a:solidFill>
                  <a:srgbClr val="1E3A6E"/>
                </a:solidFill>
                <a:latin typeface="Calibri"/>
              </a:rPr>
              <a:t>PART II</a:t>
            </a:r>
          </a:p>
        </p:txBody>
      </p:sp>
      <p:sp>
        <p:nvSpPr>
          <p:cNvPr id="5" name="TextBox 4"/>
          <p:cNvSpPr txBox="1"/>
          <p:nvPr/>
        </p:nvSpPr>
        <p:spPr>
          <a:xfrm>
            <a:off x="1005840" y="1965960"/>
            <a:ext cx="6807817" cy="1280160"/>
          </a:xfrm>
          <a:prstGeom prst="rect">
            <a:avLst/>
          </a:prstGeom>
          <a:noFill/>
        </p:spPr>
        <p:txBody>
          <a:bodyPr wrap="square" lIns="0" rIns="0" tIns="0" bIns="0" anchor="t">
            <a:spAutoFit/>
          </a:bodyPr>
          <a:lstStyle/>
          <a:p>
            <a:pPr algn="l">
              <a:spcBef>
                <a:spcPts val="0"/>
              </a:spcBef>
              <a:spcAft>
                <a:spcPts val="0"/>
              </a:spcAft>
            </a:pPr>
            <a:r>
              <a:rPr sz="5200" b="0" i="0">
                <a:solidFill>
                  <a:srgbClr val="FFFFFF"/>
                </a:solidFill>
                <a:latin typeface="Georgia"/>
              </a:rPr>
              <a:t>One substrate</a:t>
            </a:r>
          </a:p>
        </p:txBody>
      </p:sp>
      <p:sp>
        <p:nvSpPr>
          <p:cNvPr id="6" name="Rectangle 5"/>
          <p:cNvSpPr/>
          <p:nvPr/>
        </p:nvSpPr>
        <p:spPr>
          <a:xfrm>
            <a:off x="1005840" y="3429000"/>
            <a:ext cx="1645920" cy="36576"/>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703320"/>
            <a:ext cx="6382329" cy="1005840"/>
          </a:xfrm>
          <a:prstGeom prst="rect">
            <a:avLst/>
          </a:prstGeom>
          <a:noFill/>
        </p:spPr>
        <p:txBody>
          <a:bodyPr wrap="square" lIns="0" rIns="0" tIns="0" bIns="0" anchor="t">
            <a:spAutoFit/>
          </a:bodyPr>
          <a:lstStyle/>
          <a:p>
            <a:pPr algn="l">
              <a:lnSpc>
                <a:spcPct val="130000"/>
              </a:lnSpc>
              <a:spcBef>
                <a:spcPts val="0"/>
              </a:spcBef>
              <a:spcAft>
                <a:spcPts val="0"/>
              </a:spcAft>
            </a:pPr>
            <a:r>
              <a:rPr sz="1600" b="0" i="1">
                <a:solidFill>
                  <a:srgbClr val="C8C2BA"/>
                </a:solidFill>
                <a:latin typeface="Calibri"/>
              </a:rPr>
              <a:t>the layer all three data models stand on, and one statement crossing it</a:t>
            </a:r>
          </a:p>
        </p:txBody>
      </p:sp>
      <p:sp>
        <p:nvSpPr>
          <p:cNvPr id="8" name="TextBox 7"/>
          <p:cNvSpPr txBox="1"/>
          <p:nvPr/>
        </p:nvSpPr>
        <p:spPr>
          <a:xfrm>
            <a:off x="8010546" y="1463040"/>
            <a:ext cx="3403908" cy="4206240"/>
          </a:xfrm>
          <a:prstGeom prst="rect">
            <a:avLst/>
          </a:prstGeom>
          <a:noFill/>
        </p:spPr>
        <p:txBody>
          <a:bodyPr wrap="square" lIns="0" rIns="0" tIns="0" bIns="0" anchor="t">
            <a:spAutoFit/>
          </a:bodyPr>
          <a:lstStyle/>
          <a:p>
            <a:pPr algn="l">
              <a:spcBef>
                <a:spcPts val="0"/>
              </a:spcBef>
              <a:spcAft>
                <a:spcPts val="1200"/>
              </a:spcAft>
            </a:pPr>
            <a:r>
              <a:rPr sz="950" b="1" i="0">
                <a:solidFill>
                  <a:srgbClr val="1E3A6E"/>
                </a:solidFill>
                <a:latin typeface="Calibri"/>
              </a:rPr>
              <a:t>CHAPTERS</a:t>
            </a:r>
          </a:p>
          <a:p>
            <a:pPr>
              <a:lnSpc>
                <a:spcPct val="115000"/>
              </a:lnSpc>
              <a:spcBef>
                <a:spcPts val="0"/>
              </a:spcBef>
              <a:spcAft>
                <a:spcPts val="800"/>
              </a:spcAft>
            </a:pPr>
            <a:r>
              <a:rPr sz="1150" b="0" i="0">
                <a:solidFill>
                  <a:srgbClr val="E4DED6"/>
                </a:solidFill>
                <a:latin typeface="Calibri"/>
              </a:rPr>
              <a:t>4 · The shape of the whole thing</a:t>
            </a:r>
          </a:p>
          <a:p>
            <a:pPr>
              <a:lnSpc>
                <a:spcPct val="115000"/>
              </a:lnSpc>
              <a:spcBef>
                <a:spcPts val="0"/>
              </a:spcBef>
              <a:spcAft>
                <a:spcPts val="800"/>
              </a:spcAft>
            </a:pPr>
            <a:r>
              <a:rPr sz="1150" b="0" i="0">
                <a:solidFill>
                  <a:srgbClr val="E4DED6"/>
                </a:solidFill>
                <a:latin typeface="Calibri"/>
              </a:rPr>
              <a:t>5 · What a statement does, end to end</a:t>
            </a:r>
          </a:p>
          <a:p>
            <a:pPr>
              <a:lnSpc>
                <a:spcPct val="115000"/>
              </a:lnSpc>
              <a:spcBef>
                <a:spcPts val="0"/>
              </a:spcBef>
              <a:spcAft>
                <a:spcPts val="800"/>
              </a:spcAft>
            </a:pPr>
            <a:r>
              <a:rPr sz="1150" b="0" i="0">
                <a:solidFill>
                  <a:srgbClr val="E4DED6"/>
                </a:solidFill>
                <a:latin typeface="Calibri"/>
              </a:rPr>
              <a:t>6 · Storage, and why the log is the table</a:t>
            </a:r>
          </a:p>
          <a:p>
            <a:pPr>
              <a:lnSpc>
                <a:spcPct val="115000"/>
              </a:lnSpc>
              <a:spcBef>
                <a:spcPts val="0"/>
              </a:spcBef>
              <a:spcAft>
                <a:spcPts val="800"/>
              </a:spcAft>
            </a:pPr>
            <a:r>
              <a:rPr sz="1150" b="0" i="0">
                <a:solidFill>
                  <a:srgbClr val="E4DED6"/>
                </a:solidFill>
                <a:latin typeface="Calibri"/>
              </a:rPr>
              <a:t>7 · Time as an axis, not a column</a:t>
            </a:r>
          </a:p>
          <a:p>
            <a:pPr>
              <a:lnSpc>
                <a:spcPct val="115000"/>
              </a:lnSpc>
              <a:spcBef>
                <a:spcPts val="0"/>
              </a:spcBef>
              <a:spcAft>
                <a:spcPts val="800"/>
              </a:spcAft>
            </a:pPr>
            <a:r>
              <a:rPr sz="1150" b="0" i="0">
                <a:solidFill>
                  <a:srgbClr val="E4DED6"/>
                </a:solidFill>
                <a:latin typeface="Calibri"/>
              </a:rPr>
              <a:t>8 · What a statement may see</a:t>
            </a:r>
          </a:p>
          <a:p>
            <a:pPr>
              <a:lnSpc>
                <a:spcPct val="115000"/>
              </a:lnSpc>
              <a:spcBef>
                <a:spcPts val="0"/>
              </a:spcBef>
              <a:spcAft>
                <a:spcPts val="800"/>
              </a:spcAft>
            </a:pPr>
            <a:r>
              <a:rPr sz="1150" b="0" i="0">
                <a:solidFill>
                  <a:srgbClr val="E4DED6"/>
                </a:solidFill>
                <a:latin typeface="Calibri"/>
              </a:rPr>
              <a:t>9 · Bounds, and what an operator can find out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ARCHITECTURE · THE INVENTORY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Six layers, and a rule that only points down</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4 · The shape of the whole 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11</a:t>
            </a:r>
          </a:p>
        </p:txBody>
      </p:sp>
      <p:sp>
        <p:nvSpPr>
          <p:cNvPr id="10" name="Rectangle 9"/>
          <p:cNvSpPr/>
          <p:nvPr/>
        </p:nvSpPr>
        <p:spPr>
          <a:xfrm>
            <a:off x="777240" y="1371600"/>
            <a:ext cx="10637215" cy="420624"/>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71600"/>
            <a:ext cx="45720" cy="420624"/>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2651760" cy="256032"/>
          </a:xfrm>
          <a:prstGeom prst="rect">
            <a:avLst/>
          </a:prstGeom>
          <a:noFill/>
        </p:spPr>
        <p:txBody>
          <a:bodyPr wrap="square" lIns="0" rIns="0" tIns="0" bIns="0" anchor="t">
            <a:spAutoFit/>
          </a:bodyPr>
          <a:lstStyle/>
          <a:p>
            <a:pPr algn="l">
              <a:lnSpc>
                <a:spcPct val="110000"/>
              </a:lnSpc>
              <a:spcBef>
                <a:spcPts val="0"/>
              </a:spcBef>
              <a:spcAft>
                <a:spcPts val="0"/>
              </a:spcAft>
            </a:pPr>
            <a:r>
              <a:rPr sz="1050" b="1" i="0">
                <a:solidFill>
                  <a:srgbClr val="1E3A6E"/>
                </a:solidFill>
                <a:latin typeface="Calibri"/>
              </a:rPr>
              <a:t>L5 · Composition root</a:t>
            </a:r>
          </a:p>
        </p:txBody>
      </p:sp>
      <p:sp>
        <p:nvSpPr>
          <p:cNvPr id="13" name="Rectangle 12"/>
          <p:cNvSpPr/>
          <p:nvPr/>
        </p:nvSpPr>
        <p:spPr>
          <a:xfrm>
            <a:off x="3721608" y="1444752"/>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3721608" y="1476756"/>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sankhya-server</a:t>
            </a:r>
          </a:p>
        </p:txBody>
      </p:sp>
      <p:sp>
        <p:nvSpPr>
          <p:cNvPr id="15" name="Rectangle 14"/>
          <p:cNvSpPr/>
          <p:nvPr/>
        </p:nvSpPr>
        <p:spPr>
          <a:xfrm>
            <a:off x="5615101" y="1444752"/>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5615101" y="1476756"/>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sankhya-cli</a:t>
            </a:r>
          </a:p>
        </p:txBody>
      </p:sp>
      <p:sp>
        <p:nvSpPr>
          <p:cNvPr id="17" name="Rectangle 16"/>
          <p:cNvSpPr/>
          <p:nvPr/>
        </p:nvSpPr>
        <p:spPr>
          <a:xfrm>
            <a:off x="777240" y="1865376"/>
            <a:ext cx="10637215" cy="603504"/>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Rectangle 17"/>
          <p:cNvSpPr/>
          <p:nvPr/>
        </p:nvSpPr>
        <p:spPr>
          <a:xfrm>
            <a:off x="777240" y="1865376"/>
            <a:ext cx="45720" cy="603504"/>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TextBox 18"/>
          <p:cNvSpPr txBox="1"/>
          <p:nvPr/>
        </p:nvSpPr>
        <p:spPr>
          <a:xfrm>
            <a:off x="978408" y="1947672"/>
            <a:ext cx="2651760" cy="438912"/>
          </a:xfrm>
          <a:prstGeom prst="rect">
            <a:avLst/>
          </a:prstGeom>
          <a:noFill/>
        </p:spPr>
        <p:txBody>
          <a:bodyPr wrap="square" lIns="0" rIns="0" tIns="0" bIns="0" anchor="t">
            <a:spAutoFit/>
          </a:bodyPr>
          <a:lstStyle/>
          <a:p>
            <a:pPr algn="l">
              <a:lnSpc>
                <a:spcPct val="110000"/>
              </a:lnSpc>
              <a:spcBef>
                <a:spcPts val="0"/>
              </a:spcBef>
              <a:spcAft>
                <a:spcPts val="0"/>
              </a:spcAft>
            </a:pPr>
            <a:r>
              <a:rPr sz="1050" b="1" i="0">
                <a:solidFill>
                  <a:srgbClr val="1E3A6E"/>
                </a:solidFill>
                <a:latin typeface="Calibri"/>
              </a:rPr>
              <a:t>L4 · Doors and SQL surfaces</a:t>
            </a:r>
          </a:p>
        </p:txBody>
      </p:sp>
      <p:sp>
        <p:nvSpPr>
          <p:cNvPr id="20" name="Rectangle 19"/>
          <p:cNvSpPr/>
          <p:nvPr/>
        </p:nvSpPr>
        <p:spPr>
          <a:xfrm>
            <a:off x="3721608" y="1938528"/>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3721608" y="1970532"/>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api-pg</a:t>
            </a:r>
          </a:p>
        </p:txBody>
      </p:sp>
      <p:sp>
        <p:nvSpPr>
          <p:cNvPr id="22" name="Rectangle 21"/>
          <p:cNvSpPr/>
          <p:nvPr/>
        </p:nvSpPr>
        <p:spPr>
          <a:xfrm>
            <a:off x="5615101" y="1938528"/>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TextBox 22"/>
          <p:cNvSpPr txBox="1"/>
          <p:nvPr/>
        </p:nvSpPr>
        <p:spPr>
          <a:xfrm>
            <a:off x="5615101" y="1970532"/>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api-flight</a:t>
            </a:r>
          </a:p>
        </p:txBody>
      </p:sp>
      <p:sp>
        <p:nvSpPr>
          <p:cNvPr id="24" name="Rectangle 23"/>
          <p:cNvSpPr/>
          <p:nvPr/>
        </p:nvSpPr>
        <p:spPr>
          <a:xfrm>
            <a:off x="7508595" y="1938528"/>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5" name="TextBox 24"/>
          <p:cNvSpPr txBox="1"/>
          <p:nvPr/>
        </p:nvSpPr>
        <p:spPr>
          <a:xfrm>
            <a:off x="7508595" y="1970532"/>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api-grpc</a:t>
            </a:r>
          </a:p>
        </p:txBody>
      </p:sp>
      <p:sp>
        <p:nvSpPr>
          <p:cNvPr id="26" name="Rectangle 25"/>
          <p:cNvSpPr/>
          <p:nvPr/>
        </p:nvSpPr>
        <p:spPr>
          <a:xfrm>
            <a:off x="9402089" y="1938528"/>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9402089" y="1970532"/>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api-rest</a:t>
            </a:r>
          </a:p>
        </p:txBody>
      </p:sp>
      <p:sp>
        <p:nvSpPr>
          <p:cNvPr id="28" name="Rectangle 27"/>
          <p:cNvSpPr/>
          <p:nvPr/>
        </p:nvSpPr>
        <p:spPr>
          <a:xfrm>
            <a:off x="3721608" y="2203704"/>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9" name="TextBox 28"/>
          <p:cNvSpPr txBox="1"/>
          <p:nvPr/>
        </p:nvSpPr>
        <p:spPr>
          <a:xfrm>
            <a:off x="3721608" y="2235708"/>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cube-sql</a:t>
            </a:r>
          </a:p>
        </p:txBody>
      </p:sp>
      <p:sp>
        <p:nvSpPr>
          <p:cNvPr id="30" name="Rectangle 29"/>
          <p:cNvSpPr/>
          <p:nvPr/>
        </p:nvSpPr>
        <p:spPr>
          <a:xfrm>
            <a:off x="5615101" y="2203704"/>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1" name="TextBox 30"/>
          <p:cNvSpPr txBox="1"/>
          <p:nvPr/>
        </p:nvSpPr>
        <p:spPr>
          <a:xfrm>
            <a:off x="5615101" y="2235708"/>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graph-sql</a:t>
            </a:r>
          </a:p>
        </p:txBody>
      </p:sp>
      <p:sp>
        <p:nvSpPr>
          <p:cNvPr id="32" name="Rectangle 31"/>
          <p:cNvSpPr/>
          <p:nvPr/>
        </p:nvSpPr>
        <p:spPr>
          <a:xfrm>
            <a:off x="777240" y="2542032"/>
            <a:ext cx="10637215" cy="603504"/>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3" name="Rectangle 32"/>
          <p:cNvSpPr/>
          <p:nvPr/>
        </p:nvSpPr>
        <p:spPr>
          <a:xfrm>
            <a:off x="777240" y="2542032"/>
            <a:ext cx="45720" cy="603504"/>
          </a:xfrm>
          <a:prstGeom prst="rect">
            <a:avLst/>
          </a:prstGeom>
          <a:solidFill>
            <a:srgbClr val="2D50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4" name="TextBox 33"/>
          <p:cNvSpPr txBox="1"/>
          <p:nvPr/>
        </p:nvSpPr>
        <p:spPr>
          <a:xfrm>
            <a:off x="978408" y="2624328"/>
            <a:ext cx="2651760" cy="438912"/>
          </a:xfrm>
          <a:prstGeom prst="rect">
            <a:avLst/>
          </a:prstGeom>
          <a:noFill/>
        </p:spPr>
        <p:txBody>
          <a:bodyPr wrap="square" lIns="0" rIns="0" tIns="0" bIns="0" anchor="t">
            <a:spAutoFit/>
          </a:bodyPr>
          <a:lstStyle/>
          <a:p>
            <a:pPr algn="l">
              <a:lnSpc>
                <a:spcPct val="110000"/>
              </a:lnSpc>
              <a:spcBef>
                <a:spcPts val="0"/>
              </a:spcBef>
              <a:spcAft>
                <a:spcPts val="0"/>
              </a:spcAft>
            </a:pPr>
            <a:r>
              <a:rPr sz="1050" b="1" i="0">
                <a:solidFill>
                  <a:srgbClr val="2D5016"/>
                </a:solidFill>
                <a:latin typeface="Calibri"/>
              </a:rPr>
              <a:t>L3 · Engines and subsystems</a:t>
            </a:r>
          </a:p>
        </p:txBody>
      </p:sp>
      <p:sp>
        <p:nvSpPr>
          <p:cNvPr id="35" name="Rectangle 34"/>
          <p:cNvSpPr/>
          <p:nvPr/>
        </p:nvSpPr>
        <p:spPr>
          <a:xfrm>
            <a:off x="3721608" y="2615184"/>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6" name="TextBox 35"/>
          <p:cNvSpPr txBox="1"/>
          <p:nvPr/>
        </p:nvSpPr>
        <p:spPr>
          <a:xfrm>
            <a:off x="3721608" y="2647188"/>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publish</a:t>
            </a:r>
          </a:p>
        </p:txBody>
      </p:sp>
      <p:sp>
        <p:nvSpPr>
          <p:cNvPr id="37" name="Rectangle 36"/>
          <p:cNvSpPr/>
          <p:nvPr/>
        </p:nvSpPr>
        <p:spPr>
          <a:xfrm>
            <a:off x="5615101" y="2615184"/>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8" name="TextBox 37"/>
          <p:cNvSpPr txBox="1"/>
          <p:nvPr/>
        </p:nvSpPr>
        <p:spPr>
          <a:xfrm>
            <a:off x="5615101" y="2647188"/>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maintenance</a:t>
            </a:r>
          </a:p>
        </p:txBody>
      </p:sp>
      <p:sp>
        <p:nvSpPr>
          <p:cNvPr id="39" name="Rectangle 38"/>
          <p:cNvSpPr/>
          <p:nvPr/>
        </p:nvSpPr>
        <p:spPr>
          <a:xfrm>
            <a:off x="7508595" y="2615184"/>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0" name="TextBox 39"/>
          <p:cNvSpPr txBox="1"/>
          <p:nvPr/>
        </p:nvSpPr>
        <p:spPr>
          <a:xfrm>
            <a:off x="7508595" y="2647188"/>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cube</a:t>
            </a:r>
          </a:p>
        </p:txBody>
      </p:sp>
      <p:sp>
        <p:nvSpPr>
          <p:cNvPr id="41" name="Rectangle 40"/>
          <p:cNvSpPr/>
          <p:nvPr/>
        </p:nvSpPr>
        <p:spPr>
          <a:xfrm>
            <a:off x="9402089" y="2615184"/>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2" name="TextBox 41"/>
          <p:cNvSpPr txBox="1"/>
          <p:nvPr/>
        </p:nvSpPr>
        <p:spPr>
          <a:xfrm>
            <a:off x="9402089" y="2647188"/>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graph</a:t>
            </a:r>
          </a:p>
        </p:txBody>
      </p:sp>
      <p:sp>
        <p:nvSpPr>
          <p:cNvPr id="43" name="Rectangle 42"/>
          <p:cNvSpPr/>
          <p:nvPr/>
        </p:nvSpPr>
        <p:spPr>
          <a:xfrm>
            <a:off x="3721608" y="2880360"/>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4" name="TextBox 43"/>
          <p:cNvSpPr txBox="1"/>
          <p:nvPr/>
        </p:nvSpPr>
        <p:spPr>
          <a:xfrm>
            <a:off x="3721608" y="2912364"/>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olap</a:t>
            </a:r>
          </a:p>
        </p:txBody>
      </p:sp>
      <p:sp>
        <p:nvSpPr>
          <p:cNvPr id="45" name="Rectangle 44"/>
          <p:cNvSpPr/>
          <p:nvPr/>
        </p:nvSpPr>
        <p:spPr>
          <a:xfrm>
            <a:off x="5615101" y="2880360"/>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6" name="TextBox 45"/>
          <p:cNvSpPr txBox="1"/>
          <p:nvPr/>
        </p:nvSpPr>
        <p:spPr>
          <a:xfrm>
            <a:off x="5615101" y="2912364"/>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functions</a:t>
            </a:r>
          </a:p>
        </p:txBody>
      </p:sp>
      <p:sp>
        <p:nvSpPr>
          <p:cNvPr id="47" name="Rectangle 46"/>
          <p:cNvSpPr/>
          <p:nvPr/>
        </p:nvSpPr>
        <p:spPr>
          <a:xfrm>
            <a:off x="7508595" y="2880360"/>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8" name="TextBox 47"/>
          <p:cNvSpPr txBox="1"/>
          <p:nvPr/>
        </p:nvSpPr>
        <p:spPr>
          <a:xfrm>
            <a:off x="7508595" y="2912364"/>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ingest</a:t>
            </a:r>
          </a:p>
        </p:txBody>
      </p:sp>
      <p:sp>
        <p:nvSpPr>
          <p:cNvPr id="49" name="Rectangle 48"/>
          <p:cNvSpPr/>
          <p:nvPr/>
        </p:nvSpPr>
        <p:spPr>
          <a:xfrm>
            <a:off x="9402089" y="2880360"/>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0" name="TextBox 49"/>
          <p:cNvSpPr txBox="1"/>
          <p:nvPr/>
        </p:nvSpPr>
        <p:spPr>
          <a:xfrm>
            <a:off x="9402089" y="2912364"/>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tiering</a:t>
            </a:r>
          </a:p>
        </p:txBody>
      </p:sp>
      <p:sp>
        <p:nvSpPr>
          <p:cNvPr id="51" name="Rectangle 50"/>
          <p:cNvSpPr/>
          <p:nvPr/>
        </p:nvSpPr>
        <p:spPr>
          <a:xfrm>
            <a:off x="777240" y="3218688"/>
            <a:ext cx="10637215" cy="603504"/>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2" name="Rectangle 51"/>
          <p:cNvSpPr/>
          <p:nvPr/>
        </p:nvSpPr>
        <p:spPr>
          <a:xfrm>
            <a:off x="777240" y="3218688"/>
            <a:ext cx="45720" cy="6035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3" name="TextBox 52"/>
          <p:cNvSpPr txBox="1"/>
          <p:nvPr/>
        </p:nvSpPr>
        <p:spPr>
          <a:xfrm>
            <a:off x="978408" y="3300984"/>
            <a:ext cx="2651760" cy="438912"/>
          </a:xfrm>
          <a:prstGeom prst="rect">
            <a:avLst/>
          </a:prstGeom>
          <a:noFill/>
        </p:spPr>
        <p:txBody>
          <a:bodyPr wrap="square" lIns="0" rIns="0" tIns="0" bIns="0" anchor="t">
            <a:spAutoFit/>
          </a:bodyPr>
          <a:lstStyle/>
          <a:p>
            <a:pPr algn="l">
              <a:lnSpc>
                <a:spcPct val="110000"/>
              </a:lnSpc>
              <a:spcBef>
                <a:spcPts val="0"/>
              </a:spcBef>
              <a:spcAft>
                <a:spcPts val="0"/>
              </a:spcAft>
            </a:pPr>
            <a:r>
              <a:rPr sz="1050" b="1" i="0">
                <a:solidFill>
                  <a:srgbClr val="1F3A5F"/>
                </a:solidFill>
                <a:latin typeface="Calibri"/>
              </a:rPr>
              <a:t>L2 · Storage and security services</a:t>
            </a:r>
          </a:p>
        </p:txBody>
      </p:sp>
      <p:sp>
        <p:nvSpPr>
          <p:cNvPr id="54" name="Rectangle 53"/>
          <p:cNvSpPr/>
          <p:nvPr/>
        </p:nvSpPr>
        <p:spPr>
          <a:xfrm>
            <a:off x="3721608" y="3291840"/>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5" name="TextBox 54"/>
          <p:cNvSpPr txBox="1"/>
          <p:nvPr/>
        </p:nvSpPr>
        <p:spPr>
          <a:xfrm>
            <a:off x="3721608" y="3323844"/>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catalog</a:t>
            </a:r>
          </a:p>
        </p:txBody>
      </p:sp>
      <p:sp>
        <p:nvSpPr>
          <p:cNvPr id="56" name="Rectangle 55"/>
          <p:cNvSpPr/>
          <p:nvPr/>
        </p:nvSpPr>
        <p:spPr>
          <a:xfrm>
            <a:off x="5615101" y="3291840"/>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7" name="TextBox 56"/>
          <p:cNvSpPr txBox="1"/>
          <p:nvPr/>
        </p:nvSpPr>
        <p:spPr>
          <a:xfrm>
            <a:off x="5615101" y="3323844"/>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readpath</a:t>
            </a:r>
          </a:p>
        </p:txBody>
      </p:sp>
      <p:sp>
        <p:nvSpPr>
          <p:cNvPr id="58" name="Rectangle 57"/>
          <p:cNvSpPr/>
          <p:nvPr/>
        </p:nvSpPr>
        <p:spPr>
          <a:xfrm>
            <a:off x="7508595" y="3291840"/>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9" name="TextBox 58"/>
          <p:cNvSpPr txBox="1"/>
          <p:nvPr/>
        </p:nvSpPr>
        <p:spPr>
          <a:xfrm>
            <a:off x="7508595" y="3323844"/>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table-delta</a:t>
            </a:r>
          </a:p>
        </p:txBody>
      </p:sp>
      <p:sp>
        <p:nvSpPr>
          <p:cNvPr id="60" name="Rectangle 59"/>
          <p:cNvSpPr/>
          <p:nvPr/>
        </p:nvSpPr>
        <p:spPr>
          <a:xfrm>
            <a:off x="9402089" y="3291840"/>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61" name="TextBox 60"/>
          <p:cNvSpPr txBox="1"/>
          <p:nvPr/>
        </p:nvSpPr>
        <p:spPr>
          <a:xfrm>
            <a:off x="9402089" y="3323844"/>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audit</a:t>
            </a:r>
          </a:p>
        </p:txBody>
      </p:sp>
      <p:sp>
        <p:nvSpPr>
          <p:cNvPr id="62" name="Rectangle 61"/>
          <p:cNvSpPr/>
          <p:nvPr/>
        </p:nvSpPr>
        <p:spPr>
          <a:xfrm>
            <a:off x="3721608" y="3557016"/>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63" name="TextBox 62"/>
          <p:cNvSpPr txBox="1"/>
          <p:nvPr/>
        </p:nvSpPr>
        <p:spPr>
          <a:xfrm>
            <a:off x="3721608" y="3589020"/>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authz</a:t>
            </a:r>
          </a:p>
        </p:txBody>
      </p:sp>
      <p:sp>
        <p:nvSpPr>
          <p:cNvPr id="64" name="Rectangle 63"/>
          <p:cNvSpPr/>
          <p:nvPr/>
        </p:nvSpPr>
        <p:spPr>
          <a:xfrm>
            <a:off x="5615101" y="3557016"/>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65" name="TextBox 64"/>
          <p:cNvSpPr txBox="1"/>
          <p:nvPr/>
        </p:nvSpPr>
        <p:spPr>
          <a:xfrm>
            <a:off x="5615101" y="3589020"/>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session</a:t>
            </a:r>
          </a:p>
        </p:txBody>
      </p:sp>
      <p:sp>
        <p:nvSpPr>
          <p:cNvPr id="66" name="Rectangle 65"/>
          <p:cNvSpPr/>
          <p:nvPr/>
        </p:nvSpPr>
        <p:spPr>
          <a:xfrm>
            <a:off x="7508595" y="3557016"/>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67" name="TextBox 66"/>
          <p:cNvSpPr txBox="1"/>
          <p:nvPr/>
        </p:nvSpPr>
        <p:spPr>
          <a:xfrm>
            <a:off x="7508595" y="3589020"/>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snapshot</a:t>
            </a:r>
          </a:p>
        </p:txBody>
      </p:sp>
      <p:sp>
        <p:nvSpPr>
          <p:cNvPr id="68" name="Rectangle 67"/>
          <p:cNvSpPr/>
          <p:nvPr/>
        </p:nvSpPr>
        <p:spPr>
          <a:xfrm>
            <a:off x="9402089" y="3557016"/>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69" name="TextBox 68"/>
          <p:cNvSpPr txBox="1"/>
          <p:nvPr/>
        </p:nvSpPr>
        <p:spPr>
          <a:xfrm>
            <a:off x="9402089" y="3589020"/>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clone</a:t>
            </a:r>
          </a:p>
        </p:txBody>
      </p:sp>
      <p:sp>
        <p:nvSpPr>
          <p:cNvPr id="70" name="Rectangle 69"/>
          <p:cNvSpPr/>
          <p:nvPr/>
        </p:nvSpPr>
        <p:spPr>
          <a:xfrm>
            <a:off x="777240" y="3895344"/>
            <a:ext cx="10637215" cy="603504"/>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1" name="Rectangle 70"/>
          <p:cNvSpPr/>
          <p:nvPr/>
        </p:nvSpPr>
        <p:spPr>
          <a:xfrm>
            <a:off x="777240" y="3895344"/>
            <a:ext cx="45720" cy="603504"/>
          </a:xfrm>
          <a:prstGeom prst="rect">
            <a:avLst/>
          </a:prstGeom>
          <a:solidFill>
            <a:srgbClr val="4A3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2" name="TextBox 71"/>
          <p:cNvSpPr txBox="1"/>
          <p:nvPr/>
        </p:nvSpPr>
        <p:spPr>
          <a:xfrm>
            <a:off x="978408" y="3977640"/>
            <a:ext cx="2651760" cy="438912"/>
          </a:xfrm>
          <a:prstGeom prst="rect">
            <a:avLst/>
          </a:prstGeom>
          <a:noFill/>
        </p:spPr>
        <p:txBody>
          <a:bodyPr wrap="square" lIns="0" rIns="0" tIns="0" bIns="0" anchor="t">
            <a:spAutoFit/>
          </a:bodyPr>
          <a:lstStyle/>
          <a:p>
            <a:pPr algn="l">
              <a:lnSpc>
                <a:spcPct val="110000"/>
              </a:lnSpc>
              <a:spcBef>
                <a:spcPts val="0"/>
              </a:spcBef>
              <a:spcAft>
                <a:spcPts val="0"/>
              </a:spcAft>
            </a:pPr>
            <a:r>
              <a:rPr sz="1050" b="1" i="0">
                <a:solidFill>
                  <a:srgbClr val="4A3A1F"/>
                </a:solidFill>
                <a:latin typeface="Calibri"/>
              </a:rPr>
              <a:t>L1 · Pure algebra and configuration</a:t>
            </a:r>
          </a:p>
        </p:txBody>
      </p:sp>
      <p:sp>
        <p:nvSpPr>
          <p:cNvPr id="73" name="Rectangle 72"/>
          <p:cNvSpPr/>
          <p:nvPr/>
        </p:nvSpPr>
        <p:spPr>
          <a:xfrm>
            <a:off x="3721608" y="3968496"/>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4" name="TextBox 73"/>
          <p:cNvSpPr txBox="1"/>
          <p:nvPr/>
        </p:nvSpPr>
        <p:spPr>
          <a:xfrm>
            <a:off x="3721608" y="4000500"/>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cube-algo</a:t>
            </a:r>
          </a:p>
        </p:txBody>
      </p:sp>
      <p:sp>
        <p:nvSpPr>
          <p:cNvPr id="75" name="Rectangle 74"/>
          <p:cNvSpPr/>
          <p:nvPr/>
        </p:nvSpPr>
        <p:spPr>
          <a:xfrm>
            <a:off x="5615101" y="3968496"/>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6" name="TextBox 75"/>
          <p:cNvSpPr txBox="1"/>
          <p:nvPr/>
        </p:nvSpPr>
        <p:spPr>
          <a:xfrm>
            <a:off x="5615101" y="4000500"/>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graph-algo</a:t>
            </a:r>
          </a:p>
        </p:txBody>
      </p:sp>
      <p:sp>
        <p:nvSpPr>
          <p:cNvPr id="77" name="Rectangle 76"/>
          <p:cNvSpPr/>
          <p:nvPr/>
        </p:nvSpPr>
        <p:spPr>
          <a:xfrm>
            <a:off x="7508595" y="3968496"/>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8" name="TextBox 77"/>
          <p:cNvSpPr txBox="1"/>
          <p:nvPr/>
        </p:nvSpPr>
        <p:spPr>
          <a:xfrm>
            <a:off x="7508595" y="4000500"/>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math</a:t>
            </a:r>
          </a:p>
        </p:txBody>
      </p:sp>
      <p:sp>
        <p:nvSpPr>
          <p:cNvPr id="79" name="Rectangle 78"/>
          <p:cNvSpPr/>
          <p:nvPr/>
        </p:nvSpPr>
        <p:spPr>
          <a:xfrm>
            <a:off x="9402089" y="3968496"/>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0" name="TextBox 79"/>
          <p:cNvSpPr txBox="1"/>
          <p:nvPr/>
        </p:nvSpPr>
        <p:spPr>
          <a:xfrm>
            <a:off x="9402089" y="4000500"/>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stats</a:t>
            </a:r>
          </a:p>
        </p:txBody>
      </p:sp>
      <p:sp>
        <p:nvSpPr>
          <p:cNvPr id="81" name="Rectangle 80"/>
          <p:cNvSpPr/>
          <p:nvPr/>
        </p:nvSpPr>
        <p:spPr>
          <a:xfrm>
            <a:off x="3721608" y="4233672"/>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2" name="TextBox 81"/>
          <p:cNvSpPr txBox="1"/>
          <p:nvPr/>
        </p:nvSpPr>
        <p:spPr>
          <a:xfrm>
            <a:off x="3721608" y="4265676"/>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plan</a:t>
            </a:r>
          </a:p>
        </p:txBody>
      </p:sp>
      <p:sp>
        <p:nvSpPr>
          <p:cNvPr id="83" name="Rectangle 82"/>
          <p:cNvSpPr/>
          <p:nvPr/>
        </p:nvSpPr>
        <p:spPr>
          <a:xfrm>
            <a:off x="5615101" y="4233672"/>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4" name="TextBox 83"/>
          <p:cNvSpPr txBox="1"/>
          <p:nvPr/>
        </p:nvSpPr>
        <p:spPr>
          <a:xfrm>
            <a:off x="5615101" y="4265676"/>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governor</a:t>
            </a:r>
          </a:p>
        </p:txBody>
      </p:sp>
      <p:sp>
        <p:nvSpPr>
          <p:cNvPr id="85" name="Rectangle 84"/>
          <p:cNvSpPr/>
          <p:nvPr/>
        </p:nvSpPr>
        <p:spPr>
          <a:xfrm>
            <a:off x="7508595" y="4233672"/>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6" name="TextBox 85"/>
          <p:cNvSpPr txBox="1"/>
          <p:nvPr/>
        </p:nvSpPr>
        <p:spPr>
          <a:xfrm>
            <a:off x="7508595" y="4265676"/>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config</a:t>
            </a:r>
          </a:p>
        </p:txBody>
      </p:sp>
      <p:sp>
        <p:nvSpPr>
          <p:cNvPr id="87" name="Rectangle 86"/>
          <p:cNvSpPr/>
          <p:nvPr/>
        </p:nvSpPr>
        <p:spPr>
          <a:xfrm>
            <a:off x="9402089" y="4233672"/>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8" name="TextBox 87"/>
          <p:cNvSpPr txBox="1"/>
          <p:nvPr/>
        </p:nvSpPr>
        <p:spPr>
          <a:xfrm>
            <a:off x="9402089" y="4265676"/>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credential</a:t>
            </a:r>
          </a:p>
        </p:txBody>
      </p:sp>
      <p:sp>
        <p:nvSpPr>
          <p:cNvPr id="89" name="Rectangle 88"/>
          <p:cNvSpPr/>
          <p:nvPr/>
        </p:nvSpPr>
        <p:spPr>
          <a:xfrm>
            <a:off x="777240" y="4572000"/>
            <a:ext cx="10637215" cy="603504"/>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90" name="Rectangle 89"/>
          <p:cNvSpPr/>
          <p:nvPr/>
        </p:nvSpPr>
        <p:spPr>
          <a:xfrm>
            <a:off x="777240" y="4572000"/>
            <a:ext cx="45720" cy="603504"/>
          </a:xfrm>
          <a:prstGeom prst="rect">
            <a:avLst/>
          </a:prstGeom>
          <a:solidFill>
            <a:srgbClr val="444F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91" name="TextBox 90"/>
          <p:cNvSpPr txBox="1"/>
          <p:nvPr/>
        </p:nvSpPr>
        <p:spPr>
          <a:xfrm>
            <a:off x="978408" y="4654296"/>
            <a:ext cx="2651760" cy="438912"/>
          </a:xfrm>
          <a:prstGeom prst="rect">
            <a:avLst/>
          </a:prstGeom>
          <a:noFill/>
        </p:spPr>
        <p:txBody>
          <a:bodyPr wrap="square" lIns="0" rIns="0" tIns="0" bIns="0" anchor="t">
            <a:spAutoFit/>
          </a:bodyPr>
          <a:lstStyle/>
          <a:p>
            <a:pPr algn="l">
              <a:lnSpc>
                <a:spcPct val="110000"/>
              </a:lnSpc>
              <a:spcBef>
                <a:spcPts val="0"/>
              </a:spcBef>
              <a:spcAft>
                <a:spcPts val="0"/>
              </a:spcAft>
            </a:pPr>
            <a:r>
              <a:rPr sz="1050" b="1" i="0">
                <a:solidFill>
                  <a:srgbClr val="444F60"/>
                </a:solidFill>
                <a:latin typeface="Calibri"/>
              </a:rPr>
              <a:t>L0 · Vocabulary and primitives</a:t>
            </a:r>
          </a:p>
        </p:txBody>
      </p:sp>
      <p:sp>
        <p:nvSpPr>
          <p:cNvPr id="92" name="Rectangle 91"/>
          <p:cNvSpPr/>
          <p:nvPr/>
        </p:nvSpPr>
        <p:spPr>
          <a:xfrm>
            <a:off x="3721608" y="4645152"/>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93" name="TextBox 92"/>
          <p:cNvSpPr txBox="1"/>
          <p:nvPr/>
        </p:nvSpPr>
        <p:spPr>
          <a:xfrm>
            <a:off x="3721608" y="4677156"/>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types</a:t>
            </a:r>
          </a:p>
        </p:txBody>
      </p:sp>
      <p:sp>
        <p:nvSpPr>
          <p:cNvPr id="94" name="Rectangle 93"/>
          <p:cNvSpPr/>
          <p:nvPr/>
        </p:nvSpPr>
        <p:spPr>
          <a:xfrm>
            <a:off x="5615101" y="4645152"/>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95" name="TextBox 94"/>
          <p:cNvSpPr txBox="1"/>
          <p:nvPr/>
        </p:nvSpPr>
        <p:spPr>
          <a:xfrm>
            <a:off x="5615101" y="4677156"/>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error</a:t>
            </a:r>
          </a:p>
        </p:txBody>
      </p:sp>
      <p:sp>
        <p:nvSpPr>
          <p:cNvPr id="96" name="Rectangle 95"/>
          <p:cNvSpPr/>
          <p:nvPr/>
        </p:nvSpPr>
        <p:spPr>
          <a:xfrm>
            <a:off x="7508595" y="4645152"/>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97" name="TextBox 96"/>
          <p:cNvSpPr txBox="1"/>
          <p:nvPr/>
        </p:nvSpPr>
        <p:spPr>
          <a:xfrm>
            <a:off x="7508595" y="4677156"/>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schema</a:t>
            </a:r>
          </a:p>
        </p:txBody>
      </p:sp>
      <p:sp>
        <p:nvSpPr>
          <p:cNvPr id="98" name="Rectangle 97"/>
          <p:cNvSpPr/>
          <p:nvPr/>
        </p:nvSpPr>
        <p:spPr>
          <a:xfrm>
            <a:off x="9402089" y="4645152"/>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99" name="TextBox 98"/>
          <p:cNvSpPr txBox="1"/>
          <p:nvPr/>
        </p:nvSpPr>
        <p:spPr>
          <a:xfrm>
            <a:off x="9402089" y="4677156"/>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atomicfs</a:t>
            </a:r>
          </a:p>
        </p:txBody>
      </p:sp>
      <p:sp>
        <p:nvSpPr>
          <p:cNvPr id="100" name="Rectangle 99"/>
          <p:cNvSpPr/>
          <p:nvPr/>
        </p:nvSpPr>
        <p:spPr>
          <a:xfrm>
            <a:off x="3721608" y="4910328"/>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01" name="TextBox 100"/>
          <p:cNvSpPr txBox="1"/>
          <p:nvPr/>
        </p:nvSpPr>
        <p:spPr>
          <a:xfrm>
            <a:off x="3721608" y="4942332"/>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leases</a:t>
            </a:r>
          </a:p>
        </p:txBody>
      </p:sp>
      <p:sp>
        <p:nvSpPr>
          <p:cNvPr id="102" name="Rectangle 101"/>
          <p:cNvSpPr/>
          <p:nvPr/>
        </p:nvSpPr>
        <p:spPr>
          <a:xfrm>
            <a:off x="5615101" y="4910328"/>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03" name="TextBox 102"/>
          <p:cNvSpPr txBox="1"/>
          <p:nvPr/>
        </p:nvSpPr>
        <p:spPr>
          <a:xfrm>
            <a:off x="5615101" y="4942332"/>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accept</a:t>
            </a:r>
          </a:p>
        </p:txBody>
      </p:sp>
      <p:sp>
        <p:nvSpPr>
          <p:cNvPr id="104" name="Rectangle 103"/>
          <p:cNvSpPr/>
          <p:nvPr/>
        </p:nvSpPr>
        <p:spPr>
          <a:xfrm>
            <a:off x="7508595" y="4910328"/>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05" name="TextBox 104"/>
          <p:cNvSpPr txBox="1"/>
          <p:nvPr/>
        </p:nvSpPr>
        <p:spPr>
          <a:xfrm>
            <a:off x="7508595" y="4942332"/>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alloc</a:t>
            </a:r>
          </a:p>
        </p:txBody>
      </p:sp>
      <p:sp>
        <p:nvSpPr>
          <p:cNvPr id="106" name="Rectangle 105"/>
          <p:cNvSpPr/>
          <p:nvPr/>
        </p:nvSpPr>
        <p:spPr>
          <a:xfrm>
            <a:off x="9402089" y="4910328"/>
            <a:ext cx="1811197" cy="219456"/>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07" name="TextBox 106"/>
          <p:cNvSpPr txBox="1"/>
          <p:nvPr/>
        </p:nvSpPr>
        <p:spPr>
          <a:xfrm>
            <a:off x="9402089" y="4942332"/>
            <a:ext cx="1811197" cy="182880"/>
          </a:xfrm>
          <a:prstGeom prst="rect">
            <a:avLst/>
          </a:prstGeom>
          <a:noFill/>
        </p:spPr>
        <p:txBody>
          <a:bodyPr wrap="square" lIns="0" rIns="0" tIns="0" bIns="0" anchor="t">
            <a:spAutoFit/>
          </a:bodyPr>
          <a:lstStyle/>
          <a:p>
            <a:pPr algn="ctr">
              <a:spcBef>
                <a:spcPts val="0"/>
              </a:spcBef>
              <a:spcAft>
                <a:spcPts val="0"/>
              </a:spcAft>
            </a:pPr>
            <a:r>
              <a:rPr sz="819" b="0" i="0">
                <a:solidFill>
                  <a:srgbClr val="0E1726"/>
                </a:solidFill>
                <a:latin typeface="Calibri"/>
              </a:rPr>
              <a:t>version</a:t>
            </a:r>
          </a:p>
        </p:txBody>
      </p:sp>
      <p:sp>
        <p:nvSpPr>
          <p:cNvPr id="108" name="TextBox 107"/>
          <p:cNvSpPr txBox="1"/>
          <p:nvPr/>
        </p:nvSpPr>
        <p:spPr>
          <a:xfrm>
            <a:off x="777240" y="5285232"/>
            <a:ext cx="10637215" cy="548640"/>
          </a:xfrm>
          <a:prstGeom prst="rect">
            <a:avLst/>
          </a:prstGeom>
          <a:noFill/>
        </p:spPr>
        <p:txBody>
          <a:bodyPr wrap="square" lIns="0" rIns="0" tIns="0" bIns="0" anchor="t">
            <a:spAutoFit/>
          </a:bodyPr>
          <a:lstStyle/>
          <a:p>
            <a:pPr algn="l">
              <a:lnSpc>
                <a:spcPct val="124000"/>
              </a:lnSpc>
              <a:spcBef>
                <a:spcPts val="0"/>
              </a:spcBef>
              <a:spcAft>
                <a:spcPts val="0"/>
              </a:spcAft>
            </a:pPr>
            <a:r>
              <a:rPr sz="1000" b="1" i="0">
                <a:solidFill>
                  <a:srgbClr val="1E3A6E"/>
                </a:solidFill>
                <a:latin typeface="Calibri"/>
              </a:rPr>
              <a:t>The layer is a number in each crate's own manifest, so this stack is derived rather than maintained. </a:t>
            </a:r>
            <a:r>
              <a:rPr sz="1000" b="0" i="0">
                <a:solidFill>
                  <a:srgbClr val="444F60"/>
                </a:solidFill>
                <a:latin typeface="Calibri"/>
              </a:rPr>
              <a:t>`cargo xtask check-layers` walks every `Cargo.toml` under `crates/` and `packs/` and fails on five distinct violations --- a missing layer, an upward dependency, core reaching into a pack, anything reaching into tooling, and a cycle. Same-layer edges are legal, so acyclicity is not implied and is checked separately.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ARCHITECTURE · WHO OWNS WHAT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Responsibility boundaries</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4 · The shape of the whole 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12</a:t>
            </a:r>
          </a:p>
        </p:txBody>
      </p:sp>
      <p:graphicFrame>
        <p:nvGraphicFramePr>
          <p:cNvPr id="10" name="Table 9"/>
          <p:cNvGraphicFramePr>
            <a:graphicFrameLocks noGrp="1"/>
          </p:cNvGraphicFramePr>
          <p:nvPr/>
        </p:nvGraphicFramePr>
        <p:xfrm>
          <a:off x="777240" y="1353312"/>
          <a:ext cx="10637214" cy="4151833"/>
        </p:xfrm>
        <a:graphic>
          <a:graphicData uri="http://schemas.openxmlformats.org/drawingml/2006/table">
            <a:tbl>
              <a:tblPr firstRow="1">
                <a:tableStyleId>{5C22544A-7EE6-4342-B048-85BDC9FD1C3A}</a:tableStyleId>
              </a:tblPr>
              <a:tblGrid>
                <a:gridCol w="1421352"/>
                <a:gridCol w="4585006"/>
                <a:gridCol w="4630856"/>
              </a:tblGrid>
              <a:tr h="329184">
                <a:tc>
                  <a:txBody>
                    <a:bodyPr wrap="square"/>
                    <a:lstStyle/>
                    <a:p>
                      <a:pPr algn="l"/>
                      <a:r>
                        <a:rPr sz="950" b="1">
                          <a:solidFill>
                            <a:srgbClr val="FFFFFF"/>
                          </a:solidFill>
                          <a:latin typeface="Calibri"/>
                        </a:rPr>
                        <a:t>Component</a:t>
                      </a:r>
                    </a:p>
                  </a:txBody>
                  <a:tcPr marL="82296" marR="64008" marT="32004" marB="32004" anchor="ctr">
                    <a:solidFill>
                      <a:srgbClr val="1E3A6E"/>
                    </a:solidFill>
                  </a:tcPr>
                </a:tc>
                <a:tc>
                  <a:txBody>
                    <a:bodyPr wrap="square"/>
                    <a:lstStyle/>
                    <a:p>
                      <a:pPr algn="l"/>
                      <a:r>
                        <a:rPr sz="950" b="1">
                          <a:solidFill>
                            <a:srgbClr val="FFFFFF"/>
                          </a:solidFill>
                          <a:latin typeface="Calibri"/>
                        </a:rPr>
                        <a:t>Owns</a:t>
                      </a:r>
                    </a:p>
                  </a:txBody>
                  <a:tcPr marL="82296" marR="64008" marT="32004" marB="32004" anchor="ctr">
                    <a:solidFill>
                      <a:srgbClr val="1E3A6E"/>
                    </a:solidFill>
                  </a:tcPr>
                </a:tc>
                <a:tc>
                  <a:txBody>
                    <a:bodyPr wrap="square"/>
                    <a:lstStyle/>
                    <a:p>
                      <a:pPr algn="l"/>
                      <a:r>
                        <a:rPr sz="950" b="1">
                          <a:solidFill>
                            <a:srgbClr val="FFFFFF"/>
                          </a:solidFill>
                          <a:latin typeface="Calibri"/>
                        </a:rPr>
                        <a:t>Does **not** own</a:t>
                      </a:r>
                    </a:p>
                  </a:txBody>
                  <a:tcPr marL="82296" marR="64008" marT="32004" marB="32004" anchor="ctr">
                    <a:solidFill>
                      <a:srgbClr val="1E3A6E"/>
                    </a:solidFill>
                  </a:tcPr>
                </a:tc>
              </a:tr>
              <a:tr h="306324">
                <a:tc>
                  <a:txBody>
                    <a:bodyPr wrap="square"/>
                    <a:lstStyle/>
                    <a:p>
                      <a:pPr algn="l"/>
                      <a:r>
                        <a:rPr sz="900" b="1">
                          <a:solidFill>
                            <a:srgbClr val="1E3A6E"/>
                          </a:solidFill>
                          <a:latin typeface="Calibri"/>
                        </a:rPr>
                        <a:t>Wire door</a:t>
                      </a:r>
                    </a:p>
                  </a:txBody>
                  <a:tcPr marL="82296" marR="64008" marT="32004" marB="32004" anchor="ctr">
                    <a:solidFill>
                      <a:srgbClr val="FFFFFF"/>
                    </a:solidFill>
                  </a:tcPr>
                </a:tc>
                <a:tc>
                  <a:txBody>
                    <a:bodyPr wrap="square"/>
                    <a:lstStyle/>
                    <a:p>
                      <a:pPr algn="l"/>
                      <a:r>
                        <a:rPr sz="900" b="0">
                          <a:solidFill>
                            <a:srgbClr val="0E1726"/>
                          </a:solidFill>
                          <a:latin typeface="Calibri"/>
                        </a:rPr>
                        <a:t>Codec, protocol state machine, TLS negotiation, drain and connection caps</a:t>
                      </a:r>
                    </a:p>
                  </a:txBody>
                  <a:tcPr marL="82296" marR="64008" marT="32004" marB="32004" anchor="ctr">
                    <a:solidFill>
                      <a:srgbClr val="FFFFFF"/>
                    </a:solidFill>
                  </a:tcPr>
                </a:tc>
                <a:tc>
                  <a:txBody>
                    <a:bodyPr wrap="square"/>
                    <a:lstStyle/>
                    <a:p>
                      <a:pPr algn="l"/>
                      <a:r>
                        <a:rPr sz="900" b="0">
                          <a:solidFill>
                            <a:srgbClr val="0E1726"/>
                          </a:solidFill>
                          <a:latin typeface="Calibri"/>
                        </a:rPr>
                        <a:t>Any session, catalogue or planner --- one `Handler` trait is the whole seam</a:t>
                      </a:r>
                    </a:p>
                  </a:txBody>
                  <a:tcPr marL="82296" marR="64008" marT="32004" marB="32004" anchor="ctr">
                    <a:solidFill>
                      <a:srgbClr val="FFFFFF"/>
                    </a:solidFill>
                  </a:tcPr>
                </a:tc>
              </a:tr>
              <a:tr h="453085">
                <a:tc>
                  <a:txBody>
                    <a:bodyPr wrap="square"/>
                    <a:lstStyle/>
                    <a:p>
                      <a:pPr algn="l"/>
                      <a:r>
                        <a:rPr sz="900" b="1">
                          <a:solidFill>
                            <a:srgbClr val="1E3A6E"/>
                          </a:solidFill>
                          <a:latin typeface="Calibri"/>
                        </a:rPr>
                        <a:t>Columnar door</a:t>
                      </a:r>
                    </a:p>
                  </a:txBody>
                  <a:tcPr marL="82296" marR="64008" marT="32004" marB="32004" anchor="ctr">
                    <a:solidFill>
                      <a:srgbClr val="FBFAF7"/>
                    </a:solidFill>
                  </a:tcPr>
                </a:tc>
                <a:tc>
                  <a:txBody>
                    <a:bodyPr wrap="square"/>
                    <a:lstStyle/>
                    <a:p>
                      <a:pPr algn="l"/>
                      <a:r>
                        <a:rPr sz="900" b="0">
                          <a:solidFill>
                            <a:srgbClr val="0E1726"/>
                          </a:solidFill>
                          <a:latin typeface="Calibri"/>
                        </a:rPr>
                        <a:t>Ticket issue and redeem, tenant and expiry admission, streamed Arrow</a:t>
                      </a:r>
                    </a:p>
                  </a:txBody>
                  <a:tcPr marL="82296" marR="64008" marT="32004" marB="32004" anchor="ctr">
                    <a:solidFill>
                      <a:srgbClr val="FBFAF7"/>
                    </a:solidFill>
                  </a:tcPr>
                </a:tc>
                <a:tc>
                  <a:txBody>
                    <a:bodyPr wrap="square"/>
                    <a:lstStyle/>
                    <a:p>
                      <a:pPr algn="l"/>
                      <a:r>
                        <a:rPr sz="900" b="0">
                          <a:solidFill>
                            <a:srgbClr val="0E1726"/>
                          </a:solidFill>
                          <a:latin typeface="Calibri"/>
                        </a:rPr>
                        <a:t>Row cap, deadline, lease pin, audit record --- `execute::run` is not on this path</a:t>
                      </a:r>
                    </a:p>
                  </a:txBody>
                  <a:tcPr marL="82296" marR="64008" marT="32004" marB="32004" anchor="ctr">
                    <a:solidFill>
                      <a:srgbClr val="FBFAF7"/>
                    </a:solidFill>
                  </a:tcPr>
                </a:tc>
              </a:tr>
              <a:tr h="306324">
                <a:tc>
                  <a:txBody>
                    <a:bodyPr wrap="square"/>
                    <a:lstStyle/>
                    <a:p>
                      <a:pPr algn="l"/>
                      <a:r>
                        <a:rPr sz="900" b="1">
                          <a:solidFill>
                            <a:srgbClr val="1E3A6E"/>
                          </a:solidFill>
                          <a:latin typeface="Calibri"/>
                        </a:rPr>
                        <a:t>Read path</a:t>
                      </a:r>
                    </a:p>
                  </a:txBody>
                  <a:tcPr marL="82296" marR="64008" marT="32004" marB="32004" anchor="ctr">
                    <a:solidFill>
                      <a:srgbClr val="FFFFFF"/>
                    </a:solidFill>
                  </a:tcPr>
                </a:tc>
                <a:tc>
                  <a:txBody>
                    <a:bodyPr wrap="square"/>
                    <a:lstStyle/>
                    <a:p>
                      <a:pPr algn="l"/>
                      <a:r>
                        <a:rPr sz="900" b="0">
                          <a:solidFill>
                            <a:srgbClr val="0E1726"/>
                          </a:solidFill>
                          <a:latin typeface="Calibri"/>
                        </a:rPr>
                        <a:t>The live set from the log; statistics pruning before any footer opens</a:t>
                      </a:r>
                    </a:p>
                  </a:txBody>
                  <a:tcPr marL="82296" marR="64008" marT="32004" marB="32004" anchor="ctr">
                    <a:solidFill>
                      <a:srgbClr val="FFFFFF"/>
                    </a:solidFill>
                  </a:tcPr>
                </a:tc>
                <a:tc>
                  <a:txBody>
                    <a:bodyPr wrap="square"/>
                    <a:lstStyle/>
                    <a:p>
                      <a:pPr algn="l"/>
                      <a:r>
                        <a:rPr sz="900" b="0">
                          <a:solidFill>
                            <a:srgbClr val="0E1726"/>
                          </a:solidFill>
                          <a:latin typeface="Calibri"/>
                        </a:rPr>
                        <a:t>Reading or decoding Parquet --- that is the engine's source</a:t>
                      </a:r>
                    </a:p>
                  </a:txBody>
                  <a:tcPr marL="82296" marR="64008" marT="32004" marB="32004" anchor="ctr">
                    <a:solidFill>
                      <a:srgbClr val="FFFFFF"/>
                    </a:solidFill>
                  </a:tcPr>
                </a:tc>
              </a:tr>
              <a:tr h="306324">
                <a:tc>
                  <a:txBody>
                    <a:bodyPr wrap="square"/>
                    <a:lstStyle/>
                    <a:p>
                      <a:pPr algn="l"/>
                      <a:r>
                        <a:rPr sz="900" b="1">
                          <a:solidFill>
                            <a:srgbClr val="1E3A6E"/>
                          </a:solidFill>
                          <a:latin typeface="Calibri"/>
                        </a:rPr>
                        <a:t>Write path</a:t>
                      </a:r>
                    </a:p>
                  </a:txBody>
                  <a:tcPr marL="82296" marR="64008" marT="32004" marB="32004" anchor="ctr">
                    <a:solidFill>
                      <a:srgbClr val="FBFAF7"/>
                    </a:solidFill>
                  </a:tcPr>
                </a:tc>
                <a:tc>
                  <a:txBody>
                    <a:bodyPr wrap="square"/>
                    <a:lstStyle/>
                    <a:p>
                      <a:pPr algn="l"/>
                      <a:r>
                        <a:rPr sz="900" b="0">
                          <a:solidFill>
                            <a:srgbClr val="0E1726"/>
                          </a:solidFill>
                          <a:latin typeface="Calibri"/>
                        </a:rPr>
                        <a:t>The only supported write: stage, fsync, rename, fsync the directory</a:t>
                      </a:r>
                    </a:p>
                  </a:txBody>
                  <a:tcPr marL="82296" marR="64008" marT="32004" marB="32004" anchor="ctr">
                    <a:solidFill>
                      <a:srgbClr val="FBFAF7"/>
                    </a:solidFill>
                  </a:tcPr>
                </a:tc>
                <a:tc>
                  <a:txBody>
                    <a:bodyPr wrap="square"/>
                    <a:lstStyle/>
                    <a:p>
                      <a:pPr algn="l"/>
                      <a:r>
                        <a:rPr sz="900" b="0">
                          <a:solidFill>
                            <a:srgbClr val="0E1726"/>
                          </a:solidFill>
                          <a:latin typeface="Calibri"/>
                        </a:rPr>
                        <a:t>Ingestion decisions, and compaction</a:t>
                      </a:r>
                    </a:p>
                  </a:txBody>
                  <a:tcPr marL="82296" marR="64008" marT="32004" marB="32004" anchor="ctr">
                    <a:solidFill>
                      <a:srgbClr val="FBFAF7"/>
                    </a:solidFill>
                  </a:tcPr>
                </a:tc>
              </a:tr>
              <a:tr h="306324">
                <a:tc>
                  <a:txBody>
                    <a:bodyPr wrap="square"/>
                    <a:lstStyle/>
                    <a:p>
                      <a:pPr algn="l"/>
                      <a:r>
                        <a:rPr sz="900" b="1">
                          <a:solidFill>
                            <a:srgbClr val="1E3A6E"/>
                          </a:solidFill>
                          <a:latin typeface="Calibri"/>
                        </a:rPr>
                        <a:t>Catalog</a:t>
                      </a:r>
                    </a:p>
                  </a:txBody>
                  <a:tcPr marL="82296" marR="64008" marT="32004" marB="32004" anchor="ctr">
                    <a:solidFill>
                      <a:srgbClr val="FFFFFF"/>
                    </a:solidFill>
                  </a:tcPr>
                </a:tc>
                <a:tc>
                  <a:txBody>
                    <a:bodyPr wrap="square"/>
                    <a:lstStyle/>
                    <a:p>
                      <a:pPr algn="l"/>
                      <a:r>
                        <a:rPr sz="900" b="0">
                          <a:solidFill>
                            <a:srgbClr val="0E1726"/>
                          </a:solidFill>
                          <a:latin typeface="Calibri"/>
                        </a:rPr>
                        <a:t>`Guard` with no public constructor; the predicate conjoined above the scan</a:t>
                      </a:r>
                    </a:p>
                  </a:txBody>
                  <a:tcPr marL="82296" marR="64008" marT="32004" marB="32004" anchor="ctr">
                    <a:solidFill>
                      <a:srgbClr val="FFFFFF"/>
                    </a:solidFill>
                  </a:tcPr>
                </a:tc>
                <a:tc>
                  <a:txBody>
                    <a:bodyPr wrap="square"/>
                    <a:lstStyle/>
                    <a:p>
                      <a:pPr algn="l"/>
                      <a:r>
                        <a:rPr sz="900" b="0">
                          <a:solidFill>
                            <a:srgbClr val="0E1726"/>
                          </a:solidFill>
                          <a:latin typeface="Calibri"/>
                        </a:rPr>
                        <a:t>A name-to-provider map. There is no catalogue proper</a:t>
                      </a:r>
                    </a:p>
                  </a:txBody>
                  <a:tcPr marL="82296" marR="64008" marT="32004" marB="32004" anchor="ctr">
                    <a:solidFill>
                      <a:srgbClr val="FFFFFF"/>
                    </a:solidFill>
                  </a:tcPr>
                </a:tc>
              </a:tr>
              <a:tr h="306324">
                <a:tc>
                  <a:txBody>
                    <a:bodyPr wrap="square"/>
                    <a:lstStyle/>
                    <a:p>
                      <a:pPr algn="l"/>
                      <a:r>
                        <a:rPr sz="900" b="1">
                          <a:solidFill>
                            <a:srgbClr val="1E3A6E"/>
                          </a:solidFill>
                          <a:latin typeface="Calibri"/>
                        </a:rPr>
                        <a:t>Cube</a:t>
                      </a:r>
                    </a:p>
                  </a:txBody>
                  <a:tcPr marL="82296" marR="64008" marT="32004" marB="32004" anchor="ctr">
                    <a:solidFill>
                      <a:srgbClr val="FBFAF7"/>
                    </a:solidFill>
                  </a:tcPr>
                </a:tc>
                <a:tc>
                  <a:txBody>
                    <a:bodyPr wrap="square"/>
                    <a:lstStyle/>
                    <a:p>
                      <a:pPr algn="l"/>
                      <a:r>
                        <a:rPr sz="900" b="0">
                          <a:solidFill>
                            <a:srgbClr val="0E1726"/>
                          </a:solidFill>
                          <a:latin typeface="Calibri"/>
                        </a:rPr>
                        <a:t>Lattice and additivity algebra, validated definitions, completeness columns</a:t>
                      </a:r>
                    </a:p>
                  </a:txBody>
                  <a:tcPr marL="82296" marR="64008" marT="32004" marB="32004" anchor="ctr">
                    <a:solidFill>
                      <a:srgbClr val="FBFAF7"/>
                    </a:solidFill>
                  </a:tcPr>
                </a:tc>
                <a:tc>
                  <a:txBody>
                    <a:bodyPr wrap="square"/>
                    <a:lstStyle/>
                    <a:p>
                      <a:pPr algn="l"/>
                      <a:r>
                        <a:rPr sz="900" b="0">
                          <a:solidFill>
                            <a:srgbClr val="0E1726"/>
                          </a:solidFill>
                          <a:latin typeface="Calibri"/>
                        </a:rPr>
                        <a:t>Its own read path --- hydration goes through the caller's secured session</a:t>
                      </a:r>
                    </a:p>
                  </a:txBody>
                  <a:tcPr marL="82296" marR="64008" marT="32004" marB="32004" anchor="ctr">
                    <a:solidFill>
                      <a:srgbClr val="FBFAF7"/>
                    </a:solidFill>
                  </a:tcPr>
                </a:tc>
              </a:tr>
              <a:tr h="306324">
                <a:tc>
                  <a:txBody>
                    <a:bodyPr wrap="square"/>
                    <a:lstStyle/>
                    <a:p>
                      <a:pPr algn="l"/>
                      <a:r>
                        <a:rPr sz="900" b="1">
                          <a:solidFill>
                            <a:srgbClr val="1E3A6E"/>
                          </a:solidFill>
                          <a:latin typeface="Calibri"/>
                        </a:rPr>
                        <a:t>Maintenance</a:t>
                      </a:r>
                    </a:p>
                  </a:txBody>
                  <a:tcPr marL="82296" marR="64008" marT="32004" marB="32004" anchor="ctr">
                    <a:solidFill>
                      <a:srgbClr val="FFFFFF"/>
                    </a:solidFill>
                  </a:tcPr>
                </a:tc>
                <a:tc>
                  <a:txBody>
                    <a:bodyPr wrap="square"/>
                    <a:lstStyle/>
                    <a:p>
                      <a:pPr algn="l"/>
                      <a:r>
                        <a:rPr sz="900" b="0">
                          <a:solidFill>
                            <a:srgbClr val="0E1726"/>
                          </a:solidFill>
                          <a:latin typeface="Calibri"/>
                        </a:rPr>
                        <a:t>Tiered compaction, one budget on a strict class ladder, retirement</a:t>
                      </a:r>
                    </a:p>
                  </a:txBody>
                  <a:tcPr marL="82296" marR="64008" marT="32004" marB="32004" anchor="ctr">
                    <a:solidFill>
                      <a:srgbClr val="FFFFFF"/>
                    </a:solidFill>
                  </a:tcPr>
                </a:tc>
                <a:tc>
                  <a:txBody>
                    <a:bodyPr wrap="square"/>
                    <a:lstStyle/>
                    <a:p>
                      <a:pPr algn="l"/>
                      <a:r>
                        <a:rPr sz="900" b="0">
                          <a:solidFill>
                            <a:srgbClr val="0E1726"/>
                          </a:solidFill>
                          <a:latin typeface="Calibri"/>
                        </a:rPr>
                        <a:t>Deletion during a merge. A merge never deletes</a:t>
                      </a:r>
                    </a:p>
                  </a:txBody>
                  <a:tcPr marL="82296" marR="64008" marT="32004" marB="32004" anchor="ctr">
                    <a:solidFill>
                      <a:srgbClr val="FFFFFF"/>
                    </a:solidFill>
                  </a:tcPr>
                </a:tc>
              </a:tr>
              <a:tr h="306324">
                <a:tc>
                  <a:txBody>
                    <a:bodyPr wrap="square"/>
                    <a:lstStyle/>
                    <a:p>
                      <a:pPr algn="l"/>
                      <a:r>
                        <a:rPr sz="900" b="1">
                          <a:solidFill>
                            <a:srgbClr val="1E3A6E"/>
                          </a:solidFill>
                          <a:latin typeface="Calibri"/>
                        </a:rPr>
                        <a:t>Governor</a:t>
                      </a:r>
                    </a:p>
                  </a:txBody>
                  <a:tcPr marL="82296" marR="64008" marT="32004" marB="32004" anchor="ctr">
                    <a:solidFill>
                      <a:srgbClr val="FBFAF7"/>
                    </a:solidFill>
                  </a:tcPr>
                </a:tc>
                <a:tc>
                  <a:txBody>
                    <a:bodyPr wrap="square"/>
                    <a:lstStyle/>
                    <a:p>
                      <a:pPr algn="l"/>
                      <a:r>
                        <a:rPr sz="900" b="0">
                          <a:solidFill>
                            <a:srgbClr val="0E1726"/>
                          </a:solidFill>
                          <a:latin typeface="Calibri"/>
                        </a:rPr>
                        <a:t>Admission, bounded refusal queue, tenant floors and caps, the ladder</a:t>
                      </a:r>
                    </a:p>
                  </a:txBody>
                  <a:tcPr marL="82296" marR="64008" marT="32004" marB="32004" anchor="ctr">
                    <a:solidFill>
                      <a:srgbClr val="FBFAF7"/>
                    </a:solidFill>
                  </a:tcPr>
                </a:tc>
                <a:tc>
                  <a:txBody>
                    <a:bodyPr wrap="square"/>
                    <a:lstStyle/>
                    <a:p>
                      <a:pPr algn="l"/>
                      <a:r>
                        <a:rPr sz="900" b="0">
                          <a:solidFill>
                            <a:srgbClr val="0E1726"/>
                          </a:solidFill>
                          <a:latin typeface="Calibri"/>
                        </a:rPr>
                        <a:t>Any query in this build --- called with a zeroed request against `u64::MAX`</a:t>
                      </a:r>
                    </a:p>
                  </a:txBody>
                  <a:tcPr marL="82296" marR="64008" marT="32004" marB="32004" anchor="ctr">
                    <a:solidFill>
                      <a:srgbClr val="FBFAF7"/>
                    </a:solidFill>
                  </a:tcPr>
                </a:tc>
              </a:tr>
              <a:tr h="306324">
                <a:tc>
                  <a:txBody>
                    <a:bodyPr wrap="square"/>
                    <a:lstStyle/>
                    <a:p>
                      <a:pPr algn="l"/>
                      <a:r>
                        <a:rPr sz="900" b="1">
                          <a:solidFill>
                            <a:srgbClr val="1E3A6E"/>
                          </a:solidFill>
                          <a:latin typeface="Calibri"/>
                        </a:rPr>
                        <a:t>Policy</a:t>
                      </a:r>
                    </a:p>
                  </a:txBody>
                  <a:tcPr marL="82296" marR="64008" marT="32004" marB="32004" anchor="ctr">
                    <a:solidFill>
                      <a:srgbClr val="FFFFFF"/>
                    </a:solidFill>
                  </a:tcPr>
                </a:tc>
                <a:tc>
                  <a:txBody>
                    <a:bodyPr wrap="square"/>
                    <a:lstStyle/>
                    <a:p>
                      <a:pPr algn="l"/>
                      <a:r>
                        <a:rPr sz="900" b="0">
                          <a:solidFill>
                            <a:srgbClr val="0E1726"/>
                          </a:solidFill>
                          <a:latin typeface="Calibri"/>
                        </a:rPr>
                        <a:t>`Principal`, `decide`, deny-wins, filters OR'd, masks intersected</a:t>
                      </a:r>
                    </a:p>
                  </a:txBody>
                  <a:tcPr marL="82296" marR="64008" marT="32004" marB="32004" anchor="ctr">
                    <a:solidFill>
                      <a:srgbClr val="FFFFFF"/>
                    </a:solidFill>
                  </a:tcPr>
                </a:tc>
                <a:tc>
                  <a:txBody>
                    <a:bodyPr wrap="square"/>
                    <a:lstStyle/>
                    <a:p>
                      <a:pPr algn="l"/>
                      <a:r>
                        <a:rPr sz="900" b="0">
                          <a:solidFill>
                            <a:srgbClr val="0E1726"/>
                          </a:solidFill>
                          <a:latin typeface="Calibri"/>
                        </a:rPr>
                        <a:t>Enforcement. The provider wrapper is the only runtime control</a:t>
                      </a:r>
                    </a:p>
                  </a:txBody>
                  <a:tcPr marL="82296" marR="64008" marT="32004" marB="32004" anchor="ctr">
                    <a:solidFill>
                      <a:srgbClr val="FFFFFF"/>
                    </a:solidFill>
                  </a:tcPr>
                </a:tc>
              </a:tr>
              <a:tr h="306324">
                <a:tc>
                  <a:txBody>
                    <a:bodyPr wrap="square"/>
                    <a:lstStyle/>
                    <a:p>
                      <a:pPr algn="l"/>
                      <a:r>
                        <a:rPr sz="900" b="1">
                          <a:solidFill>
                            <a:srgbClr val="1E3A6E"/>
                          </a:solidFill>
                          <a:latin typeface="Calibri"/>
                        </a:rPr>
                        <a:t>Audit</a:t>
                      </a:r>
                    </a:p>
                  </a:txBody>
                  <a:tcPr marL="82296" marR="64008" marT="32004" marB="32004" anchor="ctr">
                    <a:solidFill>
                      <a:srgbClr val="FBFAF7"/>
                    </a:solidFill>
                  </a:tcPr>
                </a:tc>
                <a:tc>
                  <a:txBody>
                    <a:bodyPr wrap="square"/>
                    <a:lstStyle/>
                    <a:p>
                      <a:pPr algn="l"/>
                      <a:r>
                        <a:rPr sz="900" b="0">
                          <a:solidFill>
                            <a:srgbClr val="0E1726"/>
                          </a:solidFill>
                          <a:latin typeface="Calibri"/>
                        </a:rPr>
                        <a:t>Hash-linked chain, fsynced per append, one entry per table scanned</a:t>
                      </a:r>
                    </a:p>
                  </a:txBody>
                  <a:tcPr marL="82296" marR="64008" marT="32004" marB="32004" anchor="ctr">
                    <a:solidFill>
                      <a:srgbClr val="FBFAF7"/>
                    </a:solidFill>
                  </a:tcPr>
                </a:tc>
                <a:tc>
                  <a:txBody>
                    <a:bodyPr wrap="square"/>
                    <a:lstStyle/>
                    <a:p>
                      <a:pPr algn="l"/>
                      <a:r>
                        <a:rPr sz="900" b="0">
                          <a:solidFill>
                            <a:srgbClr val="0E1726"/>
                          </a:solidFill>
                          <a:latin typeface="Calibri"/>
                        </a:rPr>
                        <a:t>The statement text and the duration --- those are the query log</a:t>
                      </a:r>
                    </a:p>
                  </a:txBody>
                  <a:tcPr marL="82296" marR="64008" marT="32004" marB="32004" anchor="ctr">
                    <a:solidFill>
                      <a:srgbClr val="FBFAF7"/>
                    </a:solidFill>
                  </a:tcPr>
                </a:tc>
              </a:tr>
              <a:tr h="306324">
                <a:tc>
                  <a:txBody>
                    <a:bodyPr wrap="square"/>
                    <a:lstStyle/>
                    <a:p>
                      <a:pPr algn="l"/>
                      <a:r>
                        <a:rPr sz="900" b="1">
                          <a:solidFill>
                            <a:srgbClr val="1E3A6E"/>
                          </a:solidFill>
                          <a:latin typeface="Calibri"/>
                        </a:rPr>
                        <a:t>Tiering</a:t>
                      </a:r>
                    </a:p>
                  </a:txBody>
                  <a:tcPr marL="82296" marR="64008" marT="32004" marB="32004" anchor="ctr">
                    <a:solidFill>
                      <a:srgbClr val="FFFFFF"/>
                    </a:solidFill>
                  </a:tcPr>
                </a:tc>
                <a:tc>
                  <a:txBody>
                    <a:bodyPr wrap="square"/>
                    <a:lstStyle/>
                    <a:p>
                      <a:pPr algn="l"/>
                      <a:r>
                        <a:rPr sz="900" b="0">
                          <a:solidFill>
                            <a:srgbClr val="0E1726"/>
                          </a:solidFill>
                          <a:latin typeface="Calibri"/>
                        </a:rPr>
                        <a:t>Purge state machine, archival registry, quarantine, rehydration</a:t>
                      </a:r>
                    </a:p>
                  </a:txBody>
                  <a:tcPr marL="82296" marR="64008" marT="32004" marB="32004" anchor="ctr">
                    <a:solidFill>
                      <a:srgbClr val="FFFFFF"/>
                    </a:solidFill>
                  </a:tcPr>
                </a:tc>
                <a:tc>
                  <a:txBody>
                    <a:bodyPr wrap="square"/>
                    <a:lstStyle/>
                    <a:p>
                      <a:pPr algn="l"/>
                      <a:r>
                        <a:rPr sz="900" b="0">
                          <a:solidFill>
                            <a:srgbClr val="0E1726"/>
                          </a:solidFill>
                          <a:latin typeface="Calibri"/>
                        </a:rPr>
                        <a:t>Any call site. Zero dependents, by design, gated to M9 and M11</a:t>
                      </a:r>
                    </a:p>
                  </a:txBody>
                  <a:tcPr marL="82296" marR="64008" marT="32004" marB="32004" anchor="ctr">
                    <a:solidFill>
                      <a:srgbClr val="FFFFFF"/>
                    </a:solidFill>
                  </a:tcPr>
                </a:tc>
              </a:tr>
              <a:tr h="306324">
                <a:tc>
                  <a:txBody>
                    <a:bodyPr wrap="square"/>
                    <a:lstStyle/>
                    <a:p>
                      <a:pPr algn="l"/>
                      <a:r>
                        <a:rPr sz="900" b="1">
                          <a:solidFill>
                            <a:srgbClr val="1E3A6E"/>
                          </a:solidFill>
                          <a:latin typeface="Calibri"/>
                        </a:rPr>
                        <a:t>Graph</a:t>
                      </a:r>
                    </a:p>
                  </a:txBody>
                  <a:tcPr marL="82296" marR="64008" marT="32004" marB="32004" anchor="ctr">
                    <a:solidFill>
                      <a:srgbClr val="FBFAF7"/>
                    </a:solidFill>
                  </a:tcPr>
                </a:tc>
                <a:tc>
                  <a:txBody>
                    <a:bodyPr wrap="square"/>
                    <a:lstStyle/>
                    <a:p>
                      <a:pPr algn="l"/>
                      <a:r>
                        <a:rPr sz="900" b="0">
                          <a:solidFill>
                            <a:srgbClr val="0E1726"/>
                          </a:solidFill>
                          <a:latin typeface="Calibri"/>
                        </a:rPr>
                        <a:t>Bounded typed temporal traversal, truncation reported as columns</a:t>
                      </a:r>
                    </a:p>
                  </a:txBody>
                  <a:tcPr marL="82296" marR="64008" marT="32004" marB="32004" anchor="ctr">
                    <a:solidFill>
                      <a:srgbClr val="FBFAF7"/>
                    </a:solidFill>
                  </a:tcPr>
                </a:tc>
                <a:tc>
                  <a:txBody>
                    <a:bodyPr wrap="square"/>
                    <a:lstStyle/>
                    <a:p>
                      <a:pPr algn="l"/>
                      <a:r>
                        <a:rPr sz="900" b="0">
                          <a:solidFill>
                            <a:srgbClr val="0E1726"/>
                          </a:solidFill>
                          <a:latin typeface="Calibri"/>
                        </a:rPr>
                        <a:t>A write path, durability --- and, in this build, its own catalogue contents</a:t>
                      </a:r>
                    </a:p>
                  </a:txBody>
                  <a:tcPr marL="82296" marR="64008" marT="32004" marB="32004" anchor="ctr">
                    <a:solidFill>
                      <a:srgbClr val="FBFAF7"/>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ARCHITECTURE · WHAT IS REAL</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Three data models, and which of them answers today</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4 · The shape of the whole 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13</a:t>
            </a:r>
          </a:p>
        </p:txBody>
      </p:sp>
      <p:sp>
        <p:nvSpPr>
          <p:cNvPr id="10" name="Rectangle 9"/>
          <p:cNvSpPr/>
          <p:nvPr/>
        </p:nvSpPr>
        <p:spPr>
          <a:xfrm>
            <a:off x="777240" y="1353312"/>
            <a:ext cx="3411626" cy="548640"/>
          </a:xfrm>
          <a:prstGeom prst="rect">
            <a:avLst/>
          </a:prstGeom>
          <a:solidFill>
            <a:srgbClr val="2D50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TextBox 10"/>
          <p:cNvSpPr txBox="1"/>
          <p:nvPr/>
        </p:nvSpPr>
        <p:spPr>
          <a:xfrm>
            <a:off x="905256" y="1417320"/>
            <a:ext cx="3155594" cy="457200"/>
          </a:xfrm>
          <a:prstGeom prst="rect">
            <a:avLst/>
          </a:prstGeom>
          <a:noFill/>
        </p:spPr>
        <p:txBody>
          <a:bodyPr wrap="square" lIns="0" rIns="0" tIns="0" bIns="0" anchor="t">
            <a:spAutoFit/>
          </a:bodyPr>
          <a:lstStyle/>
          <a:p>
            <a:pPr algn="l">
              <a:spcBef>
                <a:spcPts val="0"/>
              </a:spcBef>
              <a:spcAft>
                <a:spcPts val="0"/>
              </a:spcAft>
            </a:pPr>
            <a:r>
              <a:rPr sz="1600" b="1" i="0">
                <a:solidFill>
                  <a:srgbClr val="FFFFFF"/>
                </a:solidFill>
                <a:latin typeface="Georgia"/>
              </a:rPr>
              <a:t>OLAP</a:t>
            </a:r>
          </a:p>
          <a:p>
            <a:pPr>
              <a:spcBef>
                <a:spcPts val="0"/>
              </a:spcBef>
              <a:spcAft>
                <a:spcPts val="0"/>
              </a:spcAft>
            </a:pPr>
            <a:r>
              <a:rPr sz="850" b="0" i="0">
                <a:solidFill>
                  <a:srgbClr val="E8E4DE"/>
                </a:solidFill>
                <a:latin typeface="Calibri"/>
              </a:rPr>
              <a:t>its own columnar store</a:t>
            </a:r>
          </a:p>
        </p:txBody>
      </p:sp>
      <p:sp>
        <p:nvSpPr>
          <p:cNvPr id="12" name="TextBox 11"/>
          <p:cNvSpPr txBox="1"/>
          <p:nvPr/>
        </p:nvSpPr>
        <p:spPr>
          <a:xfrm>
            <a:off x="2771546" y="1499616"/>
            <a:ext cx="1298448" cy="274320"/>
          </a:xfrm>
          <a:prstGeom prst="rect">
            <a:avLst/>
          </a:prstGeom>
          <a:noFill/>
        </p:spPr>
        <p:txBody>
          <a:bodyPr wrap="square" lIns="0" rIns="0" tIns="0" bIns="0" anchor="t">
            <a:spAutoFit/>
          </a:bodyPr>
          <a:lstStyle/>
          <a:p>
            <a:pPr algn="r">
              <a:spcBef>
                <a:spcPts val="0"/>
              </a:spcBef>
              <a:spcAft>
                <a:spcPts val="0"/>
              </a:spcAft>
            </a:pPr>
            <a:r>
              <a:rPr sz="950" b="1" i="0">
                <a:solidFill>
                  <a:srgbClr val="FFFFFF"/>
                </a:solidFill>
                <a:latin typeface="Calibri"/>
              </a:rPr>
              <a:t>REAL</a:t>
            </a:r>
          </a:p>
        </p:txBody>
      </p:sp>
      <p:sp>
        <p:nvSpPr>
          <p:cNvPr id="13" name="Rectangle 12"/>
          <p:cNvSpPr/>
          <p:nvPr/>
        </p:nvSpPr>
        <p:spPr>
          <a:xfrm>
            <a:off x="777240" y="1975104"/>
            <a:ext cx="3411626" cy="201168"/>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886968" y="1993392"/>
            <a:ext cx="3192170" cy="173736"/>
          </a:xfrm>
          <a:prstGeom prst="rect">
            <a:avLst/>
          </a:prstGeom>
          <a:noFill/>
        </p:spPr>
        <p:txBody>
          <a:bodyPr wrap="square" lIns="0" rIns="0" tIns="0" bIns="0" anchor="t">
            <a:spAutoFit/>
          </a:bodyPr>
          <a:lstStyle/>
          <a:p>
            <a:pPr algn="l">
              <a:spcBef>
                <a:spcPts val="0"/>
              </a:spcBef>
              <a:spcAft>
                <a:spcPts val="0"/>
              </a:spcAft>
            </a:pPr>
            <a:r>
              <a:rPr sz="800" b="1" i="0">
                <a:solidFill>
                  <a:srgbClr val="2D5016"/>
                </a:solidFill>
                <a:latin typeface="Calibri"/>
              </a:rPr>
              <a:t>BUILT</a:t>
            </a:r>
          </a:p>
        </p:txBody>
      </p:sp>
      <p:sp>
        <p:nvSpPr>
          <p:cNvPr id="15" name="TextBox 14"/>
          <p:cNvSpPr txBox="1"/>
          <p:nvPr/>
        </p:nvSpPr>
        <p:spPr>
          <a:xfrm>
            <a:off x="868680" y="2231136"/>
            <a:ext cx="3228746" cy="2103120"/>
          </a:xfrm>
          <a:prstGeom prst="rect">
            <a:avLst/>
          </a:prstGeom>
          <a:noFill/>
        </p:spPr>
        <p:txBody>
          <a:bodyPr wrap="square" lIns="0" rIns="0" tIns="0" bIns="0" anchor="t">
            <a:spAutoFit/>
          </a:bodyPr>
          <a:lstStyle/>
          <a:p>
            <a:pPr algn="l"/>
          </a:p>
          <a:p>
            <a:pPr>
              <a:spcBef>
                <a:spcPts val="0"/>
              </a:spcBef>
              <a:spcAft>
                <a:spcPts val="500"/>
              </a:spcAft>
            </a:pPr>
            <a:r>
              <a:rPr sz="819" b="1">
                <a:solidFill>
                  <a:srgbClr val="2D5016"/>
                </a:solidFill>
                <a:latin typeface="Calibri"/>
              </a:rPr>
              <a:t>▪  </a:t>
            </a:r>
            <a:r>
              <a:rPr sz="819">
                <a:solidFill>
                  <a:srgbClr val="0E1726"/>
                </a:solidFill>
                <a:latin typeface="Calibri"/>
              </a:rPr>
              <a:t>Single-node warehouse over an open format; the Delta log written by hand with a length seal per commit, so a truncated commit is refused rather than replayed short.</a:t>
            </a:r>
          </a:p>
          <a:p>
            <a:pPr>
              <a:spcBef>
                <a:spcPts val="0"/>
              </a:spcBef>
              <a:spcAft>
                <a:spcPts val="500"/>
              </a:spcAft>
            </a:pPr>
            <a:r>
              <a:rPr sz="819" b="1">
                <a:solidFill>
                  <a:srgbClr val="2D5016"/>
                </a:solidFill>
                <a:latin typeface="Calibri"/>
              </a:rPr>
              <a:t>▪  </a:t>
            </a:r>
            <a:r>
              <a:rPr sz="819">
                <a:solidFill>
                  <a:srgbClr val="0E1726"/>
                </a:solidFill>
                <a:latin typeface="Calibri"/>
              </a:rPr>
              <a:t>Planning does **no file I/O** --- 800 files in 1.37 ms against 10.33 ms for a directory listing. Statistics live in the log, so a cold process prunes like a warm one.</a:t>
            </a:r>
          </a:p>
          <a:p>
            <a:pPr>
              <a:spcBef>
                <a:spcPts val="0"/>
              </a:spcBef>
              <a:spcAft>
                <a:spcPts val="500"/>
              </a:spcAft>
            </a:pPr>
            <a:r>
              <a:rPr sz="819" b="1">
                <a:solidFill>
                  <a:srgbClr val="2D5016"/>
                </a:solidFill>
                <a:latin typeface="Calibri"/>
              </a:rPr>
              <a:t>▪  </a:t>
            </a:r>
            <a:r>
              <a:rPr sz="819">
                <a:solidFill>
                  <a:srgbClr val="0E1726"/>
                </a:solidFill>
                <a:latin typeface="Calibri"/>
              </a:rPr>
              <a:t>Time travel, cross-table snapshots, zero-copy clones, cubes, maintenance on a timer, 155 functions, and the security path opposite.</a:t>
            </a:r>
          </a:p>
        </p:txBody>
      </p:sp>
      <p:sp>
        <p:nvSpPr>
          <p:cNvPr id="16" name="Rectangle 15"/>
          <p:cNvSpPr/>
          <p:nvPr/>
        </p:nvSpPr>
        <p:spPr>
          <a:xfrm>
            <a:off x="777240" y="3986784"/>
            <a:ext cx="3411626" cy="201168"/>
          </a:xfrm>
          <a:prstGeom prst="rect">
            <a:avLst/>
          </a:prstGeom>
          <a:solidFill>
            <a:srgbClr val="F4E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886968" y="4005072"/>
            <a:ext cx="3192170" cy="173736"/>
          </a:xfrm>
          <a:prstGeom prst="rect">
            <a:avLst/>
          </a:prstGeom>
          <a:noFill/>
        </p:spPr>
        <p:txBody>
          <a:bodyPr wrap="square" lIns="0" rIns="0" tIns="0" bIns="0" anchor="t">
            <a:spAutoFit/>
          </a:bodyPr>
          <a:lstStyle/>
          <a:p>
            <a:pPr algn="l">
              <a:spcBef>
                <a:spcPts val="0"/>
              </a:spcBef>
              <a:spcAft>
                <a:spcPts val="0"/>
              </a:spcAft>
            </a:pPr>
            <a:r>
              <a:rPr sz="800" b="1" i="0">
                <a:solidFill>
                  <a:srgbClr val="1E3A6E"/>
                </a:solidFill>
                <a:latin typeface="Calibri"/>
              </a:rPr>
              <a:t>NOT WIRED</a:t>
            </a:r>
          </a:p>
        </p:txBody>
      </p:sp>
      <p:sp>
        <p:nvSpPr>
          <p:cNvPr id="18" name="TextBox 17"/>
          <p:cNvSpPr txBox="1"/>
          <p:nvPr/>
        </p:nvSpPr>
        <p:spPr>
          <a:xfrm>
            <a:off x="868680" y="4242816"/>
            <a:ext cx="3228746" cy="1554480"/>
          </a:xfrm>
          <a:prstGeom prst="rect">
            <a:avLst/>
          </a:prstGeom>
          <a:noFill/>
        </p:spPr>
        <p:txBody>
          <a:bodyPr wrap="square" lIns="0" rIns="0" tIns="0" bIns="0" anchor="t">
            <a:spAutoFit/>
          </a:bodyPr>
          <a:lstStyle/>
          <a:p>
            <a:pPr algn="l"/>
          </a:p>
          <a:p>
            <a:pPr>
              <a:spcBef>
                <a:spcPts val="0"/>
              </a:spcBef>
              <a:spcAft>
                <a:spcPts val="500"/>
              </a:spcAft>
            </a:pPr>
            <a:r>
              <a:rPr sz="819" b="1">
                <a:solidFill>
                  <a:srgbClr val="1E3A6E"/>
                </a:solidFill>
                <a:latin typeface="Calibri"/>
              </a:rPr>
              <a:t>▪  </a:t>
            </a:r>
            <a:r>
              <a:rPr sz="819">
                <a:solidFill>
                  <a:srgbClr val="0E1726"/>
                </a:solidFill>
                <a:latin typeface="Calibri"/>
              </a:rPr>
              <a:t>**The governor bounds nothing.** The one query-path call passes a zeroed request against ceilings of `u64::MAX`.</a:t>
            </a:r>
          </a:p>
          <a:p>
            <a:pPr>
              <a:spcBef>
                <a:spcPts val="0"/>
              </a:spcBef>
              <a:spcAft>
                <a:spcPts val="500"/>
              </a:spcAft>
            </a:pPr>
            <a:r>
              <a:rPr sz="819" b="1">
                <a:solidFill>
                  <a:srgbClr val="1E3A6E"/>
                </a:solidFill>
                <a:latin typeface="Calibri"/>
              </a:rPr>
              <a:t>▪  </a:t>
            </a:r>
            <a:r>
              <a:rPr sz="819">
                <a:solidFill>
                  <a:srgbClr val="0E1726"/>
                </a:solidFill>
                <a:latin typeface="Calibri"/>
              </a:rPr>
              <a:t>**Partition-predicate pruning is unsatisfiable** by any query, so one performance objective has an unreachable precondition.</a:t>
            </a:r>
          </a:p>
          <a:p>
            <a:pPr>
              <a:spcBef>
                <a:spcPts val="0"/>
              </a:spcBef>
              <a:spcAft>
                <a:spcPts val="500"/>
              </a:spcAft>
            </a:pPr>
            <a:r>
              <a:rPr sz="819" b="1">
                <a:solidFill>
                  <a:srgbClr val="1E3A6E"/>
                </a:solidFill>
                <a:latin typeface="Calibri"/>
              </a:rPr>
              <a:t>▪  </a:t>
            </a:r>
            <a:r>
              <a:rPr sz="819">
                <a:solidFill>
                  <a:srgbClr val="0E1726"/>
                </a:solidFill>
                <a:latin typeface="Calibri"/>
              </a:rPr>
              <a:t>**The change-log fold is orphaned** --- correct, tested, constructed by nothing outside its own tests.</a:t>
            </a:r>
          </a:p>
        </p:txBody>
      </p:sp>
      <p:sp>
        <p:nvSpPr>
          <p:cNvPr id="19" name="Rectangle 18"/>
          <p:cNvSpPr/>
          <p:nvPr/>
        </p:nvSpPr>
        <p:spPr>
          <a:xfrm>
            <a:off x="4390034" y="1353312"/>
            <a:ext cx="3411626" cy="548640"/>
          </a:xfrm>
          <a:prstGeom prst="rect">
            <a:avLst/>
          </a:prstGeom>
          <a:solidFill>
            <a:srgbClr val="8A6A1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TextBox 19"/>
          <p:cNvSpPr txBox="1"/>
          <p:nvPr/>
        </p:nvSpPr>
        <p:spPr>
          <a:xfrm>
            <a:off x="4518050" y="1417320"/>
            <a:ext cx="3155594" cy="457200"/>
          </a:xfrm>
          <a:prstGeom prst="rect">
            <a:avLst/>
          </a:prstGeom>
          <a:noFill/>
        </p:spPr>
        <p:txBody>
          <a:bodyPr wrap="square" lIns="0" rIns="0" tIns="0" bIns="0" anchor="t">
            <a:spAutoFit/>
          </a:bodyPr>
          <a:lstStyle/>
          <a:p>
            <a:pPr algn="l">
              <a:spcBef>
                <a:spcPts val="0"/>
              </a:spcBef>
              <a:spcAft>
                <a:spcPts val="0"/>
              </a:spcAft>
            </a:pPr>
            <a:r>
              <a:rPr sz="1600" b="1" i="0">
                <a:solidFill>
                  <a:srgbClr val="FFFFFF"/>
                </a:solidFill>
                <a:latin typeface="Georgia"/>
              </a:rPr>
              <a:t>GRAPH</a:t>
            </a:r>
          </a:p>
          <a:p>
            <a:pPr>
              <a:spcBef>
                <a:spcPts val="0"/>
              </a:spcBef>
              <a:spcAft>
                <a:spcPts val="0"/>
              </a:spcAft>
            </a:pPr>
            <a:r>
              <a:rPr sz="850" b="0" i="0">
                <a:solidFill>
                  <a:srgbClr val="E8E4DE"/>
                </a:solidFill>
                <a:latin typeface="Calibri"/>
              </a:rPr>
              <a:t>typed, temporal, bounded</a:t>
            </a:r>
          </a:p>
        </p:txBody>
      </p:sp>
      <p:sp>
        <p:nvSpPr>
          <p:cNvPr id="21" name="TextBox 20"/>
          <p:cNvSpPr txBox="1"/>
          <p:nvPr/>
        </p:nvSpPr>
        <p:spPr>
          <a:xfrm>
            <a:off x="6384340" y="1499616"/>
            <a:ext cx="1298448" cy="274320"/>
          </a:xfrm>
          <a:prstGeom prst="rect">
            <a:avLst/>
          </a:prstGeom>
          <a:noFill/>
        </p:spPr>
        <p:txBody>
          <a:bodyPr wrap="square" lIns="0" rIns="0" tIns="0" bIns="0" anchor="t">
            <a:spAutoFit/>
          </a:bodyPr>
          <a:lstStyle/>
          <a:p>
            <a:pPr algn="r">
              <a:spcBef>
                <a:spcPts val="0"/>
              </a:spcBef>
              <a:spcAft>
                <a:spcPts val="0"/>
              </a:spcAft>
            </a:pPr>
            <a:r>
              <a:rPr sz="950" b="1" i="0">
                <a:solidFill>
                  <a:srgbClr val="FFFFFF"/>
                </a:solidFill>
                <a:latin typeface="Calibri"/>
              </a:rPr>
              <a:t>BUILT, EMPTY</a:t>
            </a:r>
          </a:p>
        </p:txBody>
      </p:sp>
      <p:sp>
        <p:nvSpPr>
          <p:cNvPr id="22" name="Rectangle 21"/>
          <p:cNvSpPr/>
          <p:nvPr/>
        </p:nvSpPr>
        <p:spPr>
          <a:xfrm>
            <a:off x="4390034" y="1975104"/>
            <a:ext cx="3411626" cy="201168"/>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TextBox 22"/>
          <p:cNvSpPr txBox="1"/>
          <p:nvPr/>
        </p:nvSpPr>
        <p:spPr>
          <a:xfrm>
            <a:off x="4499762" y="1993392"/>
            <a:ext cx="3192170" cy="173736"/>
          </a:xfrm>
          <a:prstGeom prst="rect">
            <a:avLst/>
          </a:prstGeom>
          <a:noFill/>
        </p:spPr>
        <p:txBody>
          <a:bodyPr wrap="square" lIns="0" rIns="0" tIns="0" bIns="0" anchor="t">
            <a:spAutoFit/>
          </a:bodyPr>
          <a:lstStyle/>
          <a:p>
            <a:pPr algn="l">
              <a:spcBef>
                <a:spcPts val="0"/>
              </a:spcBef>
              <a:spcAft>
                <a:spcPts val="0"/>
              </a:spcAft>
            </a:pPr>
            <a:r>
              <a:rPr sz="800" b="1" i="0">
                <a:solidFill>
                  <a:srgbClr val="8A6A12"/>
                </a:solidFill>
                <a:latin typeface="Calibri"/>
              </a:rPr>
              <a:t>BUILT</a:t>
            </a:r>
          </a:p>
        </p:txBody>
      </p:sp>
      <p:sp>
        <p:nvSpPr>
          <p:cNvPr id="24" name="TextBox 23"/>
          <p:cNvSpPr txBox="1"/>
          <p:nvPr/>
        </p:nvSpPr>
        <p:spPr>
          <a:xfrm>
            <a:off x="4481474" y="2231136"/>
            <a:ext cx="3228746" cy="2103120"/>
          </a:xfrm>
          <a:prstGeom prst="rect">
            <a:avLst/>
          </a:prstGeom>
          <a:noFill/>
        </p:spPr>
        <p:txBody>
          <a:bodyPr wrap="square" lIns="0" rIns="0" tIns="0" bIns="0" anchor="t">
            <a:spAutoFit/>
          </a:bodyPr>
          <a:lstStyle/>
          <a:p>
            <a:pPr algn="l"/>
          </a:p>
          <a:p>
            <a:pPr>
              <a:spcBef>
                <a:spcPts val="0"/>
              </a:spcBef>
              <a:spcAft>
                <a:spcPts val="500"/>
              </a:spcAft>
            </a:pPr>
            <a:r>
              <a:rPr sz="819" b="1">
                <a:solidFill>
                  <a:srgbClr val="8A6A12"/>
                </a:solidFill>
                <a:latin typeface="Calibri"/>
              </a:rPr>
              <a:t>▪  </a:t>
            </a:r>
            <a:r>
              <a:rPr sz="819">
                <a:solidFill>
                  <a:srgbClr val="0E1726"/>
                </a:solidFill>
                <a:latin typeface="Calibri"/>
              </a:rPr>
              <a:t>~4,500 lines with **zero dependencies of any kind**: shortest path, k-shortest loopless, cycles, strong components, community detection, rank, betweenness, influence.</a:t>
            </a:r>
          </a:p>
          <a:p>
            <a:pPr>
              <a:spcBef>
                <a:spcPts val="0"/>
              </a:spcBef>
              <a:spcAft>
                <a:spcPts val="500"/>
              </a:spcAft>
            </a:pPr>
            <a:r>
              <a:rPr sz="819" b="1">
                <a:solidFill>
                  <a:srgbClr val="8A6A12"/>
                </a:solidFill>
                <a:latin typeface="Calibri"/>
              </a:rPr>
              <a:t>▪  </a:t>
            </a:r>
            <a:r>
              <a:rPr sz="819">
                <a:solidFill>
                  <a:srgbClr val="0E1726"/>
                </a:solidFill>
                <a:latin typeface="Calibri"/>
              </a:rPr>
              <a:t>Typed adjacency in both directions, half-open validity intervals, sorted by source and by time --- the edges of a vertex as of time *t* is a binary search and a slice.</a:t>
            </a:r>
          </a:p>
          <a:p>
            <a:pPr>
              <a:spcBef>
                <a:spcPts val="0"/>
              </a:spcBef>
              <a:spcAft>
                <a:spcPts val="500"/>
              </a:spcAft>
            </a:pPr>
            <a:r>
              <a:rPr sz="819" b="1">
                <a:solidFill>
                  <a:srgbClr val="8A6A12"/>
                </a:solidFill>
                <a:latin typeface="Calibri"/>
              </a:rPr>
              <a:t>▪  </a:t>
            </a:r>
            <a:r>
              <a:rPr sz="819">
                <a:solidFill>
                  <a:srgbClr val="0E1726"/>
                </a:solidFill>
                <a:latin typeface="Calibri"/>
              </a:rPr>
              <a:t>Every traversal hard-bounded at planning time, reporting its own truncation as columns on the row.</a:t>
            </a:r>
          </a:p>
          <a:p>
            <a:pPr>
              <a:spcBef>
                <a:spcPts val="0"/>
              </a:spcBef>
              <a:spcAft>
                <a:spcPts val="500"/>
              </a:spcAft>
            </a:pPr>
            <a:r>
              <a:rPr sz="819" b="1">
                <a:solidFill>
                  <a:srgbClr val="8A6A12"/>
                </a:solidFill>
                <a:latin typeface="Calibri"/>
              </a:rPr>
              <a:t>▪  </a:t>
            </a:r>
            <a:r>
              <a:rPr sz="819">
                <a:solidFill>
                  <a:srgbClr val="0E1726"/>
                </a:solidFill>
                <a:latin typeface="Calibri"/>
              </a:rPr>
              <a:t>Five table functions genuinely registered into every session.</a:t>
            </a:r>
          </a:p>
        </p:txBody>
      </p:sp>
      <p:sp>
        <p:nvSpPr>
          <p:cNvPr id="25" name="Rectangle 24"/>
          <p:cNvSpPr/>
          <p:nvPr/>
        </p:nvSpPr>
        <p:spPr>
          <a:xfrm>
            <a:off x="4390034" y="4352544"/>
            <a:ext cx="3411626" cy="201168"/>
          </a:xfrm>
          <a:prstGeom prst="rect">
            <a:avLst/>
          </a:prstGeom>
          <a:solidFill>
            <a:srgbClr val="F4E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TextBox 25"/>
          <p:cNvSpPr txBox="1"/>
          <p:nvPr/>
        </p:nvSpPr>
        <p:spPr>
          <a:xfrm>
            <a:off x="4499762" y="4370831"/>
            <a:ext cx="3192170" cy="173736"/>
          </a:xfrm>
          <a:prstGeom prst="rect">
            <a:avLst/>
          </a:prstGeom>
          <a:noFill/>
        </p:spPr>
        <p:txBody>
          <a:bodyPr wrap="square" lIns="0" rIns="0" tIns="0" bIns="0" anchor="t">
            <a:spAutoFit/>
          </a:bodyPr>
          <a:lstStyle/>
          <a:p>
            <a:pPr algn="l">
              <a:spcBef>
                <a:spcPts val="0"/>
              </a:spcBef>
              <a:spcAft>
                <a:spcPts val="0"/>
              </a:spcAft>
            </a:pPr>
            <a:r>
              <a:rPr sz="800" b="1" i="0">
                <a:solidFill>
                  <a:srgbClr val="1E3A6E"/>
                </a:solidFill>
                <a:latin typeface="Calibri"/>
              </a:rPr>
              <a:t>NOT WIRED</a:t>
            </a:r>
          </a:p>
        </p:txBody>
      </p:sp>
      <p:sp>
        <p:nvSpPr>
          <p:cNvPr id="27" name="TextBox 26"/>
          <p:cNvSpPr txBox="1"/>
          <p:nvPr/>
        </p:nvSpPr>
        <p:spPr>
          <a:xfrm>
            <a:off x="4481474" y="4608576"/>
            <a:ext cx="3228746" cy="1554480"/>
          </a:xfrm>
          <a:prstGeom prst="rect">
            <a:avLst/>
          </a:prstGeom>
          <a:noFill/>
        </p:spPr>
        <p:txBody>
          <a:bodyPr wrap="square" lIns="0" rIns="0" tIns="0" bIns="0" anchor="t">
            <a:spAutoFit/>
          </a:bodyPr>
          <a:lstStyle/>
          <a:p>
            <a:pPr algn="l"/>
          </a:p>
          <a:p>
            <a:pPr>
              <a:spcBef>
                <a:spcPts val="0"/>
              </a:spcBef>
              <a:spcAft>
                <a:spcPts val="500"/>
              </a:spcAft>
            </a:pPr>
            <a:r>
              <a:rPr sz="819" b="1">
                <a:solidFill>
                  <a:srgbClr val="1E3A6E"/>
                </a:solidFill>
                <a:latin typeface="Calibri"/>
              </a:rPr>
              <a:t>▪  </a:t>
            </a:r>
            <a:r>
              <a:rPr sz="819">
                <a:solidFill>
                  <a:srgbClr val="0E1726"/>
                </a:solidFill>
                <a:latin typeface="Calibri"/>
              </a:rPr>
              <a:t>**The catalogue is constructed empty, per session.** `GraphCatalog::new` returns an empty map, and `register`/`publish` have zero call sites in the server.</a:t>
            </a:r>
          </a:p>
          <a:p>
            <a:pPr>
              <a:spcBef>
                <a:spcPts val="0"/>
              </a:spcBef>
              <a:spcAft>
                <a:spcPts val="500"/>
              </a:spcAft>
            </a:pPr>
            <a:r>
              <a:rPr sz="819" b="1">
                <a:solidFill>
                  <a:srgbClr val="1E3A6E"/>
                </a:solidFill>
                <a:latin typeface="Calibri"/>
              </a:rPr>
              <a:t>▪  </a:t>
            </a:r>
            <a:r>
              <a:rPr sz="819">
                <a:solidFill>
                  <a:srgbClr val="0E1726"/>
                </a:solidFill>
                <a:latin typeface="Calibri"/>
              </a:rPr>
              <a:t>So every call resolves to *no such graph*, unconditionally, for the life of the process.</a:t>
            </a:r>
          </a:p>
          <a:p>
            <a:pPr>
              <a:spcBef>
                <a:spcPts val="0"/>
              </a:spcBef>
              <a:spcAft>
                <a:spcPts val="500"/>
              </a:spcAft>
            </a:pPr>
            <a:r>
              <a:rPr sz="819" b="1">
                <a:solidFill>
                  <a:srgbClr val="1E3A6E"/>
                </a:solidFill>
                <a:latin typeface="Calibri"/>
              </a:rPr>
              <a:t>▪  </a:t>
            </a:r>
            <a:r>
              <a:rPr sz="819">
                <a:solidFill>
                  <a:srgbClr val="0E1726"/>
                </a:solidFill>
                <a:latin typeface="Calibri"/>
              </a:rPr>
              <a:t>Carried as an **unmet** exit criterion rather than reinterpreted: correct against brute force, never timed at scale.</a:t>
            </a:r>
          </a:p>
        </p:txBody>
      </p:sp>
      <p:sp>
        <p:nvSpPr>
          <p:cNvPr id="28" name="Rectangle 27"/>
          <p:cNvSpPr/>
          <p:nvPr/>
        </p:nvSpPr>
        <p:spPr>
          <a:xfrm>
            <a:off x="8002828" y="1353312"/>
            <a:ext cx="3411626" cy="54864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9" name="TextBox 28"/>
          <p:cNvSpPr txBox="1"/>
          <p:nvPr/>
        </p:nvSpPr>
        <p:spPr>
          <a:xfrm>
            <a:off x="8130844" y="1417320"/>
            <a:ext cx="3155594" cy="457200"/>
          </a:xfrm>
          <a:prstGeom prst="rect">
            <a:avLst/>
          </a:prstGeom>
          <a:noFill/>
        </p:spPr>
        <p:txBody>
          <a:bodyPr wrap="square" lIns="0" rIns="0" tIns="0" bIns="0" anchor="t">
            <a:spAutoFit/>
          </a:bodyPr>
          <a:lstStyle/>
          <a:p>
            <a:pPr algn="l">
              <a:spcBef>
                <a:spcPts val="0"/>
              </a:spcBef>
              <a:spcAft>
                <a:spcPts val="0"/>
              </a:spcAft>
            </a:pPr>
            <a:r>
              <a:rPr sz="1600" b="1" i="0">
                <a:solidFill>
                  <a:srgbClr val="FFFFFF"/>
                </a:solidFill>
                <a:latin typeface="Georgia"/>
              </a:rPr>
              <a:t>OLTP</a:t>
            </a:r>
          </a:p>
          <a:p>
            <a:pPr>
              <a:spcBef>
                <a:spcPts val="0"/>
              </a:spcBef>
              <a:spcAft>
                <a:spcPts val="0"/>
              </a:spcAft>
            </a:pPr>
            <a:r>
              <a:rPr sz="850" b="0" i="0">
                <a:solidFill>
                  <a:srgbClr val="E8E4DE"/>
                </a:solidFill>
                <a:latin typeface="Calibri"/>
              </a:rPr>
              <a:t>PostgreSQL, supervised</a:t>
            </a:r>
          </a:p>
        </p:txBody>
      </p:sp>
      <p:sp>
        <p:nvSpPr>
          <p:cNvPr id="30" name="TextBox 29"/>
          <p:cNvSpPr txBox="1"/>
          <p:nvPr/>
        </p:nvSpPr>
        <p:spPr>
          <a:xfrm>
            <a:off x="9997135" y="1499616"/>
            <a:ext cx="1298448" cy="274320"/>
          </a:xfrm>
          <a:prstGeom prst="rect">
            <a:avLst/>
          </a:prstGeom>
          <a:noFill/>
        </p:spPr>
        <p:txBody>
          <a:bodyPr wrap="square" lIns="0" rIns="0" tIns="0" bIns="0" anchor="t">
            <a:spAutoFit/>
          </a:bodyPr>
          <a:lstStyle/>
          <a:p>
            <a:pPr algn="r">
              <a:spcBef>
                <a:spcPts val="0"/>
              </a:spcBef>
              <a:spcAft>
                <a:spcPts val="0"/>
              </a:spcAft>
            </a:pPr>
            <a:r>
              <a:rPr sz="950" b="1" i="0">
                <a:solidFill>
                  <a:srgbClr val="FFFFFF"/>
                </a:solidFill>
                <a:latin typeface="Calibri"/>
              </a:rPr>
              <a:t>NOT WIRED</a:t>
            </a:r>
          </a:p>
        </p:txBody>
      </p:sp>
      <p:sp>
        <p:nvSpPr>
          <p:cNvPr id="31" name="Rectangle 30"/>
          <p:cNvSpPr/>
          <p:nvPr/>
        </p:nvSpPr>
        <p:spPr>
          <a:xfrm>
            <a:off x="8002828" y="1975104"/>
            <a:ext cx="3411626" cy="201168"/>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2" name="TextBox 31"/>
          <p:cNvSpPr txBox="1"/>
          <p:nvPr/>
        </p:nvSpPr>
        <p:spPr>
          <a:xfrm>
            <a:off x="8112556" y="1993392"/>
            <a:ext cx="3192170" cy="173736"/>
          </a:xfrm>
          <a:prstGeom prst="rect">
            <a:avLst/>
          </a:prstGeom>
          <a:noFill/>
        </p:spPr>
        <p:txBody>
          <a:bodyPr wrap="square" lIns="0" rIns="0" tIns="0" bIns="0" anchor="t">
            <a:spAutoFit/>
          </a:bodyPr>
          <a:lstStyle/>
          <a:p>
            <a:pPr algn="l">
              <a:spcBef>
                <a:spcPts val="0"/>
              </a:spcBef>
              <a:spcAft>
                <a:spcPts val="0"/>
              </a:spcAft>
            </a:pPr>
            <a:r>
              <a:rPr sz="800" b="1" i="0">
                <a:solidFill>
                  <a:srgbClr val="1E3A6E"/>
                </a:solidFill>
                <a:latin typeface="Calibri"/>
              </a:rPr>
              <a:t>BUILT</a:t>
            </a:r>
          </a:p>
        </p:txBody>
      </p:sp>
      <p:sp>
        <p:nvSpPr>
          <p:cNvPr id="33" name="TextBox 32"/>
          <p:cNvSpPr txBox="1"/>
          <p:nvPr/>
        </p:nvSpPr>
        <p:spPr>
          <a:xfrm>
            <a:off x="8094268" y="2231136"/>
            <a:ext cx="3228746" cy="2103120"/>
          </a:xfrm>
          <a:prstGeom prst="rect">
            <a:avLst/>
          </a:prstGeom>
          <a:noFill/>
        </p:spPr>
        <p:txBody>
          <a:bodyPr wrap="square" lIns="0" rIns="0" tIns="0" bIns="0" anchor="t">
            <a:spAutoFit/>
          </a:bodyPr>
          <a:lstStyle/>
          <a:p>
            <a:pPr algn="l"/>
          </a:p>
          <a:p>
            <a:pPr>
              <a:spcBef>
                <a:spcPts val="0"/>
              </a:spcBef>
              <a:spcAft>
                <a:spcPts val="500"/>
              </a:spcAft>
            </a:pPr>
            <a:r>
              <a:rPr sz="819" b="1">
                <a:solidFill>
                  <a:srgbClr val="1E3A6E"/>
                </a:solidFill>
                <a:latin typeface="Calibri"/>
              </a:rPr>
              <a:t>▪  </a:t>
            </a:r>
            <a:r>
              <a:rPr sz="819">
                <a:solidFill>
                  <a:srgbClr val="0E1726"/>
                </a:solidFill>
                <a:latin typeface="Calibri"/>
              </a:rPr>
              <a:t>Not linked-in PostgreSQL --- a **child process** whose whole lifecycle SANKHYA owns. 323 lines, zero dependencies, Unix socket only.</a:t>
            </a:r>
          </a:p>
          <a:p>
            <a:pPr>
              <a:spcBef>
                <a:spcPts val="0"/>
              </a:spcBef>
              <a:spcAft>
                <a:spcPts val="500"/>
              </a:spcAft>
            </a:pPr>
            <a:r>
              <a:rPr sz="819" b="1">
                <a:solidFill>
                  <a:srgbClr val="1E3A6E"/>
                </a:solidFill>
                <a:latin typeface="Calibri"/>
              </a:rPr>
              <a:t>▪  </a:t>
            </a:r>
            <a:r>
              <a:rPr sz="819">
                <a:solidFill>
                  <a:srgbClr val="0E1726"/>
                </a:solidFill>
                <a:latin typeface="Calibri"/>
              </a:rPr>
              <a:t>Three fatal modes handled: two processes over one data directory, an orphaned child, and a dead supervisor with a live child.</a:t>
            </a:r>
          </a:p>
          <a:p>
            <a:pPr>
              <a:spcBef>
                <a:spcPts val="0"/>
              </a:spcBef>
              <a:spcAft>
                <a:spcPts val="500"/>
              </a:spcAft>
            </a:pPr>
            <a:r>
              <a:rPr sz="819" b="1">
                <a:solidFill>
                  <a:srgbClr val="1E3A6E"/>
                </a:solidFill>
                <a:latin typeface="Calibri"/>
              </a:rPr>
              <a:t>▪  </a:t>
            </a:r>
            <a:r>
              <a:rPr sz="819">
                <a:solidFill>
                  <a:srgbClr val="0E1726"/>
                </a:solidFill>
                <a:latin typeface="Calibri"/>
              </a:rPr>
              <a:t>Capture correctness is real: a `pgoutput` decoder tested against a captured **live 17.11 stream**, a property-tested transaction invariant, and a five-rung source-safety ladder.</a:t>
            </a:r>
          </a:p>
        </p:txBody>
      </p:sp>
      <p:sp>
        <p:nvSpPr>
          <p:cNvPr id="34" name="Rectangle 33"/>
          <p:cNvSpPr/>
          <p:nvPr/>
        </p:nvSpPr>
        <p:spPr>
          <a:xfrm>
            <a:off x="8002828" y="3986784"/>
            <a:ext cx="3411626" cy="201168"/>
          </a:xfrm>
          <a:prstGeom prst="rect">
            <a:avLst/>
          </a:prstGeom>
          <a:solidFill>
            <a:srgbClr val="F4E4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5" name="TextBox 34"/>
          <p:cNvSpPr txBox="1"/>
          <p:nvPr/>
        </p:nvSpPr>
        <p:spPr>
          <a:xfrm>
            <a:off x="8112556" y="4005072"/>
            <a:ext cx="3192170" cy="173736"/>
          </a:xfrm>
          <a:prstGeom prst="rect">
            <a:avLst/>
          </a:prstGeom>
          <a:noFill/>
        </p:spPr>
        <p:txBody>
          <a:bodyPr wrap="square" lIns="0" rIns="0" tIns="0" bIns="0" anchor="t">
            <a:spAutoFit/>
          </a:bodyPr>
          <a:lstStyle/>
          <a:p>
            <a:pPr algn="l">
              <a:spcBef>
                <a:spcPts val="0"/>
              </a:spcBef>
              <a:spcAft>
                <a:spcPts val="0"/>
              </a:spcAft>
            </a:pPr>
            <a:r>
              <a:rPr sz="800" b="1" i="0">
                <a:solidFill>
                  <a:srgbClr val="1E3A6E"/>
                </a:solidFill>
                <a:latin typeface="Calibri"/>
              </a:rPr>
              <a:t>NOT WIRED</a:t>
            </a:r>
          </a:p>
        </p:txBody>
      </p:sp>
      <p:sp>
        <p:nvSpPr>
          <p:cNvPr id="36" name="TextBox 35"/>
          <p:cNvSpPr txBox="1"/>
          <p:nvPr/>
        </p:nvSpPr>
        <p:spPr>
          <a:xfrm>
            <a:off x="8094268" y="4242816"/>
            <a:ext cx="3228746" cy="1554480"/>
          </a:xfrm>
          <a:prstGeom prst="rect">
            <a:avLst/>
          </a:prstGeom>
          <a:noFill/>
        </p:spPr>
        <p:txBody>
          <a:bodyPr wrap="square" lIns="0" rIns="0" tIns="0" bIns="0" anchor="t">
            <a:spAutoFit/>
          </a:bodyPr>
          <a:lstStyle/>
          <a:p>
            <a:pPr algn="l"/>
          </a:p>
          <a:p>
            <a:pPr>
              <a:spcBef>
                <a:spcPts val="0"/>
              </a:spcBef>
              <a:spcAft>
                <a:spcPts val="500"/>
              </a:spcAft>
            </a:pPr>
            <a:r>
              <a:rPr sz="819" b="1">
                <a:solidFill>
                  <a:srgbClr val="1E3A6E"/>
                </a:solidFill>
                <a:latin typeface="Calibri"/>
              </a:rPr>
              <a:t>▪  </a:t>
            </a:r>
            <a:r>
              <a:rPr sz="819">
                <a:solidFill>
                  <a:srgbClr val="0E1726"/>
                </a:solidFill>
                <a:latin typeface="Calibri"/>
              </a:rPr>
              <a:t>The supervisor is a **dev-dependency** of the server. Its only caller is a soak test that prints `SKIPPED ... nothing wires it in`.</a:t>
            </a:r>
          </a:p>
          <a:p>
            <a:pPr>
              <a:spcBef>
                <a:spcPts val="0"/>
              </a:spcBef>
              <a:spcAft>
                <a:spcPts val="500"/>
              </a:spcAft>
            </a:pPr>
            <a:r>
              <a:rPr sz="819" b="1">
                <a:solidFill>
                  <a:srgbClr val="1E3A6E"/>
                </a:solidFill>
                <a:latin typeface="Calibri"/>
              </a:rPr>
              <a:t>▪  </a:t>
            </a:r>
            <a:r>
              <a:rPr sz="819">
                <a:solidFill>
                  <a:srgbClr val="0E1726"/>
                </a:solidFill>
                <a:latin typeface="Calibri"/>
              </a:rPr>
              <a:t>**The capture crate has zero dependents of any kind**, dev-dependencies included. Its name appears in exactly one manifest: its own.</a:t>
            </a:r>
          </a:p>
          <a:p>
            <a:pPr>
              <a:spcBef>
                <a:spcPts val="0"/>
              </a:spcBef>
              <a:spcAft>
                <a:spcPts val="500"/>
              </a:spcAft>
            </a:pPr>
            <a:r>
              <a:rPr sz="819" b="1">
                <a:solidFill>
                  <a:srgbClr val="1E3A6E"/>
                </a:solidFill>
                <a:latin typeface="Calibri"/>
              </a:rPr>
              <a:t>▪  </a:t>
            </a:r>
            <a:r>
              <a:rPr sz="819">
                <a:solidFill>
                  <a:srgbClr val="0E1726"/>
                </a:solidFill>
                <a:latin typeface="Calibri"/>
              </a:rPr>
              <a:t>**There is no configuration surface to wire it through** --- no transactional key exists anywhere in the config crate or the shipped YAML.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ARCHITECTURE · WHAT BINDS IT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Eight rules, and the check that enforces each</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4 · The shape of the whole 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14</a:t>
            </a:r>
          </a:p>
        </p:txBody>
      </p:sp>
      <p:graphicFrame>
        <p:nvGraphicFramePr>
          <p:cNvPr id="10" name="Table 9"/>
          <p:cNvGraphicFramePr>
            <a:graphicFrameLocks noGrp="1"/>
          </p:cNvGraphicFramePr>
          <p:nvPr/>
        </p:nvGraphicFramePr>
        <p:xfrm>
          <a:off x="777240" y="1353312"/>
          <a:ext cx="10637213" cy="3881472"/>
        </p:xfrm>
        <a:graphic>
          <a:graphicData uri="http://schemas.openxmlformats.org/drawingml/2006/table">
            <a:tbl>
              <a:tblPr firstRow="1">
                <a:tableStyleId>{5C22544A-7EE6-4342-B048-85BDC9FD1C3A}</a:tableStyleId>
              </a:tblPr>
              <a:tblGrid>
                <a:gridCol w="458500"/>
                <a:gridCol w="1971552"/>
                <a:gridCol w="5731258"/>
                <a:gridCol w="2475903"/>
              </a:tblGrid>
              <a:tr h="329184">
                <a:tc>
                  <a:txBody>
                    <a:bodyPr wrap="square"/>
                    <a:lstStyle/>
                    <a:p>
                      <a:pPr algn="l"/>
                      <a:r>
                        <a:rPr sz="1000" b="1">
                          <a:solidFill>
                            <a:srgbClr val="FFFFFF"/>
                          </a:solidFill>
                          <a:latin typeface="Calibri"/>
                        </a:rPr>
                        <a:t/>
                      </a:r>
                    </a:p>
                  </a:txBody>
                  <a:tcPr marL="82296" marR="64008" marT="32004" marB="32004" anchor="ctr">
                    <a:solidFill>
                      <a:srgbClr val="1E3A6E"/>
                    </a:solidFill>
                  </a:tcPr>
                </a:tc>
                <a:tc>
                  <a:txBody>
                    <a:bodyPr wrap="square"/>
                    <a:lstStyle/>
                    <a:p>
                      <a:pPr algn="l"/>
                      <a:r>
                        <a:rPr sz="1000" b="1">
                          <a:solidFill>
                            <a:srgbClr val="FFFFFF"/>
                          </a:solidFill>
                          <a:latin typeface="Calibri"/>
                        </a:rPr>
                        <a:t>Rule</a:t>
                      </a:r>
                    </a:p>
                  </a:txBody>
                  <a:tcPr marL="82296" marR="64008" marT="32004" marB="32004" anchor="ctr">
                    <a:solidFill>
                      <a:srgbClr val="1E3A6E"/>
                    </a:solidFill>
                  </a:tcPr>
                </a:tc>
                <a:tc>
                  <a:txBody>
                    <a:bodyPr wrap="square"/>
                    <a:lstStyle/>
                    <a:p>
                      <a:pPr algn="l"/>
                      <a:r>
                        <a:rPr sz="1000" b="1">
                          <a:solidFill>
                            <a:srgbClr val="FFFFFF"/>
                          </a:solidFill>
                          <a:latin typeface="Calibri"/>
                        </a:rPr>
                        <a:t>In one sentence</a:t>
                      </a:r>
                    </a:p>
                  </a:txBody>
                  <a:tcPr marL="82296" marR="64008" marT="32004" marB="32004" anchor="ctr">
                    <a:solidFill>
                      <a:srgbClr val="1E3A6E"/>
                    </a:solidFill>
                  </a:tcPr>
                </a:tc>
                <a:tc>
                  <a:txBody>
                    <a:bodyPr wrap="square"/>
                    <a:lstStyle/>
                    <a:p>
                      <a:pPr algn="l"/>
                      <a:r>
                        <a:rPr sz="1000" b="1">
                          <a:solidFill>
                            <a:srgbClr val="FFFFFF"/>
                          </a:solidFill>
                          <a:latin typeface="Calibri"/>
                        </a:rPr>
                        <a:t>Enforced by</a:t>
                      </a:r>
                    </a:p>
                  </a:txBody>
                  <a:tcPr marL="82296" marR="64008" marT="32004" marB="32004" anchor="ctr">
                    <a:solidFill>
                      <a:srgbClr val="1E3A6E"/>
                    </a:solidFill>
                  </a:tcPr>
                </a:tc>
              </a:tr>
              <a:tr h="470128">
                <a:tc>
                  <a:txBody>
                    <a:bodyPr wrap="square"/>
                    <a:lstStyle/>
                    <a:p>
                      <a:pPr algn="l"/>
                      <a:r>
                        <a:rPr sz="950" b="1">
                          <a:solidFill>
                            <a:srgbClr val="1E3A6E"/>
                          </a:solidFill>
                          <a:latin typeface="Calibri"/>
                        </a:rPr>
                        <a:t>R1</a:t>
                      </a:r>
                    </a:p>
                  </a:txBody>
                  <a:tcPr marL="82296" marR="64008" marT="32004" marB="32004" anchor="ctr">
                    <a:solidFill>
                      <a:srgbClr val="FFFFFF"/>
                    </a:solidFill>
                  </a:tcPr>
                </a:tc>
                <a:tc>
                  <a:txBody>
                    <a:bodyPr wrap="square"/>
                    <a:lstStyle/>
                    <a:p>
                      <a:pPr algn="l"/>
                      <a:r>
                        <a:rPr sz="950" b="0">
                          <a:solidFill>
                            <a:srgbClr val="0E1726"/>
                          </a:solidFill>
                          <a:latin typeface="Calibri"/>
                        </a:rPr>
                        <a:t>One-way dependencies</a:t>
                      </a:r>
                    </a:p>
                  </a:txBody>
                  <a:tcPr marL="82296" marR="64008" marT="32004" marB="32004" anchor="ctr">
                    <a:solidFill>
                      <a:srgbClr val="FFFFFF"/>
                    </a:solidFill>
                  </a:tcPr>
                </a:tc>
                <a:tc>
                  <a:txBody>
                    <a:bodyPr wrap="square"/>
                    <a:lstStyle/>
                    <a:p>
                      <a:pPr algn="l"/>
                      <a:r>
                        <a:rPr sz="950" b="0">
                          <a:solidFill>
                            <a:srgbClr val="0E1726"/>
                          </a:solidFill>
                          <a:latin typeface="Calibri"/>
                        </a:rPr>
                        <a:t>A crate depends on a lower layer or its own; never upward, never on a pack or on tooling; acyclic</a:t>
                      </a:r>
                    </a:p>
                  </a:txBody>
                  <a:tcPr marL="82296" marR="64008" marT="32004" marB="32004" anchor="ctr">
                    <a:solidFill>
                      <a:srgbClr val="FFFFFF"/>
                    </a:solidFill>
                  </a:tcPr>
                </a:tc>
                <a:tc>
                  <a:txBody>
                    <a:bodyPr wrap="square"/>
                    <a:lstStyle/>
                    <a:p>
                      <a:pPr algn="l"/>
                      <a:r>
                        <a:rPr sz="950" b="0">
                          <a:solidFill>
                            <a:srgbClr val="0E1726"/>
                          </a:solidFill>
                          <a:latin typeface="Calibri"/>
                        </a:rPr>
                        <a:t>`check-layers`</a:t>
                      </a:r>
                    </a:p>
                  </a:txBody>
                  <a:tcPr marL="82296" marR="64008" marT="32004" marB="32004" anchor="ctr">
                    <a:solidFill>
                      <a:srgbClr val="FFFFFF"/>
                    </a:solidFill>
                  </a:tcPr>
                </a:tc>
              </a:tr>
              <a:tr h="365760">
                <a:tc>
                  <a:txBody>
                    <a:bodyPr wrap="square"/>
                    <a:lstStyle/>
                    <a:p>
                      <a:pPr algn="l"/>
                      <a:r>
                        <a:rPr sz="950" b="1">
                          <a:solidFill>
                            <a:srgbClr val="1E3A6E"/>
                          </a:solidFill>
                          <a:latin typeface="Calibri"/>
                        </a:rPr>
                        <a:t>R2</a:t>
                      </a:r>
                    </a:p>
                  </a:txBody>
                  <a:tcPr marL="82296" marR="64008" marT="32004" marB="32004" anchor="ctr">
                    <a:solidFill>
                      <a:srgbClr val="FBFAF7"/>
                    </a:solidFill>
                  </a:tcPr>
                </a:tc>
                <a:tc>
                  <a:txBody>
                    <a:bodyPr wrap="square"/>
                    <a:lstStyle/>
                    <a:p>
                      <a:pPr algn="l"/>
                      <a:r>
                        <a:rPr sz="950" b="0">
                          <a:solidFill>
                            <a:srgbClr val="0E1726"/>
                          </a:solidFill>
                          <a:latin typeface="Calibri"/>
                        </a:rPr>
                        <a:t>Nothing ships unreached</a:t>
                      </a:r>
                    </a:p>
                  </a:txBody>
                  <a:tcPr marL="82296" marR="64008" marT="32004" marB="32004" anchor="ctr">
                    <a:solidFill>
                      <a:srgbClr val="FBFAF7"/>
                    </a:solidFill>
                  </a:tcPr>
                </a:tc>
                <a:tc>
                  <a:txBody>
                    <a:bodyPr wrap="square"/>
                    <a:lstStyle/>
                    <a:p>
                      <a:pPr algn="l"/>
                      <a:r>
                        <a:rPr sz="950" b="0">
                          <a:solidFill>
                            <a:srgbClr val="0E1726"/>
                          </a:solidFill>
                          <a:latin typeface="Calibri"/>
                        </a:rPr>
                        <a:t>Every crate is reachable from a shipping binary, or listed with a milestone and a reason</a:t>
                      </a:r>
                    </a:p>
                  </a:txBody>
                  <a:tcPr marL="82296" marR="64008" marT="32004" marB="32004" anchor="ctr">
                    <a:solidFill>
                      <a:srgbClr val="FBFAF7"/>
                    </a:solidFill>
                  </a:tcPr>
                </a:tc>
                <a:tc>
                  <a:txBody>
                    <a:bodyPr wrap="square"/>
                    <a:lstStyle/>
                    <a:p>
                      <a:pPr algn="l"/>
                      <a:r>
                        <a:rPr sz="950" b="0">
                          <a:solidFill>
                            <a:srgbClr val="0E1726"/>
                          </a:solidFill>
                          <a:latin typeface="Calibri"/>
                        </a:rPr>
                        <a:t>`check-surfaces`</a:t>
                      </a:r>
                    </a:p>
                  </a:txBody>
                  <a:tcPr marL="82296" marR="64008" marT="32004" marB="32004" anchor="ctr">
                    <a:solidFill>
                      <a:srgbClr val="FBFAF7"/>
                    </a:solidFill>
                  </a:tcPr>
                </a:tc>
              </a:tr>
              <a:tr h="365760">
                <a:tc>
                  <a:txBody>
                    <a:bodyPr wrap="square"/>
                    <a:lstStyle/>
                    <a:p>
                      <a:pPr algn="l"/>
                      <a:r>
                        <a:rPr sz="950" b="1">
                          <a:solidFill>
                            <a:srgbClr val="1E3A6E"/>
                          </a:solidFill>
                          <a:latin typeface="Calibri"/>
                        </a:rPr>
                        <a:t>R3</a:t>
                      </a:r>
                    </a:p>
                  </a:txBody>
                  <a:tcPr marL="82296" marR="64008" marT="32004" marB="32004" anchor="ctr">
                    <a:solidFill>
                      <a:srgbClr val="FFFFFF"/>
                    </a:solidFill>
                  </a:tcPr>
                </a:tc>
                <a:tc>
                  <a:txBody>
                    <a:bodyPr wrap="square"/>
                    <a:lstStyle/>
                    <a:p>
                      <a:pPr algn="l"/>
                      <a:r>
                        <a:rPr sz="950" b="0">
                          <a:solidFill>
                            <a:srgbClr val="0E1726"/>
                          </a:solidFill>
                          <a:latin typeface="Calibri"/>
                        </a:rPr>
                        <a:t>One writer to a warehouse</a:t>
                      </a:r>
                    </a:p>
                  </a:txBody>
                  <a:tcPr marL="82296" marR="64008" marT="32004" marB="32004" anchor="ctr">
                    <a:solidFill>
                      <a:srgbClr val="FFFFFF"/>
                    </a:solidFill>
                  </a:tcPr>
                </a:tc>
                <a:tc>
                  <a:txBody>
                    <a:bodyPr wrap="square"/>
                    <a:lstStyle/>
                    <a:p>
                      <a:pPr algn="l"/>
                      <a:r>
                        <a:rPr sz="950" b="0">
                          <a:solidFill>
                            <a:srgbClr val="0E1726"/>
                          </a:solidFill>
                          <a:latin typeface="Calibri"/>
                        </a:rPr>
                        <a:t>Only the publish and maintenance crates may write or commit --- **tests included**</a:t>
                      </a:r>
                    </a:p>
                  </a:txBody>
                  <a:tcPr marL="82296" marR="64008" marT="32004" marB="32004" anchor="ctr">
                    <a:solidFill>
                      <a:srgbClr val="FFFFFF"/>
                    </a:solidFill>
                  </a:tcPr>
                </a:tc>
                <a:tc>
                  <a:txBody>
                    <a:bodyPr wrap="square"/>
                    <a:lstStyle/>
                    <a:p>
                      <a:pPr algn="l"/>
                      <a:r>
                        <a:rPr sz="950" b="0">
                          <a:solidFill>
                            <a:srgbClr val="0E1726"/>
                          </a:solidFill>
                          <a:latin typeface="Calibri"/>
                        </a:rPr>
                        <a:t>`check-writers`</a:t>
                      </a:r>
                    </a:p>
                  </a:txBody>
                  <a:tcPr marL="82296" marR="64008" marT="32004" marB="32004" anchor="ctr">
                    <a:solidFill>
                      <a:srgbClr val="FFFFFF"/>
                    </a:solidFill>
                  </a:tcPr>
                </a:tc>
              </a:tr>
              <a:tr h="470128">
                <a:tc>
                  <a:txBody>
                    <a:bodyPr wrap="square"/>
                    <a:lstStyle/>
                    <a:p>
                      <a:pPr algn="l"/>
                      <a:r>
                        <a:rPr sz="950" b="1">
                          <a:solidFill>
                            <a:srgbClr val="1E3A6E"/>
                          </a:solidFill>
                          <a:latin typeface="Calibri"/>
                        </a:rPr>
                        <a:t>R4</a:t>
                      </a:r>
                    </a:p>
                  </a:txBody>
                  <a:tcPr marL="82296" marR="64008" marT="32004" marB="32004" anchor="ctr">
                    <a:solidFill>
                      <a:srgbClr val="FBFAF7"/>
                    </a:solidFill>
                  </a:tcPr>
                </a:tc>
                <a:tc>
                  <a:txBody>
                    <a:bodyPr wrap="square"/>
                    <a:lstStyle/>
                    <a:p>
                      <a:pPr algn="l"/>
                      <a:r>
                        <a:rPr sz="950" b="0">
                          <a:solidFill>
                            <a:srgbClr val="0E1726"/>
                          </a:solidFill>
                          <a:latin typeface="Calibri"/>
                        </a:rPr>
                        <a:t>Visible only when durable</a:t>
                      </a:r>
                    </a:p>
                  </a:txBody>
                  <a:tcPr marL="82296" marR="64008" marT="32004" marB="32004" anchor="ctr">
                    <a:solidFill>
                      <a:srgbClr val="FBFAF7"/>
                    </a:solidFill>
                  </a:tcPr>
                </a:tc>
                <a:tc>
                  <a:txBody>
                    <a:bodyPr wrap="square"/>
                    <a:lstStyle/>
                    <a:p>
                      <a:pPr algn="l"/>
                      <a:r>
                        <a:rPr sz="950" b="0">
                          <a:solidFill>
                            <a:srgbClr val="0E1726"/>
                          </a:solidFill>
                          <a:latin typeface="Calibri"/>
                        </a:rPr>
                        <a:t>Publish stages and renames; every writer a commit points at syncs its bytes **and** its directory entry</a:t>
                      </a:r>
                    </a:p>
                  </a:txBody>
                  <a:tcPr marL="82296" marR="64008" marT="32004" marB="32004" anchor="ctr">
                    <a:solidFill>
                      <a:srgbClr val="FBFAF7"/>
                    </a:solidFill>
                  </a:tcPr>
                </a:tc>
                <a:tc>
                  <a:txBody>
                    <a:bodyPr wrap="square"/>
                    <a:lstStyle/>
                    <a:p>
                      <a:pPr algn="l"/>
                      <a:r>
                        <a:rPr sz="950" b="0">
                          <a:solidFill>
                            <a:srgbClr val="0E1726"/>
                          </a:solidFill>
                          <a:latin typeface="Calibri"/>
                        </a:rPr>
                        <a:t>`check-atomic-writes`, `check-durability`</a:t>
                      </a:r>
                    </a:p>
                  </a:txBody>
                  <a:tcPr marL="82296" marR="64008" marT="32004" marB="32004" anchor="ctr">
                    <a:solidFill>
                      <a:srgbClr val="FBFAF7"/>
                    </a:solidFill>
                  </a:tcPr>
                </a:tc>
              </a:tr>
              <a:tr h="470128">
                <a:tc>
                  <a:txBody>
                    <a:bodyPr wrap="square"/>
                    <a:lstStyle/>
                    <a:p>
                      <a:pPr algn="l"/>
                      <a:r>
                        <a:rPr sz="950" b="1">
                          <a:solidFill>
                            <a:srgbClr val="1E3A6E"/>
                          </a:solidFill>
                          <a:latin typeface="Calibri"/>
                        </a:rPr>
                        <a:t>R5</a:t>
                      </a:r>
                    </a:p>
                  </a:txBody>
                  <a:tcPr marL="82296" marR="64008" marT="32004" marB="32004" anchor="ctr">
                    <a:solidFill>
                      <a:srgbClr val="FFFFFF"/>
                    </a:solidFill>
                  </a:tcPr>
                </a:tc>
                <a:tc>
                  <a:txBody>
                    <a:bodyPr wrap="square"/>
                    <a:lstStyle/>
                    <a:p>
                      <a:pPr algn="l"/>
                      <a:r>
                        <a:rPr sz="950" b="0">
                          <a:solidFill>
                            <a:srgbClr val="0E1726"/>
                          </a:solidFill>
                          <a:latin typeface="Calibri"/>
                        </a:rPr>
                        <a:t>No caller data in logs</a:t>
                      </a:r>
                    </a:p>
                  </a:txBody>
                  <a:tcPr marL="82296" marR="64008" marT="32004" marB="32004" anchor="ctr">
                    <a:solidFill>
                      <a:srgbClr val="FFFFFF"/>
                    </a:solidFill>
                  </a:tcPr>
                </a:tc>
                <a:tc>
                  <a:txBody>
                    <a:bodyPr wrap="square"/>
                    <a:lstStyle/>
                    <a:p>
                      <a:pPr algn="l"/>
                      <a:r>
                        <a:rPr sz="950" b="0">
                          <a:solidFill>
                            <a:srgbClr val="0E1726"/>
                          </a:solidFill>
                          <a:latin typeface="Calibri"/>
                        </a:rPr>
                        <a:t>No log statement records what a caller supplied, and an instrumented function must skip its arguments</a:t>
                      </a:r>
                    </a:p>
                  </a:txBody>
                  <a:tcPr marL="82296" marR="64008" marT="32004" marB="32004" anchor="ctr">
                    <a:solidFill>
                      <a:srgbClr val="FFFFFF"/>
                    </a:solidFill>
                  </a:tcPr>
                </a:tc>
                <a:tc>
                  <a:txBody>
                    <a:bodyPr wrap="square"/>
                    <a:lstStyle/>
                    <a:p>
                      <a:pPr algn="l"/>
                      <a:r>
                        <a:rPr sz="950" b="0">
                          <a:solidFill>
                            <a:srgbClr val="0E1726"/>
                          </a:solidFill>
                          <a:latin typeface="Calibri"/>
                        </a:rPr>
                        <a:t>`check-logging`</a:t>
                      </a:r>
                    </a:p>
                  </a:txBody>
                  <a:tcPr marL="82296" marR="64008" marT="32004" marB="32004" anchor="ctr">
                    <a:solidFill>
                      <a:srgbClr val="FFFFFF"/>
                    </a:solidFill>
                  </a:tcPr>
                </a:tc>
              </a:tr>
              <a:tr h="470128">
                <a:tc>
                  <a:txBody>
                    <a:bodyPr wrap="square"/>
                    <a:lstStyle/>
                    <a:p>
                      <a:pPr algn="l"/>
                      <a:r>
                        <a:rPr sz="950" b="1">
                          <a:solidFill>
                            <a:srgbClr val="1E3A6E"/>
                          </a:solidFill>
                          <a:latin typeface="Calibri"/>
                        </a:rPr>
                        <a:t>R6</a:t>
                      </a:r>
                    </a:p>
                  </a:txBody>
                  <a:tcPr marL="82296" marR="64008" marT="32004" marB="32004" anchor="ctr">
                    <a:solidFill>
                      <a:srgbClr val="FBFAF7"/>
                    </a:solidFill>
                  </a:tcPr>
                </a:tc>
                <a:tc>
                  <a:txBody>
                    <a:bodyPr wrap="square"/>
                    <a:lstStyle/>
                    <a:p>
                      <a:pPr algn="l"/>
                      <a:r>
                        <a:rPr sz="950" b="0">
                          <a:solidFill>
                            <a:srgbClr val="0E1726"/>
                          </a:solidFill>
                          <a:latin typeface="Calibri"/>
                        </a:rPr>
                        <a:t>Every number has a producer</a:t>
                      </a:r>
                    </a:p>
                  </a:txBody>
                  <a:tcPr marL="82296" marR="64008" marT="32004" marB="32004" anchor="ctr">
                    <a:solidFill>
                      <a:srgbClr val="FBFAF7"/>
                    </a:solidFill>
                  </a:tcPr>
                </a:tc>
                <a:tc>
                  <a:txBody>
                    <a:bodyPr wrap="square"/>
                    <a:lstStyle/>
                    <a:p>
                      <a:pPr algn="l"/>
                      <a:r>
                        <a:rPr sz="950" b="0">
                          <a:solidFill>
                            <a:srgbClr val="0E1726"/>
                          </a:solidFill>
                          <a:latin typeface="Calibri"/>
                        </a:rPr>
                        <a:t>A speed ratio in any document names a resolving benchmark, a recorded measurement, or why it cannot be re-run</a:t>
                      </a:r>
                    </a:p>
                  </a:txBody>
                  <a:tcPr marL="82296" marR="64008" marT="32004" marB="32004" anchor="ctr">
                    <a:solidFill>
                      <a:srgbClr val="FBFAF7"/>
                    </a:solidFill>
                  </a:tcPr>
                </a:tc>
                <a:tc>
                  <a:txBody>
                    <a:bodyPr wrap="square"/>
                    <a:lstStyle/>
                    <a:p>
                      <a:pPr algn="l"/>
                      <a:r>
                        <a:rPr sz="950" b="0">
                          <a:solidFill>
                            <a:srgbClr val="0E1726"/>
                          </a:solidFill>
                          <a:latin typeface="Calibri"/>
                        </a:rPr>
                        <a:t>`check-benchmarks`</a:t>
                      </a:r>
                    </a:p>
                  </a:txBody>
                  <a:tcPr marL="82296" marR="64008" marT="32004" marB="32004" anchor="ctr">
                    <a:solidFill>
                      <a:srgbClr val="FBFAF7"/>
                    </a:solidFill>
                  </a:tcPr>
                </a:tc>
              </a:tr>
              <a:tr h="470128">
                <a:tc>
                  <a:txBody>
                    <a:bodyPr wrap="square"/>
                    <a:lstStyle/>
                    <a:p>
                      <a:pPr algn="l"/>
                      <a:r>
                        <a:rPr sz="950" b="1">
                          <a:solidFill>
                            <a:srgbClr val="1E3A6E"/>
                          </a:solidFill>
                          <a:latin typeface="Calibri"/>
                        </a:rPr>
                        <a:t>R7</a:t>
                      </a:r>
                    </a:p>
                  </a:txBody>
                  <a:tcPr marL="82296" marR="64008" marT="32004" marB="32004" anchor="ctr">
                    <a:solidFill>
                      <a:srgbClr val="FFFFFF"/>
                    </a:solidFill>
                  </a:tcPr>
                </a:tc>
                <a:tc>
                  <a:txBody>
                    <a:bodyPr wrap="square"/>
                    <a:lstStyle/>
                    <a:p>
                      <a:pPr algn="l"/>
                      <a:r>
                        <a:rPr sz="950" b="0">
                          <a:solidFill>
                            <a:srgbClr val="0E1726"/>
                          </a:solidFill>
                          <a:latin typeface="Calibri"/>
                        </a:rPr>
                        <a:t>No paper-only catalogue entry</a:t>
                      </a:r>
                    </a:p>
                  </a:txBody>
                  <a:tcPr marL="82296" marR="64008" marT="32004" marB="32004" anchor="ctr">
                    <a:solidFill>
                      <a:srgbClr val="FFFFFF"/>
                    </a:solidFill>
                  </a:tcPr>
                </a:tc>
                <a:tc>
                  <a:txBody>
                    <a:bodyPr wrap="square"/>
                    <a:lstStyle/>
                    <a:p>
                      <a:pPr algn="l"/>
                      <a:r>
                        <a:rPr sz="950" b="0">
                          <a:solidFill>
                            <a:srgbClr val="0E1726"/>
                          </a:solidFill>
                          <a:latin typeface="Calibri"/>
                        </a:rPr>
                        <a:t>A documented error code is constructible or declared unreachable with a printed reason; every metric is recorded</a:t>
                      </a:r>
                    </a:p>
                  </a:txBody>
                  <a:tcPr marL="82296" marR="64008" marT="32004" marB="32004" anchor="ctr">
                    <a:solidFill>
                      <a:srgbClr val="FFFFFF"/>
                    </a:solidFill>
                  </a:tcPr>
                </a:tc>
                <a:tc>
                  <a:txBody>
                    <a:bodyPr wrap="square"/>
                    <a:lstStyle/>
                    <a:p>
                      <a:pPr algn="l"/>
                      <a:r>
                        <a:rPr sz="950" b="0">
                          <a:solidFill>
                            <a:srgbClr val="0E1726"/>
                          </a:solidFill>
                          <a:latin typeface="Calibri"/>
                        </a:rPr>
                        <a:t>`check-catalogues`</a:t>
                      </a:r>
                    </a:p>
                  </a:txBody>
                  <a:tcPr marL="82296" marR="64008" marT="32004" marB="32004" anchor="ctr">
                    <a:solidFill>
                      <a:srgbClr val="FFFFFF"/>
                    </a:solidFill>
                  </a:tcPr>
                </a:tc>
              </a:tr>
              <a:tr h="470128">
                <a:tc>
                  <a:txBody>
                    <a:bodyPr wrap="square"/>
                    <a:lstStyle/>
                    <a:p>
                      <a:pPr algn="l"/>
                      <a:r>
                        <a:rPr sz="950" b="1">
                          <a:solidFill>
                            <a:srgbClr val="1E3A6E"/>
                          </a:solidFill>
                          <a:latin typeface="Calibri"/>
                        </a:rPr>
                        <a:t>R8</a:t>
                      </a:r>
                    </a:p>
                  </a:txBody>
                  <a:tcPr marL="82296" marR="64008" marT="32004" marB="32004" anchor="ctr">
                    <a:solidFill>
                      <a:srgbClr val="FBFAF7"/>
                    </a:solidFill>
                  </a:tcPr>
                </a:tc>
                <a:tc>
                  <a:txBody>
                    <a:bodyPr wrap="square"/>
                    <a:lstStyle/>
                    <a:p>
                      <a:pPr algn="l"/>
                      <a:r>
                        <a:rPr sz="950" b="0">
                          <a:solidFill>
                            <a:srgbClr val="0E1726"/>
                          </a:solidFill>
                          <a:latin typeface="Calibri"/>
                        </a:rPr>
                        <a:t>Grace outlives drain</a:t>
                      </a:r>
                    </a:p>
                  </a:txBody>
                  <a:tcPr marL="82296" marR="64008" marT="32004" marB="32004" anchor="ctr">
                    <a:solidFill>
                      <a:srgbClr val="FBFAF7"/>
                    </a:solidFill>
                  </a:tcPr>
                </a:tc>
                <a:tc>
                  <a:txBody>
                    <a:bodyPr wrap="square"/>
                    <a:lstStyle/>
                    <a:p>
                      <a:pPr algn="l"/>
                      <a:r>
                        <a:rPr sz="950" b="0">
                          <a:solidFill>
                            <a:srgbClr val="0E1726"/>
                          </a:solidFill>
                          <a:latin typeface="Calibri"/>
                        </a:rPr>
                        <a:t>A deployment manifest's termination grace must exceed the wire door's drain deadline</a:t>
                      </a:r>
                    </a:p>
                  </a:txBody>
                  <a:tcPr marL="82296" marR="64008" marT="32004" marB="32004" anchor="ctr">
                    <a:solidFill>
                      <a:srgbClr val="FBFAF7"/>
                    </a:solidFill>
                  </a:tcPr>
                </a:tc>
                <a:tc>
                  <a:txBody>
                    <a:bodyPr wrap="square"/>
                    <a:lstStyle/>
                    <a:p>
                      <a:pPr algn="l"/>
                      <a:r>
                        <a:rPr sz="950" b="0">
                          <a:solidFill>
                            <a:srgbClr val="0E1726"/>
                          </a:solidFill>
                          <a:latin typeface="Calibri"/>
                        </a:rPr>
                        <a:t>`check-package`, which parses the constant out of the source</a:t>
                      </a:r>
                    </a:p>
                  </a:txBody>
                  <a:tcPr marL="82296" marR="64008" marT="32004" marB="32004" anchor="ctr">
                    <a:solidFill>
                      <a:srgbClr val="FBFAF7"/>
                    </a:solidFill>
                  </a:tcPr>
                </a:tc>
              </a:tr>
            </a:tbl>
          </a:graphicData>
        </a:graphic>
      </p:graphicFrame>
      <p:sp>
        <p:nvSpPr>
          <p:cNvPr id="11" name="Rectangle 10"/>
          <p:cNvSpPr/>
          <p:nvPr/>
        </p:nvSpPr>
        <p:spPr>
          <a:xfrm>
            <a:off x="777240" y="5435955"/>
            <a:ext cx="10637215" cy="86868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5435955"/>
            <a:ext cx="41148" cy="86868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5554827"/>
            <a:ext cx="10180015" cy="64922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1E3A6E"/>
                </a:solidFill>
                <a:latin typeface="Calibri"/>
              </a:rPr>
              <a:t>The gate table in the testing document is generated, not written. </a:t>
            </a:r>
            <a:r>
              <a:rPr sz="1050" b="0" i="0">
                <a:solidFill>
                  <a:srgbClr val="0E1726"/>
                </a:solidFill>
                <a:latin typeface="Calibri"/>
              </a:rPr>
              <a:t>`cargo xtask gate-table` prints it from the dispatch arms, and `check-docs` fails when the document disagrees with what that prints --- which is how three documents came to say twenty checks when there were twenty-seven, and how they stopped.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ARCHITECTURE · WHERE IT MEETS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The seams, and what crosses each</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4 · The shape of the whole 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15</a:t>
            </a:r>
          </a:p>
        </p:txBody>
      </p:sp>
      <p:sp>
        <p:nvSpPr>
          <p:cNvPr id="10" name="Rectangle 9"/>
          <p:cNvSpPr/>
          <p:nvPr/>
        </p:nvSpPr>
        <p:spPr>
          <a:xfrm>
            <a:off x="777240" y="1353312"/>
            <a:ext cx="10637215" cy="1051560"/>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05156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60120" y="1453896"/>
            <a:ext cx="2423160" cy="777240"/>
          </a:xfrm>
          <a:prstGeom prst="rect">
            <a:avLst/>
          </a:prstGeom>
          <a:noFill/>
        </p:spPr>
        <p:txBody>
          <a:bodyPr wrap="square" lIns="0" rIns="0" tIns="0" bIns="0" anchor="t">
            <a:spAutoFit/>
          </a:bodyPr>
          <a:lstStyle/>
          <a:p>
            <a:pPr algn="l">
              <a:lnSpc>
                <a:spcPct val="112000"/>
              </a:lnSpc>
              <a:spcBef>
                <a:spcPts val="0"/>
              </a:spcBef>
              <a:spcAft>
                <a:spcPts val="200"/>
              </a:spcAft>
            </a:pPr>
            <a:r>
              <a:rPr sz="1150" b="1" i="0">
                <a:solidFill>
                  <a:srgbClr val="1E3A6E"/>
                </a:solidFill>
                <a:latin typeface="Georgia"/>
              </a:rPr>
              <a:t>Cube ↔ read path</a:t>
            </a:r>
          </a:p>
          <a:p>
            <a:pPr>
              <a:lnSpc>
                <a:spcPct val="115000"/>
              </a:lnSpc>
              <a:spcBef>
                <a:spcPts val="0"/>
              </a:spcBef>
              <a:spcAft>
                <a:spcPts val="0"/>
              </a:spcAft>
            </a:pPr>
            <a:r>
              <a:rPr sz="880" b="0" i="1">
                <a:solidFill>
                  <a:srgbClr val="1E3A6E"/>
                </a:solidFill>
                <a:latin typeface="Calibri"/>
              </a:rPr>
              <a:t>a secured session, not a second reader</a:t>
            </a:r>
          </a:p>
        </p:txBody>
      </p:sp>
      <p:sp>
        <p:nvSpPr>
          <p:cNvPr id="13" name="TextBox 12"/>
          <p:cNvSpPr txBox="1"/>
          <p:nvPr/>
        </p:nvSpPr>
        <p:spPr>
          <a:xfrm>
            <a:off x="3520440" y="1453896"/>
            <a:ext cx="7711135" cy="86868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444F60"/>
                </a:solidFill>
                <a:latin typeface="Calibri"/>
              </a:rPr>
              <a:t>Cube hydration calls `context.table(...)` on the caller's **already-secured** session and never opens a Parquet file. So a cube cell is filtered by the same wrapper that filters a plain `SELECT` --- one implementation of the rule, with no second one to disagree with it. It streams rather than collects, a fix worth 5.6 GB against 779 MB, and results re-enter SQL as ordinary table providers joinable in a `FROM` clause.</a:t>
            </a:r>
          </a:p>
        </p:txBody>
      </p:sp>
      <p:sp>
        <p:nvSpPr>
          <p:cNvPr id="14" name="Rectangle 13"/>
          <p:cNvSpPr/>
          <p:nvPr/>
        </p:nvSpPr>
        <p:spPr>
          <a:xfrm>
            <a:off x="777240" y="2487168"/>
            <a:ext cx="10637215" cy="1051560"/>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777240" y="2487168"/>
            <a:ext cx="41148" cy="105156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960120" y="2587751"/>
            <a:ext cx="2423160" cy="777240"/>
          </a:xfrm>
          <a:prstGeom prst="rect">
            <a:avLst/>
          </a:prstGeom>
          <a:noFill/>
        </p:spPr>
        <p:txBody>
          <a:bodyPr wrap="square" lIns="0" rIns="0" tIns="0" bIns="0" anchor="t">
            <a:spAutoFit/>
          </a:bodyPr>
          <a:lstStyle/>
          <a:p>
            <a:pPr algn="l">
              <a:lnSpc>
                <a:spcPct val="112000"/>
              </a:lnSpc>
              <a:spcBef>
                <a:spcPts val="0"/>
              </a:spcBef>
              <a:spcAft>
                <a:spcPts val="200"/>
              </a:spcAft>
            </a:pPr>
            <a:r>
              <a:rPr sz="1150" b="1" i="0">
                <a:solidFill>
                  <a:srgbClr val="1E3A6E"/>
                </a:solidFill>
                <a:latin typeface="Georgia"/>
              </a:rPr>
              <a:t>Maintenance ↔ read path</a:t>
            </a:r>
          </a:p>
          <a:p>
            <a:pPr>
              <a:lnSpc>
                <a:spcPct val="115000"/>
              </a:lnSpc>
              <a:spcBef>
                <a:spcPts val="0"/>
              </a:spcBef>
              <a:spcAft>
                <a:spcPts val="0"/>
              </a:spcAft>
            </a:pPr>
            <a:r>
              <a:rPr sz="880" b="0" i="1">
                <a:solidFill>
                  <a:srgbClr val="1E3A6E"/>
                </a:solidFill>
                <a:latin typeface="Calibri"/>
              </a:rPr>
              <a:t>three kinds of pin, all failing safe</a:t>
            </a:r>
          </a:p>
        </p:txBody>
      </p:sp>
      <p:sp>
        <p:nvSpPr>
          <p:cNvPr id="17" name="TextBox 16"/>
          <p:cNvSpPr txBox="1"/>
          <p:nvPr/>
        </p:nvSpPr>
        <p:spPr>
          <a:xfrm>
            <a:off x="3520440" y="2587751"/>
            <a:ext cx="7711135" cy="86868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444F60"/>
                </a:solidFill>
                <a:latin typeface="Calibri"/>
              </a:rPr>
              <a:t>A statement takes a **lease** around the resolve; the sweeper asks one question --- has every reader that started before this mark finished? --- against the **same** registry object, because two registries would let the sweeper consult one nobody announces into. A snapshot pins a *position*; a clone pins a *table version*. A merge never deletes: retirement needs the replacement's row count re-read from its own footer, no pin resolving to the input, and a grace period elapsed.</a:t>
            </a:r>
          </a:p>
        </p:txBody>
      </p:sp>
      <p:sp>
        <p:nvSpPr>
          <p:cNvPr id="18" name="Rectangle 17"/>
          <p:cNvSpPr/>
          <p:nvPr/>
        </p:nvSpPr>
        <p:spPr>
          <a:xfrm>
            <a:off x="777240" y="3621024"/>
            <a:ext cx="10637215" cy="1051560"/>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Rectangle 18"/>
          <p:cNvSpPr/>
          <p:nvPr/>
        </p:nvSpPr>
        <p:spPr>
          <a:xfrm>
            <a:off x="777240" y="3621024"/>
            <a:ext cx="41148" cy="105156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TextBox 19"/>
          <p:cNvSpPr txBox="1"/>
          <p:nvPr/>
        </p:nvSpPr>
        <p:spPr>
          <a:xfrm>
            <a:off x="960120" y="3721608"/>
            <a:ext cx="2423160" cy="777240"/>
          </a:xfrm>
          <a:prstGeom prst="rect">
            <a:avLst/>
          </a:prstGeom>
          <a:noFill/>
        </p:spPr>
        <p:txBody>
          <a:bodyPr wrap="square" lIns="0" rIns="0" tIns="0" bIns="0" anchor="t">
            <a:spAutoFit/>
          </a:bodyPr>
          <a:lstStyle/>
          <a:p>
            <a:pPr algn="l">
              <a:lnSpc>
                <a:spcPct val="112000"/>
              </a:lnSpc>
              <a:spcBef>
                <a:spcPts val="0"/>
              </a:spcBef>
              <a:spcAft>
                <a:spcPts val="200"/>
              </a:spcAft>
            </a:pPr>
            <a:r>
              <a:rPr sz="1150" b="1" i="0">
                <a:solidFill>
                  <a:srgbClr val="1E3A6E"/>
                </a:solidFill>
                <a:latin typeface="Georgia"/>
              </a:rPr>
              <a:t>Clone ↔ read path</a:t>
            </a:r>
          </a:p>
          <a:p>
            <a:pPr>
              <a:lnSpc>
                <a:spcPct val="115000"/>
              </a:lnSpc>
              <a:spcBef>
                <a:spcPts val="0"/>
              </a:spcBef>
              <a:spcAft>
                <a:spcPts val="0"/>
              </a:spcAft>
            </a:pPr>
            <a:r>
              <a:rPr sz="880" b="0" i="1">
                <a:solidFill>
                  <a:srgbClr val="1E3A6E"/>
                </a:solidFill>
                <a:latin typeface="Calibri"/>
              </a:rPr>
              <a:t>an ancestor walk, then two logs</a:t>
            </a:r>
          </a:p>
        </p:txBody>
      </p:sp>
      <p:sp>
        <p:nvSpPr>
          <p:cNvPr id="21" name="TextBox 20"/>
          <p:cNvSpPr txBox="1"/>
          <p:nvPr/>
        </p:nvSpPr>
        <p:spPr>
          <a:xfrm>
            <a:off x="3520440" y="3721608"/>
            <a:ext cx="7711135" cy="86868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444F60"/>
                </a:solidFill>
                <a:latin typeface="Calibri"/>
              </a:rPr>
              <a:t>A clone's log names none of the origin's files, so a read resolves the origin's live set at the pinned version and then the clone's own log. A clone of a clone would splice against a log naming nothing, so the walk **flattens the chain** to the first ancestor that holds files --- bounded at 64 against a hand-edited cycle. An empty file set is indistinguishable from version zero, so the presence of a *log* is the signal.</a:t>
            </a:r>
          </a:p>
        </p:txBody>
      </p:sp>
      <p:sp>
        <p:nvSpPr>
          <p:cNvPr id="22" name="Rectangle 21"/>
          <p:cNvSpPr/>
          <p:nvPr/>
        </p:nvSpPr>
        <p:spPr>
          <a:xfrm>
            <a:off x="777240" y="4754880"/>
            <a:ext cx="10637215" cy="1051560"/>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Rectangle 22"/>
          <p:cNvSpPr/>
          <p:nvPr/>
        </p:nvSpPr>
        <p:spPr>
          <a:xfrm>
            <a:off x="777240" y="4754880"/>
            <a:ext cx="41148" cy="105156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4" name="TextBox 23"/>
          <p:cNvSpPr txBox="1"/>
          <p:nvPr/>
        </p:nvSpPr>
        <p:spPr>
          <a:xfrm>
            <a:off x="960120" y="4855464"/>
            <a:ext cx="2423160" cy="777240"/>
          </a:xfrm>
          <a:prstGeom prst="rect">
            <a:avLst/>
          </a:prstGeom>
          <a:noFill/>
        </p:spPr>
        <p:txBody>
          <a:bodyPr wrap="square" lIns="0" rIns="0" tIns="0" bIns="0" anchor="t">
            <a:spAutoFit/>
          </a:bodyPr>
          <a:lstStyle/>
          <a:p>
            <a:pPr algn="l">
              <a:lnSpc>
                <a:spcPct val="112000"/>
              </a:lnSpc>
              <a:spcBef>
                <a:spcPts val="0"/>
              </a:spcBef>
              <a:spcAft>
                <a:spcPts val="200"/>
              </a:spcAft>
            </a:pPr>
            <a:r>
              <a:rPr sz="1150" b="1" i="0">
                <a:solidFill>
                  <a:srgbClr val="1E3A6E"/>
                </a:solidFill>
                <a:latin typeface="Georgia"/>
              </a:rPr>
              <a:t>The splice</a:t>
            </a:r>
          </a:p>
          <a:p>
            <a:pPr>
              <a:lnSpc>
                <a:spcPct val="115000"/>
              </a:lnSpc>
              <a:spcBef>
                <a:spcPts val="0"/>
              </a:spcBef>
              <a:spcAft>
                <a:spcPts val="0"/>
              </a:spcAft>
            </a:pPr>
            <a:r>
              <a:rPr sz="880" b="0" i="1">
                <a:solidFill>
                  <a:srgbClr val="1E3A6E"/>
                </a:solidFill>
                <a:latin typeface="Calibri"/>
              </a:rPr>
              <a:t>present, called, and given one interval</a:t>
            </a:r>
          </a:p>
        </p:txBody>
      </p:sp>
      <p:sp>
        <p:nvSpPr>
          <p:cNvPr id="25" name="TextBox 24"/>
          <p:cNvSpPr txBox="1"/>
          <p:nvPr/>
        </p:nvSpPr>
        <p:spPr>
          <a:xfrm>
            <a:off x="3520440" y="4855464"/>
            <a:ext cx="7711135" cy="86868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444F60"/>
                </a:solidFill>
                <a:latin typeface="Calibri"/>
              </a:rPr>
              <a:t>A greedy provably-minimal interval cover runs on **every query**, with a debug assertion that the chosen tiers cover the span exactly once. The server synthesises what it feeds in --- a single interval from zero to the target --- at seven call sites. The algorithm has never had more than one interval to cover, and the crate that would supply the second has zero dependents in the workspace, by design, gated to M9 and M11.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PATH · NINE STAGES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One SELECT, from socket to audit</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5 · What a statement does,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16</a:t>
            </a:r>
          </a:p>
        </p:txBody>
      </p:sp>
      <p:sp>
        <p:nvSpPr>
          <p:cNvPr id="10" name="Rectangle 9"/>
          <p:cNvSpPr/>
          <p:nvPr/>
        </p:nvSpPr>
        <p:spPr>
          <a:xfrm>
            <a:off x="777240" y="1353312"/>
            <a:ext cx="4467630" cy="1274536"/>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274536"/>
          </a:xfrm>
          <a:prstGeom prst="rect">
            <a:avLst/>
          </a:prstGeom>
          <a:solidFill>
            <a:srgbClr val="444F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4101870" cy="219456"/>
          </a:xfrm>
          <a:prstGeom prst="rect">
            <a:avLst/>
          </a:prstGeom>
          <a:noFill/>
        </p:spPr>
        <p:txBody>
          <a:bodyPr wrap="square" lIns="0" rIns="0" tIns="0" bIns="0" anchor="t">
            <a:spAutoFit/>
          </a:bodyPr>
          <a:lstStyle/>
          <a:p>
            <a:pPr algn="l">
              <a:spcBef>
                <a:spcPts val="0"/>
              </a:spcBef>
              <a:spcAft>
                <a:spcPts val="0"/>
              </a:spcAft>
            </a:pPr>
            <a:r>
              <a:rPr sz="900" b="1" i="0">
                <a:solidFill>
                  <a:srgbClr val="1E3A6E"/>
                </a:solidFill>
                <a:latin typeface="Calibri"/>
              </a:rPr>
              <a:t>the statement</a:t>
            </a:r>
          </a:p>
        </p:txBody>
      </p:sp>
      <p:sp>
        <p:nvSpPr>
          <p:cNvPr id="13" name="TextBox 12"/>
          <p:cNvSpPr txBox="1"/>
          <p:nvPr/>
        </p:nvSpPr>
        <p:spPr>
          <a:xfrm>
            <a:off x="978408" y="1746504"/>
            <a:ext cx="4101870" cy="799048"/>
          </a:xfrm>
          <a:prstGeom prst="rect">
            <a:avLst/>
          </a:prstGeom>
          <a:noFill/>
        </p:spPr>
        <p:txBody>
          <a:bodyPr wrap="square" lIns="0" rIns="0" tIns="0" bIns="0" anchor="t">
            <a:spAutoFit/>
          </a:bodyPr>
          <a:lstStyle/>
          <a:p>
            <a:pPr algn="l">
              <a:lnSpc>
                <a:spcPct val="134000"/>
              </a:lnSpc>
              <a:spcBef>
                <a:spcPts val="0"/>
              </a:spcBef>
              <a:spcAft>
                <a:spcPts val="0"/>
              </a:spcAft>
            </a:pPr>
            <a:r>
              <a:rPr sz="1100" b="0" i="0">
                <a:solidFill>
                  <a:srgbClr val="0E1726"/>
                </a:solidFill>
                <a:latin typeface="Consolas"/>
              </a:rPr>
              <a:t>SELECT region, sum(amount)</a:t>
            </a:r>
          </a:p>
          <a:p>
            <a:pPr>
              <a:lnSpc>
                <a:spcPct val="134000"/>
              </a:lnSpc>
              <a:spcBef>
                <a:spcPts val="0"/>
              </a:spcBef>
              <a:spcAft>
                <a:spcPts val="0"/>
              </a:spcAft>
            </a:pPr>
            <a:r>
              <a:rPr sz="1100" b="0" i="0">
                <a:solidFill>
                  <a:srgbClr val="0E1726"/>
                </a:solidFill>
                <a:latin typeface="Consolas"/>
              </a:rPr>
              <a:t>FROM sales.orders</a:t>
            </a:r>
          </a:p>
          <a:p>
            <a:pPr>
              <a:lnSpc>
                <a:spcPct val="134000"/>
              </a:lnSpc>
              <a:spcBef>
                <a:spcPts val="0"/>
              </a:spcBef>
              <a:spcAft>
                <a:spcPts val="0"/>
              </a:spcAft>
            </a:pPr>
            <a:r>
              <a:rPr sz="1100" b="0" i="0">
                <a:solidFill>
                  <a:srgbClr val="0E1726"/>
                </a:solidFill>
                <a:latin typeface="Consolas"/>
              </a:rPr>
              <a:t>GROUP BY 1;</a:t>
            </a:r>
          </a:p>
        </p:txBody>
      </p:sp>
      <p:sp>
        <p:nvSpPr>
          <p:cNvPr id="14" name="TextBox 13"/>
          <p:cNvSpPr txBox="1"/>
          <p:nvPr/>
        </p:nvSpPr>
        <p:spPr>
          <a:xfrm>
            <a:off x="5670358" y="1389888"/>
            <a:ext cx="5744096" cy="914400"/>
          </a:xfrm>
          <a:prstGeom prst="rect">
            <a:avLst/>
          </a:prstGeom>
          <a:noFill/>
        </p:spPr>
        <p:txBody>
          <a:bodyPr wrap="square" lIns="0" rIns="0" tIns="0" bIns="0" anchor="t">
            <a:spAutoFit/>
          </a:bodyPr>
          <a:lstStyle/>
          <a:p>
            <a:pPr algn="l">
              <a:lnSpc>
                <a:spcPct val="126000"/>
              </a:lnSpc>
              <a:spcBef>
                <a:spcPts val="0"/>
              </a:spcBef>
              <a:spcAft>
                <a:spcPts val="0"/>
              </a:spcAft>
            </a:pPr>
            <a:r>
              <a:rPr sz="1100" b="1" i="0">
                <a:solidFill>
                  <a:srgbClr val="1E3A6E"/>
                </a:solidFill>
                <a:latin typeface="Calibri"/>
              </a:rPr>
              <a:t>Every stage names a file. </a:t>
            </a:r>
            <a:r>
              <a:rPr sz="1100" b="0" i="0">
                <a:solidFill>
                  <a:srgbClr val="444F60"/>
                </a:solidFill>
                <a:latin typeface="Calibri"/>
              </a:rPr>
              <a:t>This is the slide the previous deck did not have, and the one an architect asks for first: not what the system contains, but what actually happens, in order, and where to go and read it.</a:t>
            </a:r>
          </a:p>
        </p:txBody>
      </p:sp>
      <p:graphicFrame>
        <p:nvGraphicFramePr>
          <p:cNvPr id="15" name="Table 14"/>
          <p:cNvGraphicFramePr>
            <a:graphicFrameLocks noGrp="1"/>
          </p:cNvGraphicFramePr>
          <p:nvPr/>
        </p:nvGraphicFramePr>
        <p:xfrm>
          <a:off x="777240" y="2404872"/>
          <a:ext cx="10637213" cy="3526383"/>
        </p:xfrm>
        <a:graphic>
          <a:graphicData uri="http://schemas.openxmlformats.org/drawingml/2006/table">
            <a:tbl>
              <a:tblPr firstRow="1">
                <a:tableStyleId>{5C22544A-7EE6-4342-B048-85BDC9FD1C3A}</a:tableStyleId>
              </a:tblPr>
              <a:tblGrid>
                <a:gridCol w="293440"/>
                <a:gridCol w="1237951"/>
                <a:gridCol w="1971552"/>
                <a:gridCol w="7134270"/>
              </a:tblGrid>
              <a:tr h="329184">
                <a:tc>
                  <a:txBody>
                    <a:bodyPr wrap="square"/>
                    <a:lstStyle/>
                    <a:p>
                      <a:pPr algn="l"/>
                      <a:r>
                        <a:rPr sz="950" b="1">
                          <a:solidFill>
                            <a:srgbClr val="FFFFFF"/>
                          </a:solidFill>
                          <a:latin typeface="Calibri"/>
                        </a:rPr>
                        <a:t>#</a:t>
                      </a:r>
                    </a:p>
                  </a:txBody>
                  <a:tcPr marL="82296" marR="64008" marT="32004" marB="32004" anchor="ctr">
                    <a:solidFill>
                      <a:srgbClr val="1E3A6E"/>
                    </a:solidFill>
                  </a:tcPr>
                </a:tc>
                <a:tc>
                  <a:txBody>
                    <a:bodyPr wrap="square"/>
                    <a:lstStyle/>
                    <a:p>
                      <a:pPr algn="l"/>
                      <a:r>
                        <a:rPr sz="950" b="1">
                          <a:solidFill>
                            <a:srgbClr val="FFFFFF"/>
                          </a:solidFill>
                          <a:latin typeface="Calibri"/>
                        </a:rPr>
                        <a:t>Stage</a:t>
                      </a:r>
                    </a:p>
                  </a:txBody>
                  <a:tcPr marL="82296" marR="64008" marT="32004" marB="32004" anchor="ctr">
                    <a:solidFill>
                      <a:srgbClr val="1E3A6E"/>
                    </a:solidFill>
                  </a:tcPr>
                </a:tc>
                <a:tc>
                  <a:txBody>
                    <a:bodyPr wrap="square"/>
                    <a:lstStyle/>
                    <a:p>
                      <a:pPr algn="l"/>
                      <a:r>
                        <a:rPr sz="950" b="1">
                          <a:solidFill>
                            <a:srgbClr val="FFFFFF"/>
                          </a:solidFill>
                          <a:latin typeface="Calibri"/>
                        </a:rPr>
                        <a:t>Where</a:t>
                      </a:r>
                    </a:p>
                  </a:txBody>
                  <a:tcPr marL="82296" marR="64008" marT="32004" marB="32004" anchor="ctr">
                    <a:solidFill>
                      <a:srgbClr val="1E3A6E"/>
                    </a:solidFill>
                  </a:tcPr>
                </a:tc>
                <a:tc>
                  <a:txBody>
                    <a:bodyPr wrap="square"/>
                    <a:lstStyle/>
                    <a:p>
                      <a:pPr algn="l"/>
                      <a:r>
                        <a:rPr sz="950" b="1">
                          <a:solidFill>
                            <a:srgbClr val="FFFFFF"/>
                          </a:solidFill>
                          <a:latin typeface="Calibri"/>
                        </a:rPr>
                        <a:t>What happens</a:t>
                      </a:r>
                    </a:p>
                  </a:txBody>
                  <a:tcPr marL="82296" marR="64008" marT="32004" marB="32004" anchor="ctr">
                    <a:solidFill>
                      <a:srgbClr val="1E3A6E"/>
                    </a:solidFill>
                  </a:tcPr>
                </a:tc>
              </a:tr>
              <a:tr h="453085">
                <a:tc>
                  <a:txBody>
                    <a:bodyPr wrap="square"/>
                    <a:lstStyle/>
                    <a:p>
                      <a:pPr algn="l"/>
                      <a:r>
                        <a:rPr sz="900" b="1">
                          <a:solidFill>
                            <a:srgbClr val="1E3A6E"/>
                          </a:solidFill>
                          <a:latin typeface="Calibri"/>
                        </a:rPr>
                        <a:t>1</a:t>
                      </a:r>
                    </a:p>
                  </a:txBody>
                  <a:tcPr marL="82296" marR="64008" marT="32004" marB="32004" anchor="ctr">
                    <a:solidFill>
                      <a:srgbClr val="FFFFFF"/>
                    </a:solidFill>
                  </a:tcPr>
                </a:tc>
                <a:tc>
                  <a:txBody>
                    <a:bodyPr wrap="square"/>
                    <a:lstStyle/>
                    <a:p>
                      <a:pPr algn="l"/>
                      <a:r>
                        <a:rPr sz="900" b="0">
                          <a:solidFill>
                            <a:srgbClr val="0E1726"/>
                          </a:solidFill>
                          <a:latin typeface="Calibri"/>
                        </a:rPr>
                        <a:t>Accept</a:t>
                      </a:r>
                    </a:p>
                  </a:txBody>
                  <a:tcPr marL="82296" marR="64008" marT="32004" marB="32004" anchor="ctr">
                    <a:solidFill>
                      <a:srgbClr val="FFFFFF"/>
                    </a:solidFill>
                  </a:tcPr>
                </a:tc>
                <a:tc>
                  <a:txBody>
                    <a:bodyPr wrap="square"/>
                    <a:lstStyle/>
                    <a:p>
                      <a:pPr algn="l"/>
                      <a:r>
                        <a:rPr sz="900" b="0">
                          <a:solidFill>
                            <a:srgbClr val="0E1726"/>
                          </a:solidFill>
                          <a:latin typeface="Calibri"/>
                        </a:rPr>
                        <a:t>`api-pg/src/listener.rs`</a:t>
                      </a:r>
                    </a:p>
                  </a:txBody>
                  <a:tcPr marL="82296" marR="64008" marT="32004" marB="32004" anchor="ctr">
                    <a:solidFill>
                      <a:srgbClr val="FFFFFF"/>
                    </a:solidFill>
                  </a:tcPr>
                </a:tc>
                <a:tc>
                  <a:txBody>
                    <a:bodyPr wrap="square"/>
                    <a:lstStyle/>
                    <a:p>
                      <a:pPr algn="l"/>
                      <a:r>
                        <a:rPr sz="900" b="0">
                          <a:solidFill>
                            <a:srgbClr val="0E1726"/>
                          </a:solidFill>
                          <a:latin typeface="Calibri"/>
                        </a:rPr>
                        <a:t>One task per connection. Past 1,024 the accept branch is *disabled*, so callers wait in the kernel backlog rather than being dropped</a:t>
                      </a:r>
                    </a:p>
                  </a:txBody>
                  <a:tcPr marL="82296" marR="64008" marT="32004" marB="32004" anchor="ctr">
                    <a:solidFill>
                      <a:srgbClr val="FFFFFF"/>
                    </a:solidFill>
                  </a:tcPr>
                </a:tc>
              </a:tr>
              <a:tr h="306324">
                <a:tc>
                  <a:txBody>
                    <a:bodyPr wrap="square"/>
                    <a:lstStyle/>
                    <a:p>
                      <a:pPr algn="l"/>
                      <a:r>
                        <a:rPr sz="900" b="1">
                          <a:solidFill>
                            <a:srgbClr val="1E3A6E"/>
                          </a:solidFill>
                          <a:latin typeface="Calibri"/>
                        </a:rPr>
                        <a:t>2</a:t>
                      </a:r>
                    </a:p>
                  </a:txBody>
                  <a:tcPr marL="82296" marR="64008" marT="32004" marB="32004" anchor="ctr">
                    <a:solidFill>
                      <a:srgbClr val="FBFAF7"/>
                    </a:solidFill>
                  </a:tcPr>
                </a:tc>
                <a:tc>
                  <a:txBody>
                    <a:bodyPr wrap="square"/>
                    <a:lstStyle/>
                    <a:p>
                      <a:pPr algn="l"/>
                      <a:r>
                        <a:rPr sz="900" b="0">
                          <a:solidFill>
                            <a:srgbClr val="0E1726"/>
                          </a:solidFill>
                          <a:latin typeface="Calibri"/>
                        </a:rPr>
                        <a:t>Protocol</a:t>
                      </a:r>
                    </a:p>
                  </a:txBody>
                  <a:tcPr marL="82296" marR="64008" marT="32004" marB="32004" anchor="ctr">
                    <a:solidFill>
                      <a:srgbClr val="FBFAF7"/>
                    </a:solidFill>
                  </a:tcPr>
                </a:tc>
                <a:tc>
                  <a:txBody>
                    <a:bodyPr wrap="square"/>
                    <a:lstStyle/>
                    <a:p>
                      <a:pPr algn="l"/>
                      <a:r>
                        <a:rPr sz="900" b="0">
                          <a:solidFill>
                            <a:srgbClr val="0E1726"/>
                          </a:solidFill>
                          <a:latin typeface="Calibri"/>
                        </a:rPr>
                        <a:t>`api-pg/src/session.rs`</a:t>
                      </a:r>
                    </a:p>
                  </a:txBody>
                  <a:tcPr marL="82296" marR="64008" marT="32004" marB="32004" anchor="ctr">
                    <a:solidFill>
                      <a:srgbClr val="FBFAF7"/>
                    </a:solidFill>
                  </a:tcPr>
                </a:tc>
                <a:tc>
                  <a:txBody>
                    <a:bodyPr wrap="square"/>
                    <a:lstStyle/>
                    <a:p>
                      <a:pPr algn="l"/>
                      <a:r>
                        <a:rPr sz="900" b="0">
                          <a:solidFill>
                            <a:srgbClr val="0E1726"/>
                          </a:solidFill>
                          <a:latin typeface="Calibri"/>
                        </a:rPr>
                        <a:t>A pure state machine --- no I/O, no planner. One `Handler` trait is the entire seam to the engine</a:t>
                      </a:r>
                    </a:p>
                  </a:txBody>
                  <a:tcPr marL="82296" marR="64008" marT="32004" marB="32004" anchor="ctr">
                    <a:solidFill>
                      <a:srgbClr val="FBFAF7"/>
                    </a:solidFill>
                  </a:tcPr>
                </a:tc>
              </a:tr>
              <a:tr h="453085">
                <a:tc>
                  <a:txBody>
                    <a:bodyPr wrap="square"/>
                    <a:lstStyle/>
                    <a:p>
                      <a:pPr algn="l"/>
                      <a:r>
                        <a:rPr sz="900" b="1">
                          <a:solidFill>
                            <a:srgbClr val="1E3A6E"/>
                          </a:solidFill>
                          <a:latin typeface="Calibri"/>
                        </a:rPr>
                        <a:t>3</a:t>
                      </a:r>
                    </a:p>
                  </a:txBody>
                  <a:tcPr marL="82296" marR="64008" marT="32004" marB="32004" anchor="ctr">
                    <a:solidFill>
                      <a:srgbClr val="FFFFFF"/>
                    </a:solidFill>
                  </a:tcPr>
                </a:tc>
                <a:tc>
                  <a:txBody>
                    <a:bodyPr wrap="square"/>
                    <a:lstStyle/>
                    <a:p>
                      <a:pPr algn="l"/>
                      <a:r>
                        <a:rPr sz="900" b="0">
                          <a:solidFill>
                            <a:srgbClr val="0E1726"/>
                          </a:solidFill>
                          <a:latin typeface="Calibri"/>
                        </a:rPr>
                        <a:t>Principal</a:t>
                      </a:r>
                    </a:p>
                  </a:txBody>
                  <a:tcPr marL="82296" marR="64008" marT="32004" marB="32004" anchor="ctr">
                    <a:solidFill>
                      <a:srgbClr val="FFFFFF"/>
                    </a:solidFill>
                  </a:tcPr>
                </a:tc>
                <a:tc>
                  <a:txBody>
                    <a:bodyPr wrap="square"/>
                    <a:lstStyle/>
                    <a:p>
                      <a:pPr algn="l"/>
                      <a:r>
                        <a:rPr sz="900" b="0">
                          <a:solidFill>
                            <a:srgbClr val="0E1726"/>
                          </a:solidFill>
                          <a:latin typeface="Calibri"/>
                        </a:rPr>
                        <a:t>`server/src/wiring.rs`</a:t>
                      </a:r>
                    </a:p>
                  </a:txBody>
                  <a:tcPr marL="82296" marR="64008" marT="32004" marB="32004" anchor="ctr">
                    <a:solidFill>
                      <a:srgbClr val="FFFFFF"/>
                    </a:solidFill>
                  </a:tcPr>
                </a:tc>
                <a:tc>
                  <a:txBody>
                    <a:bodyPr wrap="square"/>
                    <a:lstStyle/>
                    <a:p>
                      <a:pPr algn="l"/>
                      <a:r>
                        <a:rPr sz="900" b="0">
                          <a:solidFill>
                            <a:srgbClr val="0E1726"/>
                          </a:solidFill>
                          <a:latin typeface="Calibri"/>
                        </a:rPr>
                        <a:t>Empty subject refused; password verified; roles read from `server.users.&lt;name&gt;`. An unattributable connection cannot be audited</a:t>
                      </a:r>
                    </a:p>
                  </a:txBody>
                  <a:tcPr marL="82296" marR="64008" marT="32004" marB="32004" anchor="ctr">
                    <a:solidFill>
                      <a:srgbClr val="FFFFFF"/>
                    </a:solidFill>
                  </a:tcPr>
                </a:tc>
              </a:tr>
              <a:tr h="306324">
                <a:tc>
                  <a:txBody>
                    <a:bodyPr wrap="square"/>
                    <a:lstStyle/>
                    <a:p>
                      <a:pPr algn="l"/>
                      <a:r>
                        <a:rPr sz="900" b="1">
                          <a:solidFill>
                            <a:srgbClr val="1E3A6E"/>
                          </a:solidFill>
                          <a:latin typeface="Calibri"/>
                        </a:rPr>
                        <a:t>4</a:t>
                      </a:r>
                    </a:p>
                  </a:txBody>
                  <a:tcPr marL="82296" marR="64008" marT="32004" marB="32004" anchor="ctr">
                    <a:solidFill>
                      <a:srgbClr val="FBFAF7"/>
                    </a:solidFill>
                  </a:tcPr>
                </a:tc>
                <a:tc>
                  <a:txBody>
                    <a:bodyPr wrap="square"/>
                    <a:lstStyle/>
                    <a:p>
                      <a:pPr algn="l"/>
                      <a:r>
                        <a:rPr sz="900" b="0">
                          <a:solidFill>
                            <a:srgbClr val="0E1726"/>
                          </a:solidFill>
                          <a:latin typeface="Calibri"/>
                        </a:rPr>
                        <a:t>Pin, then admit</a:t>
                      </a:r>
                    </a:p>
                  </a:txBody>
                  <a:tcPr marL="82296" marR="64008" marT="32004" marB="32004" anchor="ctr">
                    <a:solidFill>
                      <a:srgbClr val="FBFAF7"/>
                    </a:solidFill>
                  </a:tcPr>
                </a:tc>
                <a:tc>
                  <a:txBody>
                    <a:bodyPr wrap="square"/>
                    <a:lstStyle/>
                    <a:p>
                      <a:pPr algn="l"/>
                      <a:r>
                        <a:rPr sz="900" b="0">
                          <a:solidFill>
                            <a:srgbClr val="0E1726"/>
                          </a:solidFill>
                          <a:latin typeface="Calibri"/>
                        </a:rPr>
                        <a:t>`sankhya-leases`</a:t>
                      </a:r>
                    </a:p>
                  </a:txBody>
                  <a:tcPr marL="82296" marR="64008" marT="32004" marB="32004" anchor="ctr">
                    <a:solidFill>
                      <a:srgbClr val="FBFAF7"/>
                    </a:solidFill>
                  </a:tcPr>
                </a:tc>
                <a:tc>
                  <a:txBody>
                    <a:bodyPr wrap="square"/>
                    <a:lstStyle/>
                    <a:p>
                      <a:pPr algn="l"/>
                      <a:r>
                        <a:rPr sz="900" b="0">
                          <a:solidFill>
                            <a:srgbClr val="0E1726"/>
                          </a:solidFill>
                          <a:latin typeface="Calibri"/>
                        </a:rPr>
                        <a:t>The lease is taken around the **resolve**, not the scan --- the window opens when a log becomes file paths</a:t>
                      </a:r>
                    </a:p>
                  </a:txBody>
                  <a:tcPr marL="82296" marR="64008" marT="32004" marB="32004" anchor="ctr">
                    <a:solidFill>
                      <a:srgbClr val="FBFAF7"/>
                    </a:solidFill>
                  </a:tcPr>
                </a:tc>
              </a:tr>
              <a:tr h="306324">
                <a:tc>
                  <a:txBody>
                    <a:bodyPr wrap="square"/>
                    <a:lstStyle/>
                    <a:p>
                      <a:pPr algn="l"/>
                      <a:r>
                        <a:rPr sz="900" b="1">
                          <a:solidFill>
                            <a:srgbClr val="1E3A6E"/>
                          </a:solidFill>
                          <a:latin typeface="Calibri"/>
                        </a:rPr>
                        <a:t>5</a:t>
                      </a:r>
                    </a:p>
                  </a:txBody>
                  <a:tcPr marL="82296" marR="64008" marT="32004" marB="32004" anchor="ctr">
                    <a:solidFill>
                      <a:srgbClr val="FFFFFF"/>
                    </a:solidFill>
                  </a:tcPr>
                </a:tc>
                <a:tc>
                  <a:txBody>
                    <a:bodyPr wrap="square"/>
                    <a:lstStyle/>
                    <a:p>
                      <a:pPr algn="l"/>
                      <a:r>
                        <a:rPr sz="900" b="0">
                          <a:solidFill>
                            <a:srgbClr val="0E1726"/>
                          </a:solidFill>
                          <a:latin typeface="Calibri"/>
                        </a:rPr>
                        <a:t>Live set</a:t>
                      </a:r>
                    </a:p>
                  </a:txBody>
                  <a:tcPr marL="82296" marR="64008" marT="32004" marB="32004" anchor="ctr">
                    <a:solidFill>
                      <a:srgbClr val="FFFFFF"/>
                    </a:solidFill>
                  </a:tcPr>
                </a:tc>
                <a:tc>
                  <a:txBody>
                    <a:bodyPr wrap="square"/>
                    <a:lstStyle/>
                    <a:p>
                      <a:pPr algn="l"/>
                      <a:r>
                        <a:rPr sz="900" b="0">
                          <a:solidFill>
                            <a:srgbClr val="0E1726"/>
                          </a:solidFill>
                          <a:latin typeface="Calibri"/>
                        </a:rPr>
                        <a:t>`readpath/src/provider.rs`</a:t>
                      </a:r>
                    </a:p>
                  </a:txBody>
                  <a:tcPr marL="82296" marR="64008" marT="32004" marB="32004" anchor="ctr">
                    <a:solidFill>
                      <a:srgbClr val="FFFFFF"/>
                    </a:solidFill>
                  </a:tcPr>
                </a:tc>
                <a:tc>
                  <a:txBody>
                    <a:bodyPr wrap="square"/>
                    <a:lstStyle/>
                    <a:p>
                      <a:pPr algn="l"/>
                      <a:r>
                        <a:rPr sz="900" b="0">
                          <a:solidFill>
                            <a:srgbClr val="0E1726"/>
                          </a:solidFill>
                          <a:latin typeface="Calibri"/>
                        </a:rPr>
                        <a:t>Files come from the log, never a directory listing. Coverage is synthesised as one interval</a:t>
                      </a:r>
                    </a:p>
                  </a:txBody>
                  <a:tcPr marL="82296" marR="64008" marT="32004" marB="32004" anchor="ctr">
                    <a:solidFill>
                      <a:srgbClr val="FFFFFF"/>
                    </a:solidFill>
                  </a:tcPr>
                </a:tc>
              </a:tr>
              <a:tr h="306324">
                <a:tc>
                  <a:txBody>
                    <a:bodyPr wrap="square"/>
                    <a:lstStyle/>
                    <a:p>
                      <a:pPr algn="l"/>
                      <a:r>
                        <a:rPr sz="900" b="1">
                          <a:solidFill>
                            <a:srgbClr val="1E3A6E"/>
                          </a:solidFill>
                          <a:latin typeface="Calibri"/>
                        </a:rPr>
                        <a:t>6</a:t>
                      </a:r>
                    </a:p>
                  </a:txBody>
                  <a:tcPr marL="82296" marR="64008" marT="32004" marB="32004" anchor="ctr">
                    <a:solidFill>
                      <a:srgbClr val="FBFAF7"/>
                    </a:solidFill>
                  </a:tcPr>
                </a:tc>
                <a:tc>
                  <a:txBody>
                    <a:bodyPr wrap="square"/>
                    <a:lstStyle/>
                    <a:p>
                      <a:pPr algn="l"/>
                      <a:r>
                        <a:rPr sz="900" b="0">
                          <a:solidFill>
                            <a:srgbClr val="0E1726"/>
                          </a:solidFill>
                          <a:latin typeface="Calibri"/>
                        </a:rPr>
                        <a:t>Policy, once</a:t>
                      </a:r>
                    </a:p>
                  </a:txBody>
                  <a:tcPr marL="82296" marR="64008" marT="32004" marB="32004" anchor="ctr">
                    <a:solidFill>
                      <a:srgbClr val="FBFAF7"/>
                    </a:solidFill>
                  </a:tcPr>
                </a:tc>
                <a:tc>
                  <a:txBody>
                    <a:bodyPr wrap="square"/>
                    <a:lstStyle/>
                    <a:p>
                      <a:pPr algn="l"/>
                      <a:r>
                        <a:rPr sz="900" b="0">
                          <a:solidFill>
                            <a:srgbClr val="0E1726"/>
                          </a:solidFill>
                          <a:latin typeface="Calibri"/>
                        </a:rPr>
                        <a:t>`server/src/execute.rs`</a:t>
                      </a:r>
                    </a:p>
                  </a:txBody>
                  <a:tcPr marL="82296" marR="64008" marT="32004" marB="32004" anchor="ctr">
                    <a:solidFill>
                      <a:srgbClr val="FBFAF7"/>
                    </a:solidFill>
                  </a:tcPr>
                </a:tc>
                <a:tc>
                  <a:txBody>
                    <a:bodyPr wrap="square"/>
                    <a:lstStyle/>
                    <a:p>
                      <a:pPr algn="l"/>
                      <a:r>
                        <a:rPr sz="900" b="0">
                          <a:solidFill>
                            <a:srgbClr val="0E1726"/>
                          </a:solidFill>
                          <a:latin typeface="Calibri"/>
                        </a:rPr>
                        <a:t>No guard, no registration --- an unreadable table fails to resolve exactly like one that never existed</a:t>
                      </a:r>
                    </a:p>
                  </a:txBody>
                  <a:tcPr marL="82296" marR="64008" marT="32004" marB="32004" anchor="ctr">
                    <a:solidFill>
                      <a:srgbClr val="FBFAF7"/>
                    </a:solidFill>
                  </a:tcPr>
                </a:tc>
              </a:tr>
              <a:tr h="453085">
                <a:tc>
                  <a:txBody>
                    <a:bodyPr wrap="square"/>
                    <a:lstStyle/>
                    <a:p>
                      <a:pPr algn="l"/>
                      <a:r>
                        <a:rPr sz="900" b="1">
                          <a:solidFill>
                            <a:srgbClr val="1E3A6E"/>
                          </a:solidFill>
                          <a:latin typeface="Calibri"/>
                        </a:rPr>
                        <a:t>7</a:t>
                      </a:r>
                    </a:p>
                  </a:txBody>
                  <a:tcPr marL="82296" marR="64008" marT="32004" marB="32004" anchor="ctr">
                    <a:solidFill>
                      <a:srgbClr val="FFFFFF"/>
                    </a:solidFill>
                  </a:tcPr>
                </a:tc>
                <a:tc>
                  <a:txBody>
                    <a:bodyPr wrap="square"/>
                    <a:lstStyle/>
                    <a:p>
                      <a:pPr algn="l"/>
                      <a:r>
                        <a:rPr sz="900" b="0">
                          <a:solidFill>
                            <a:srgbClr val="0E1726"/>
                          </a:solidFill>
                          <a:latin typeface="Calibri"/>
                        </a:rPr>
                        <a:t>Secured provider</a:t>
                      </a:r>
                    </a:p>
                  </a:txBody>
                  <a:tcPr marL="82296" marR="64008" marT="32004" marB="32004" anchor="ctr">
                    <a:solidFill>
                      <a:srgbClr val="FFFFFF"/>
                    </a:solidFill>
                  </a:tcPr>
                </a:tc>
                <a:tc>
                  <a:txBody>
                    <a:bodyPr wrap="square"/>
                    <a:lstStyle/>
                    <a:p>
                      <a:pPr algn="l"/>
                      <a:r>
                        <a:rPr sz="900" b="0">
                          <a:solidFill>
                            <a:srgbClr val="0E1726"/>
                          </a:solidFill>
                          <a:latin typeface="Calibri"/>
                        </a:rPr>
                        <a:t>`catalog/src/secured.rs`</a:t>
                      </a:r>
                    </a:p>
                  </a:txBody>
                  <a:tcPr marL="82296" marR="64008" marT="32004" marB="32004" anchor="ctr">
                    <a:solidFill>
                      <a:srgbClr val="FFFFFF"/>
                    </a:solidFill>
                  </a:tcPr>
                </a:tc>
                <a:tc>
                  <a:txBody>
                    <a:bodyPr wrap="square"/>
                    <a:lstStyle/>
                    <a:p>
                      <a:pPr algn="l"/>
                      <a:r>
                        <a:rPr sz="900" b="0">
                          <a:solidFill>
                            <a:srgbClr val="0E1726"/>
                          </a:solidFill>
                          <a:latin typeface="Calibri"/>
                        </a:rPr>
                        <a:t>The predicate is offered to the provider; unless it declares itself exact, a filter sits above the scan where nothing can decline it</a:t>
                      </a:r>
                    </a:p>
                  </a:txBody>
                  <a:tcPr marL="82296" marR="64008" marT="32004" marB="32004" anchor="ctr">
                    <a:solidFill>
                      <a:srgbClr val="FFFFFF"/>
                    </a:solidFill>
                  </a:tcPr>
                </a:tc>
              </a:tr>
              <a:tr h="306324">
                <a:tc>
                  <a:txBody>
                    <a:bodyPr wrap="square"/>
                    <a:lstStyle/>
                    <a:p>
                      <a:pPr algn="l"/>
                      <a:r>
                        <a:rPr sz="900" b="1">
                          <a:solidFill>
                            <a:srgbClr val="1E3A6E"/>
                          </a:solidFill>
                          <a:latin typeface="Calibri"/>
                        </a:rPr>
                        <a:t>8</a:t>
                      </a:r>
                    </a:p>
                  </a:txBody>
                  <a:tcPr marL="82296" marR="64008" marT="32004" marB="32004" anchor="ctr">
                    <a:solidFill>
                      <a:srgbClr val="FBFAF7"/>
                    </a:solidFill>
                  </a:tcPr>
                </a:tc>
                <a:tc>
                  <a:txBody>
                    <a:bodyPr wrap="square"/>
                    <a:lstStyle/>
                    <a:p>
                      <a:pPr algn="l"/>
                      <a:r>
                        <a:rPr sz="900" b="0">
                          <a:solidFill>
                            <a:srgbClr val="0E1726"/>
                          </a:solidFill>
                          <a:latin typeface="Calibri"/>
                        </a:rPr>
                        <a:t>Plan and prune</a:t>
                      </a:r>
                    </a:p>
                  </a:txBody>
                  <a:tcPr marL="82296" marR="64008" marT="32004" marB="32004" anchor="ctr">
                    <a:solidFill>
                      <a:srgbClr val="FBFAF7"/>
                    </a:solidFill>
                  </a:tcPr>
                </a:tc>
                <a:tc>
                  <a:txBody>
                    <a:bodyPr wrap="square"/>
                    <a:lstStyle/>
                    <a:p>
                      <a:pPr algn="l"/>
                      <a:r>
                        <a:rPr sz="900" b="0">
                          <a:solidFill>
                            <a:srgbClr val="0E1726"/>
                          </a:solidFill>
                          <a:latin typeface="Calibri"/>
                        </a:rPr>
                        <a:t>`server/src/execute.rs`</a:t>
                      </a:r>
                    </a:p>
                  </a:txBody>
                  <a:tcPr marL="82296" marR="64008" marT="32004" marB="32004" anchor="ctr">
                    <a:solidFill>
                      <a:srgbClr val="FBFAF7"/>
                    </a:solidFill>
                  </a:tcPr>
                </a:tc>
                <a:tc>
                  <a:txBody>
                    <a:bodyPr wrap="square"/>
                    <a:lstStyle/>
                    <a:p>
                      <a:pPr algn="l"/>
                      <a:r>
                        <a:rPr sz="900" b="0">
                          <a:solidFill>
                            <a:srgbClr val="0E1726"/>
                          </a:solidFill>
                          <a:latin typeface="Calibri"/>
                        </a:rPr>
                        <a:t>DDL and DML rejected on the **planned** plan, not the text. Provably irrelevant files never enter it</a:t>
                      </a:r>
                    </a:p>
                  </a:txBody>
                  <a:tcPr marL="82296" marR="64008" marT="32004" marB="32004" anchor="ctr">
                    <a:solidFill>
                      <a:srgbClr val="FBFAF7"/>
                    </a:solidFill>
                  </a:tcPr>
                </a:tc>
              </a:tr>
              <a:tr h="306324">
                <a:tc>
                  <a:txBody>
                    <a:bodyPr wrap="square"/>
                    <a:lstStyle/>
                    <a:p>
                      <a:pPr algn="l"/>
                      <a:r>
                        <a:rPr sz="900" b="1">
                          <a:solidFill>
                            <a:srgbClr val="1E3A6E"/>
                          </a:solidFill>
                          <a:latin typeface="Calibri"/>
                        </a:rPr>
                        <a:t>9</a:t>
                      </a:r>
                    </a:p>
                  </a:txBody>
                  <a:tcPr marL="82296" marR="64008" marT="32004" marB="32004" anchor="ctr">
                    <a:solidFill>
                      <a:srgbClr val="FFFFFF"/>
                    </a:solidFill>
                  </a:tcPr>
                </a:tc>
                <a:tc>
                  <a:txBody>
                    <a:bodyPr wrap="square"/>
                    <a:lstStyle/>
                    <a:p>
                      <a:pPr algn="l"/>
                      <a:r>
                        <a:rPr sz="900" b="0">
                          <a:solidFill>
                            <a:srgbClr val="0E1726"/>
                          </a:solidFill>
                          <a:latin typeface="Calibri"/>
                        </a:rPr>
                        <a:t>Stream and record</a:t>
                      </a:r>
                    </a:p>
                  </a:txBody>
                  <a:tcPr marL="82296" marR="64008" marT="32004" marB="32004" anchor="ctr">
                    <a:solidFill>
                      <a:srgbClr val="FFFFFF"/>
                    </a:solidFill>
                  </a:tcPr>
                </a:tc>
                <a:tc>
                  <a:txBody>
                    <a:bodyPr wrap="square"/>
                    <a:lstStyle/>
                    <a:p>
                      <a:pPr algn="l"/>
                      <a:r>
                        <a:rPr sz="900" b="0">
                          <a:solidFill>
                            <a:srgbClr val="0E1726"/>
                          </a:solidFill>
                          <a:latin typeface="Calibri"/>
                        </a:rPr>
                        <a:t>`server/src/audit.rs`</a:t>
                      </a:r>
                    </a:p>
                  </a:txBody>
                  <a:tcPr marL="82296" marR="64008" marT="32004" marB="32004" anchor="ctr">
                    <a:solidFill>
                      <a:srgbClr val="FFFFFF"/>
                    </a:solidFill>
                  </a:tcPr>
                </a:tc>
                <a:tc>
                  <a:txBody>
                    <a:bodyPr wrap="square"/>
                    <a:lstStyle/>
                    <a:p>
                      <a:pPr algn="l"/>
                      <a:r>
                        <a:rPr sz="900" b="0">
                          <a:solidFill>
                            <a:srgbClr val="0E1726"/>
                          </a:solidFill>
                          <a:latin typeface="Calibri"/>
                        </a:rPr>
                        <a:t>Shared fair pool, row cap enforced mid-stream, deadline. One audit entry per table --- on success and on refusal</a:t>
                      </a:r>
                    </a:p>
                  </a:txBody>
                  <a:tcPr marL="82296" marR="64008" marT="32004" marB="32004" anchor="ct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SYSTEM · THE FORMAT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What is open, and what that costs</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5 · What a statement does,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17</a:t>
            </a:r>
          </a:p>
        </p:txBody>
      </p:sp>
      <p:graphicFrame>
        <p:nvGraphicFramePr>
          <p:cNvPr id="10" name="Table 9"/>
          <p:cNvGraphicFramePr>
            <a:graphicFrameLocks noGrp="1"/>
          </p:cNvGraphicFramePr>
          <p:nvPr/>
        </p:nvGraphicFramePr>
        <p:xfrm>
          <a:off x="777240" y="1353312"/>
          <a:ext cx="10637214" cy="1948687"/>
        </p:xfrm>
        <a:graphic>
          <a:graphicData uri="http://schemas.openxmlformats.org/drawingml/2006/table">
            <a:tbl>
              <a:tblPr firstRow="1">
                <a:tableStyleId>{5C22544A-7EE6-4342-B048-85BDC9FD1C3A}</a:tableStyleId>
              </a:tblPr>
              <a:tblGrid>
                <a:gridCol w="3668005"/>
                <a:gridCol w="6969209"/>
              </a:tblGrid>
              <a:tr h="333781">
                <a:tc>
                  <a:txBody>
                    <a:bodyPr wrap="square"/>
                    <a:lstStyle/>
                    <a:p>
                      <a:pPr algn="l"/>
                      <a:r>
                        <a:rPr sz="1100" b="1">
                          <a:solidFill>
                            <a:srgbClr val="FFFFFF"/>
                          </a:solidFill>
                          <a:latin typeface="Calibri"/>
                        </a:rPr>
                        <a:t/>
                      </a:r>
                    </a:p>
                  </a:txBody>
                  <a:tcPr marL="82296" marR="64008" marT="32004" marB="32004" anchor="ctr">
                    <a:solidFill>
                      <a:srgbClr val="1E3A6E"/>
                    </a:solidFill>
                  </a:tcPr>
                </a:tc>
                <a:tc>
                  <a:txBody>
                    <a:bodyPr wrap="square"/>
                    <a:lstStyle/>
                    <a:p>
                      <a:pPr algn="l"/>
                      <a:r>
                        <a:rPr sz="1100" b="1">
                          <a:solidFill>
                            <a:srgbClr val="FFFFFF"/>
                          </a:solidFill>
                          <a:latin typeface="Calibri"/>
                        </a:rPr>
                        <a:t>What follows</a:t>
                      </a:r>
                    </a:p>
                  </a:txBody>
                  <a:tcPr marL="82296" marR="64008" marT="32004" marB="32004" anchor="ctr">
                    <a:solidFill>
                      <a:srgbClr val="1E3A6E"/>
                    </a:solidFill>
                  </a:tcPr>
                </a:tc>
              </a:tr>
              <a:tr h="538302">
                <a:tc>
                  <a:txBody>
                    <a:bodyPr wrap="square"/>
                    <a:lstStyle/>
                    <a:p>
                      <a:pPr algn="l"/>
                      <a:r>
                        <a:rPr sz="1150" b="0">
                          <a:solidFill>
                            <a:srgbClr val="0E1726"/>
                          </a:solidFill>
                          <a:latin typeface="Calibri"/>
                        </a:rPr>
                        <a:t>Tables are Delta, including materialised cuboids</a:t>
                      </a:r>
                    </a:p>
                  </a:txBody>
                  <a:tcPr marL="82296" marR="64008" marT="32004" marB="32004" anchor="ctr">
                    <a:solidFill>
                      <a:srgbClr val="FFFFFF"/>
                    </a:solidFill>
                  </a:tcPr>
                </a:tc>
                <a:tc>
                  <a:txBody>
                    <a:bodyPr wrap="square"/>
                    <a:lstStyle/>
                    <a:p>
                      <a:pPr algn="l"/>
                      <a:r>
                        <a:rPr sz="1150" b="0">
                          <a:solidFill>
                            <a:srgbClr val="0E1726"/>
                          </a:solidFill>
                          <a:latin typeface="Calibri"/>
                        </a:rPr>
                        <a:t>Any engine that reads Delta reads them, with no SANKHYA process in the path. The fast path gets no exception — a cuboid is a published table on purpose.</a:t>
                      </a:r>
                    </a:p>
                  </a:txBody>
                  <a:tcPr marL="82296" marR="64008" marT="32004" marB="32004" anchor="ctr">
                    <a:solidFill>
                      <a:srgbClr val="FFFFFF"/>
                    </a:solidFill>
                  </a:tcPr>
                </a:tc>
              </a:tr>
              <a:tr h="538302">
                <a:tc>
                  <a:txBody>
                    <a:bodyPr wrap="square"/>
                    <a:lstStyle/>
                    <a:p>
                      <a:pPr algn="l"/>
                      <a:r>
                        <a:rPr sz="1150" b="0">
                          <a:solidFill>
                            <a:srgbClr val="0E1726"/>
                          </a:solidFill>
                          <a:latin typeface="Calibri"/>
                        </a:rPr>
                        <a:t>The log is the table</a:t>
                      </a:r>
                    </a:p>
                  </a:txBody>
                  <a:tcPr marL="82296" marR="64008" marT="32004" marB="32004" anchor="ctr">
                    <a:solidFill>
                      <a:srgbClr val="FBFAF7"/>
                    </a:solidFill>
                  </a:tcPr>
                </a:tc>
                <a:tc>
                  <a:txBody>
                    <a:bodyPr wrap="square"/>
                    <a:lstStyle/>
                    <a:p>
                      <a:pPr algn="l"/>
                      <a:r>
                        <a:rPr sz="1150" b="0">
                          <a:solidFill>
                            <a:srgbClr val="0E1726"/>
                          </a:solidFill>
                          <a:latin typeface="Calibri"/>
                        </a:rPr>
                        <a:t>A commit is a file appended to `_delta_log`. Concurrency control in its entirety is: pick the next version, fail if somebody took it.</a:t>
                      </a:r>
                    </a:p>
                  </a:txBody>
                  <a:tcPr marL="82296" marR="64008" marT="32004" marB="32004" anchor="ctr">
                    <a:solidFill>
                      <a:srgbClr val="FBFAF7"/>
                    </a:solidFill>
                  </a:tcPr>
                </a:tc>
              </a:tr>
              <a:tr h="538302">
                <a:tc>
                  <a:txBody>
                    <a:bodyPr wrap="square"/>
                    <a:lstStyle/>
                    <a:p>
                      <a:pPr algn="l"/>
                      <a:r>
                        <a:rPr sz="1150" b="0">
                          <a:solidFill>
                            <a:srgbClr val="0E1726"/>
                          </a:solidFill>
                          <a:latin typeface="Calibri"/>
                        </a:rPr>
                        <a:t>A protocol version this build cannot honour is refused</a:t>
                      </a:r>
                    </a:p>
                  </a:txBody>
                  <a:tcPr marL="82296" marR="64008" marT="32004" marB="32004" anchor="ctr">
                    <a:solidFill>
                      <a:srgbClr val="FFFFFF"/>
                    </a:solidFill>
                  </a:tcPr>
                </a:tc>
                <a:tc>
                  <a:txBody>
                    <a:bodyPr wrap="square"/>
                    <a:lstStyle/>
                    <a:p>
                      <a:pPr algn="l"/>
                      <a:r>
                        <a:rPr sz="1150" b="0">
                          <a:solidFill>
                            <a:srgbClr val="0E1726"/>
                          </a:solidFill>
                          <a:latin typeface="Calibri"/>
                        </a:rPr>
                        <a:t>Reader version 2 is column mapping — every column would read null. Version 3 is deletion vectors — deleted rows would be served as live. Both are answers rather than errors.</a:t>
                      </a:r>
                    </a:p>
                  </a:txBody>
                  <a:tcPr marL="82296" marR="64008" marT="32004" marB="32004" anchor="ctr">
                    <a:solidFill>
                      <a:srgbClr val="FFFFFF"/>
                    </a:solidFill>
                  </a:tcPr>
                </a:tc>
              </a:tr>
            </a:tbl>
          </a:graphicData>
        </a:graphic>
      </p:graphicFrame>
      <p:sp>
        <p:nvSpPr>
          <p:cNvPr id="11" name="TextBox 10"/>
          <p:cNvSpPr txBox="1"/>
          <p:nvPr/>
        </p:nvSpPr>
        <p:spPr>
          <a:xfrm>
            <a:off x="777240" y="3539744"/>
            <a:ext cx="10637215" cy="1280160"/>
          </a:xfrm>
          <a:prstGeom prst="rect">
            <a:avLst/>
          </a:prstGeom>
          <a:noFill/>
        </p:spPr>
        <p:txBody>
          <a:bodyPr wrap="square" lIns="0" rIns="0" tIns="0" bIns="0" anchor="t">
            <a:spAutoFit/>
          </a:bodyPr>
          <a:lstStyle/>
          <a:p>
            <a:pPr algn="l"/>
          </a:p>
          <a:p>
            <a:pPr>
              <a:lnSpc>
                <a:spcPct val="130000"/>
              </a:lnSpc>
              <a:spcBef>
                <a:spcPts val="0"/>
              </a:spcBef>
              <a:spcAft>
                <a:spcPts val="600"/>
              </a:spcAft>
            </a:pPr>
            <a:r>
              <a:rPr sz="1150" b="1" i="0">
                <a:solidFill>
                  <a:srgbClr val="1E3A6E"/>
                </a:solidFill>
                <a:latin typeface="Calibri"/>
              </a:rPr>
              <a:t>The last row was not true until recently. </a:t>
            </a:r>
            <a:r>
              <a:rPr sz="1150" b="0" i="0">
                <a:solidFill>
                  <a:srgbClr val="444F60"/>
                </a:solidFill>
                <a:latin typeface="Calibri"/>
              </a:rPr>
              <a:t>`Action::Protocol` was parsed out of every log and thrown away, with no ceiling anywhere in the workspace — so a table another engine had upgraded was read anyway, with this reader understanding only the parts of it that happened to look like version 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STORAGE · WHAT IS THERE</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The layout, on disk, and why the name is the interface</a:t>
            </a:r>
          </a:p>
        </p:txBody>
      </p:sp>
      <p:sp>
        <p:nvSpPr>
          <p:cNvPr id="6" name="Rectangle 5"/>
          <p:cNvSpPr/>
          <p:nvPr/>
        </p:nvSpPr>
        <p:spPr>
          <a:xfrm>
            <a:off x="777240" y="161848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6 · Storage, and why the log is the table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18</a:t>
            </a:r>
          </a:p>
        </p:txBody>
      </p:sp>
      <p:sp>
        <p:nvSpPr>
          <p:cNvPr id="10" name="Rectangle 9"/>
          <p:cNvSpPr/>
          <p:nvPr/>
        </p:nvSpPr>
        <p:spPr>
          <a:xfrm>
            <a:off x="777240" y="1764792"/>
            <a:ext cx="5850468" cy="1917816"/>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764792"/>
            <a:ext cx="41148" cy="1917816"/>
          </a:xfrm>
          <a:prstGeom prst="rect">
            <a:avLst/>
          </a:prstGeom>
          <a:solidFill>
            <a:srgbClr val="444F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856231"/>
            <a:ext cx="5484708" cy="219456"/>
          </a:xfrm>
          <a:prstGeom prst="rect">
            <a:avLst/>
          </a:prstGeom>
          <a:noFill/>
        </p:spPr>
        <p:txBody>
          <a:bodyPr wrap="square" lIns="0" rIns="0" tIns="0" bIns="0" anchor="t">
            <a:spAutoFit/>
          </a:bodyPr>
          <a:lstStyle/>
          <a:p>
            <a:pPr algn="l">
              <a:spcBef>
                <a:spcPts val="0"/>
              </a:spcBef>
              <a:spcAft>
                <a:spcPts val="0"/>
              </a:spcAft>
            </a:pPr>
            <a:r>
              <a:rPr sz="900" b="1" i="0">
                <a:solidFill>
                  <a:srgbClr val="1E3A6E"/>
                </a:solidFill>
                <a:latin typeface="Calibri"/>
              </a:rPr>
              <a:t>one self-contained folder per table</a:t>
            </a:r>
          </a:p>
        </p:txBody>
      </p:sp>
      <p:sp>
        <p:nvSpPr>
          <p:cNvPr id="13" name="TextBox 12"/>
          <p:cNvSpPr txBox="1"/>
          <p:nvPr/>
        </p:nvSpPr>
        <p:spPr>
          <a:xfrm>
            <a:off x="978408" y="2157984"/>
            <a:ext cx="5484708" cy="1442328"/>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0E1726"/>
                </a:solidFill>
                <a:latin typeface="Consolas"/>
              </a:rPr>
              <a:t>warehouse/sales/orders/</a:t>
            </a:r>
          </a:p>
          <a:p>
            <a:pPr>
              <a:lnSpc>
                <a:spcPct val="134000"/>
              </a:lnSpc>
              <a:spcBef>
                <a:spcPts val="0"/>
              </a:spcBef>
              <a:spcAft>
                <a:spcPts val="0"/>
              </a:spcAft>
            </a:pPr>
            <a:r>
              <a:rPr sz="900" b="0" i="0">
                <a:solidFill>
                  <a:srgbClr val="0E1726"/>
                </a:solidFill>
                <a:latin typeface="Consolas"/>
              </a:rPr>
              <a:t>  _delta_log/00000000000000000000.json   &lt;- create</a:t>
            </a:r>
          </a:p>
          <a:p>
            <a:pPr>
              <a:lnSpc>
                <a:spcPct val="134000"/>
              </a:lnSpc>
              <a:spcBef>
                <a:spcPts val="0"/>
              </a:spcBef>
              <a:spcAft>
                <a:spcPts val="0"/>
              </a:spcAft>
            </a:pPr>
            <a:r>
              <a:rPr sz="900" b="0" i="0">
                <a:solidFill>
                  <a:srgbClr val="0E1726"/>
                </a:solidFill>
                <a:latin typeface="Consolas"/>
              </a:rPr>
              <a:t>  _delta_log/00000000000000000001.json   &lt;- a commit</a:t>
            </a:r>
          </a:p>
          <a:p>
            <a:pPr>
              <a:lnSpc>
                <a:spcPct val="134000"/>
              </a:lnSpc>
              <a:spcBef>
                <a:spcPts val="0"/>
              </a:spcBef>
              <a:spcAft>
                <a:spcPts val="0"/>
              </a:spcAft>
            </a:pPr>
            <a:r>
              <a:rPr sz="900" b="0" i="0">
                <a:solidFill>
                  <a:srgbClr val="0E1726"/>
                </a:solidFill>
                <a:latin typeface="Consolas"/>
              </a:rPr>
              <a:t>  _delta_log/00000000000000000002.json</a:t>
            </a:r>
          </a:p>
          <a:p>
            <a:pPr>
              <a:lnSpc>
                <a:spcPct val="134000"/>
              </a:lnSpc>
              <a:spcBef>
                <a:spcPts val="0"/>
              </a:spcBef>
              <a:spcAft>
                <a:spcPts val="0"/>
              </a:spcAft>
            </a:pPr>
            <a:r>
              <a:rPr sz="900" b="0" i="0">
                <a:solidFill>
                  <a:srgbClr val="0E1726"/>
                </a:solidFill>
                <a:latin typeface="Consolas"/>
              </a:rPr>
              <a:t>  sank_data_date=2026-09-06/</a:t>
            </a:r>
          </a:p>
          <a:p>
            <a:pPr>
              <a:lnSpc>
                <a:spcPct val="134000"/>
              </a:lnSpc>
              <a:spcBef>
                <a:spcPts val="0"/>
              </a:spcBef>
              <a:spcAft>
                <a:spcPts val="0"/>
              </a:spcAft>
            </a:pPr>
            <a:r>
              <a:rPr sz="900" b="0" i="0">
                <a:solidFill>
                  <a:srgbClr val="0E1726"/>
                </a:solidFill>
                <a:latin typeface="Consolas"/>
              </a:rPr>
              <a:t>      part-0000-v0000001-2d10910.parquet</a:t>
            </a:r>
          </a:p>
          <a:p>
            <a:pPr>
              <a:lnSpc>
                <a:spcPct val="134000"/>
              </a:lnSpc>
              <a:spcBef>
                <a:spcPts val="0"/>
              </a:spcBef>
              <a:spcAft>
                <a:spcPts val="0"/>
              </a:spcAft>
            </a:pPr>
            <a:r>
              <a:rPr sz="900" b="0" i="0">
                <a:solidFill>
                  <a:srgbClr val="0E1726"/>
                </a:solidFill>
                <a:latin typeface="Consolas"/>
              </a:rPr>
              <a:t>      part-0001-v0000002-2d10911.parquet</a:t>
            </a:r>
          </a:p>
        </p:txBody>
      </p:sp>
      <p:sp>
        <p:nvSpPr>
          <p:cNvPr id="14" name="TextBox 13"/>
          <p:cNvSpPr txBox="1"/>
          <p:nvPr/>
        </p:nvSpPr>
        <p:spPr>
          <a:xfrm>
            <a:off x="7053196" y="1764792"/>
            <a:ext cx="4361258" cy="2926080"/>
          </a:xfrm>
          <a:prstGeom prst="rect">
            <a:avLst/>
          </a:prstGeom>
          <a:noFill/>
        </p:spPr>
        <p:txBody>
          <a:bodyPr wrap="square" lIns="0" rIns="0" tIns="0" bIns="0" anchor="t">
            <a:spAutoFit/>
          </a:bodyPr>
          <a:lstStyle/>
          <a:p>
            <a:pPr algn="l"/>
          </a:p>
          <a:p>
            <a:pPr>
              <a:spcBef>
                <a:spcPts val="0"/>
              </a:spcBef>
              <a:spcAft>
                <a:spcPts val="800"/>
              </a:spcAft>
            </a:pPr>
            <a:r>
              <a:rPr sz="1000" b="1">
                <a:solidFill>
                  <a:srgbClr val="1E3A6E"/>
                </a:solidFill>
                <a:latin typeface="Calibri"/>
              </a:rPr>
              <a:t>▪  </a:t>
            </a:r>
            <a:r>
              <a:rPr sz="1000">
                <a:solidFill>
                  <a:srgbClr val="0E1726"/>
                </a:solidFill>
                <a:latin typeface="Calibri"/>
              </a:rPr>
              <a:t>`&lt;schema&gt;/&lt;table&gt;/` --- the same names the transactional tier uses, so the two line up without a mapping table for somebody to get wrong.</a:t>
            </a:r>
          </a:p>
          <a:p>
            <a:pPr>
              <a:spcBef>
                <a:spcPts val="0"/>
              </a:spcBef>
              <a:spcAft>
                <a:spcPts val="800"/>
              </a:spcAft>
            </a:pPr>
            <a:r>
              <a:rPr sz="1000" b="1">
                <a:solidFill>
                  <a:srgbClr val="1E3A6E"/>
                </a:solidFill>
                <a:latin typeface="Calibri"/>
              </a:rPr>
              <a:t>▪  </a:t>
            </a:r>
            <a:r>
              <a:rPr sz="1000">
                <a:solidFill>
                  <a:srgbClr val="0E1726"/>
                </a:solidFill>
                <a:latin typeface="Calibri"/>
              </a:rPr>
              <a:t>The log is the table. The **live set comes from the log, never from a directory listing** --- a listing includes files a commit has retired and files a writer has not yet claimed.</a:t>
            </a:r>
          </a:p>
          <a:p>
            <a:pPr>
              <a:spcBef>
                <a:spcPts val="0"/>
              </a:spcBef>
              <a:spcAft>
                <a:spcPts val="800"/>
              </a:spcAft>
            </a:pPr>
            <a:r>
              <a:rPr sz="1000" b="1">
                <a:solidFill>
                  <a:srgbClr val="1E3A6E"/>
                </a:solidFill>
                <a:latin typeface="Calibri"/>
              </a:rPr>
              <a:t>▪  </a:t>
            </a:r>
            <a:r>
              <a:rPr sz="1000">
                <a:solidFill>
                  <a:srgbClr val="0E1726"/>
                </a:solidFill>
                <a:latin typeface="Calibri"/>
              </a:rPr>
              <a:t>`sank_data_date=` is the **business** date of a record, not the moment it arrived. Conflating those two is the commonest defect in a warehouse, and Chapter 7 is why it was settled before anything was written.</a:t>
            </a:r>
          </a:p>
          <a:p>
            <a:pPr>
              <a:spcBef>
                <a:spcPts val="0"/>
              </a:spcBef>
              <a:spcAft>
                <a:spcPts val="800"/>
              </a:spcAft>
            </a:pPr>
            <a:r>
              <a:rPr sz="1000" b="1">
                <a:solidFill>
                  <a:srgbClr val="1E3A6E"/>
                </a:solidFill>
                <a:latin typeface="Calibri"/>
              </a:rPr>
              <a:t>▪  </a:t>
            </a:r>
            <a:r>
              <a:rPr sz="1000">
                <a:solidFill>
                  <a:srgbClr val="0E1726"/>
                </a:solidFill>
                <a:latin typeface="Calibri"/>
              </a:rPr>
              <a:t>Statistics live in the log too, so a cold process prunes exactly as well as a warm one --- 800 files read in 1.37 ms against 10.33 ms for a listing.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STORAGE · CONCURRENCY CONTROL, IN ITS ENTIRETY</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How a commit claims its version, and why rename cannot do it</a:t>
            </a:r>
          </a:p>
        </p:txBody>
      </p:sp>
      <p:sp>
        <p:nvSpPr>
          <p:cNvPr id="6" name="Rectangle 5"/>
          <p:cNvSpPr/>
          <p:nvPr/>
        </p:nvSpPr>
        <p:spPr>
          <a:xfrm>
            <a:off x="777240" y="161848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6 · Storage, and why the log is the table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19</a:t>
            </a:r>
          </a:p>
        </p:txBody>
      </p:sp>
      <p:sp>
        <p:nvSpPr>
          <p:cNvPr id="10" name="TextBox 9"/>
          <p:cNvSpPr txBox="1"/>
          <p:nvPr/>
        </p:nvSpPr>
        <p:spPr>
          <a:xfrm>
            <a:off x="777240" y="1764792"/>
            <a:ext cx="10637215" cy="914400"/>
          </a:xfrm>
          <a:prstGeom prst="rect">
            <a:avLst/>
          </a:prstGeom>
          <a:noFill/>
        </p:spPr>
        <p:txBody>
          <a:bodyPr wrap="square" lIns="0" rIns="0" tIns="0" bIns="0" anchor="t">
            <a:spAutoFit/>
          </a:bodyPr>
          <a:lstStyle/>
          <a:p>
            <a:pPr algn="l">
              <a:lnSpc>
                <a:spcPct val="128000"/>
              </a:lnSpc>
              <a:spcBef>
                <a:spcPts val="0"/>
              </a:spcBef>
              <a:spcAft>
                <a:spcPts val="1000"/>
              </a:spcAft>
            </a:pPr>
            <a:r>
              <a:rPr sz="1200" b="1" i="0">
                <a:solidFill>
                  <a:srgbClr val="1E3A6E"/>
                </a:solidFill>
                <a:latin typeface="Calibri"/>
              </a:rPr>
              <a:t>A committer picks the next version number and creates that file with `link(2)`. </a:t>
            </a:r>
            <a:r>
              <a:rPr sz="1200" b="0" i="0">
                <a:solidFill>
                  <a:srgbClr val="444F60"/>
                </a:solidFill>
                <a:latin typeface="Calibri"/>
              </a:rPr>
              <a:t>If the name is taken the call **fails**, and that refusal is the whole of the protocol's concurrency control. There is no lock, no coordinator and no lease --- the filesystem is the arbiter, and it is one every reader already trusts.</a:t>
            </a:r>
          </a:p>
          <a:p>
            <a:pPr>
              <a:lnSpc>
                <a:spcPct val="128000"/>
              </a:lnSpc>
              <a:spcBef>
                <a:spcPts val="0"/>
              </a:spcBef>
              <a:spcAft>
                <a:spcPts val="0"/>
              </a:spcAft>
            </a:pPr>
            <a:r>
              <a:rPr sz="1200" b="1" i="0">
                <a:solidFill>
                  <a:srgbClr val="1E3A6E"/>
                </a:solidFill>
                <a:latin typeface="Calibri"/>
              </a:rPr>
              <a:t>`rename(2)` cannot provide it, because it replaces its destination **silently**. </a:t>
            </a:r>
            <a:r>
              <a:rPr sz="1200" b="0" i="0">
                <a:solidFill>
                  <a:srgbClr val="444F60"/>
                </a:solidFill>
                <a:latin typeface="Calibri"/>
              </a:rPr>
              <a:t>Which is exactly what this code did until M8: two committers could both see a version as free, and the second would overwrite the first with no error to either. The loser's rows were gone and both writers were told they had succeeded.</a:t>
            </a:r>
          </a:p>
        </p:txBody>
      </p:sp>
      <p:graphicFrame>
        <p:nvGraphicFramePr>
          <p:cNvPr id="11" name="Table 10"/>
          <p:cNvGraphicFramePr>
            <a:graphicFrameLocks noGrp="1"/>
          </p:cNvGraphicFramePr>
          <p:nvPr/>
        </p:nvGraphicFramePr>
        <p:xfrm>
          <a:off x="777240" y="2999232"/>
          <a:ext cx="10637214" cy="1279398"/>
        </p:xfrm>
        <a:graphic>
          <a:graphicData uri="http://schemas.openxmlformats.org/drawingml/2006/table">
            <a:tbl>
              <a:tblPr firstRow="1">
                <a:tableStyleId>{5C22544A-7EE6-4342-B048-85BDC9FD1C3A}</a:tableStyleId>
              </a:tblPr>
              <a:tblGrid>
                <a:gridCol w="5117905"/>
                <a:gridCol w="5519309"/>
              </a:tblGrid>
              <a:tr h="329184">
                <a:tc>
                  <a:txBody>
                    <a:bodyPr wrap="square"/>
                    <a:lstStyle/>
                    <a:p>
                      <a:pPr algn="l"/>
                      <a:r>
                        <a:rPr sz="1000" b="1">
                          <a:solidFill>
                            <a:srgbClr val="FFFFFF"/>
                          </a:solidFill>
                          <a:latin typeface="Calibri"/>
                        </a:rPr>
                        <a:t>Requirement</a:t>
                      </a:r>
                    </a:p>
                  </a:txBody>
                  <a:tcPr marL="82296" marR="64008" marT="32004" marB="32004" anchor="ctr">
                    <a:solidFill>
                      <a:srgbClr val="1E3A6E"/>
                    </a:solidFill>
                  </a:tcPr>
                </a:tc>
                <a:tc>
                  <a:txBody>
                    <a:bodyPr wrap="square"/>
                    <a:lstStyle/>
                    <a:p>
                      <a:pPr algn="l"/>
                      <a:r>
                        <a:rPr sz="1000" b="1">
                          <a:solidFill>
                            <a:srgbClr val="FFFFFF"/>
                          </a:solidFill>
                          <a:latin typeface="Calibri"/>
                        </a:rPr>
                        <a:t>Consequence</a:t>
                      </a:r>
                    </a:p>
                  </a:txBody>
                  <a:tcPr marL="82296" marR="64008" marT="32004" marB="32004" anchor="ctr">
                    <a:solidFill>
                      <a:srgbClr val="1E3A6E"/>
                    </a:solidFill>
                  </a:tcPr>
                </a:tc>
              </a:tr>
              <a:tr h="316738">
                <a:tc>
                  <a:txBody>
                    <a:bodyPr wrap="square"/>
                    <a:lstStyle/>
                    <a:p>
                      <a:pPr algn="l"/>
                      <a:r>
                        <a:rPr sz="1000" b="0">
                          <a:solidFill>
                            <a:srgbClr val="0E1726"/>
                          </a:solidFill>
                          <a:latin typeface="Calibri"/>
                        </a:rPr>
                        <a:t>The filesystem must implement `link(2)` faithfully</a:t>
                      </a:r>
                    </a:p>
                  </a:txBody>
                  <a:tcPr marL="82296" marR="64008" marT="32004" marB="32004" anchor="ctr">
                    <a:solidFill>
                      <a:srgbClr val="FFFFFF"/>
                    </a:solidFill>
                  </a:tcPr>
                </a:tc>
                <a:tc>
                  <a:txBody>
                    <a:bodyPr wrap="square"/>
                    <a:lstStyle/>
                    <a:p>
                      <a:pPr algn="l"/>
                      <a:r>
                        <a:rPr sz="1000" b="0">
                          <a:solidFill>
                            <a:srgbClr val="0E1726"/>
                          </a:solidFill>
                          <a:latin typeface="Calibri"/>
                        </a:rPr>
                        <a:t>ext4, xfs, btrfs, zfs, APFS and NTFS qualify</a:t>
                      </a:r>
                    </a:p>
                  </a:txBody>
                  <a:tcPr marL="82296" marR="64008" marT="32004" marB="32004" anchor="ctr">
                    <a:solidFill>
                      <a:srgbClr val="FFFFFF"/>
                    </a:solidFill>
                  </a:tcPr>
                </a:tc>
              </a:tr>
              <a:tr h="316738">
                <a:tc>
                  <a:txBody>
                    <a:bodyPr wrap="square"/>
                    <a:lstStyle/>
                    <a:p>
                      <a:pPr algn="l"/>
                      <a:r>
                        <a:rPr sz="1000" b="0">
                          <a:solidFill>
                            <a:srgbClr val="0E1726"/>
                          </a:solidFill>
                          <a:latin typeface="Calibri"/>
                        </a:rPr>
                        <a:t>**FAT and exFAT do not, and are not supported**</a:t>
                      </a:r>
                    </a:p>
                  </a:txBody>
                  <a:tcPr marL="82296" marR="64008" marT="32004" marB="32004" anchor="ctr">
                    <a:solidFill>
                      <a:srgbClr val="FBFAF7"/>
                    </a:solidFill>
                  </a:tcPr>
                </a:tc>
                <a:tc>
                  <a:txBody>
                    <a:bodyPr wrap="square"/>
                    <a:lstStyle/>
                    <a:p>
                      <a:pPr algn="l"/>
                      <a:r>
                        <a:rPr sz="1000" b="0">
                          <a:solidFill>
                            <a:srgbClr val="0E1726"/>
                          </a:solidFill>
                          <a:latin typeface="Calibri"/>
                        </a:rPr>
                        <a:t>Not degraded --- unsupported. There is no fallback that is still correct</a:t>
                      </a:r>
                    </a:p>
                  </a:txBody>
                  <a:tcPr marL="82296" marR="64008" marT="32004" marB="32004" anchor="ctr">
                    <a:solidFill>
                      <a:srgbClr val="FBFAF7"/>
                    </a:solidFill>
                  </a:tcPr>
                </a:tc>
              </a:tr>
              <a:tr h="316738">
                <a:tc>
                  <a:txBody>
                    <a:bodyPr wrap="square"/>
                    <a:lstStyle/>
                    <a:p>
                      <a:pPr algn="l"/>
                      <a:r>
                        <a:rPr sz="1000" b="0">
                          <a:solidFill>
                            <a:srgbClr val="0E1726"/>
                          </a:solidFill>
                          <a:latin typeface="Calibri"/>
                        </a:rPr>
                        <a:t>Some network filesystems implement it unreliably</a:t>
                      </a:r>
                    </a:p>
                  </a:txBody>
                  <a:tcPr marL="82296" marR="64008" marT="32004" marB="32004" anchor="ctr">
                    <a:solidFill>
                      <a:srgbClr val="FFFFFF"/>
                    </a:solidFill>
                  </a:tcPr>
                </a:tc>
                <a:tc>
                  <a:txBody>
                    <a:bodyPr wrap="square"/>
                    <a:lstStyle/>
                    <a:p>
                      <a:pPr algn="l"/>
                      <a:r>
                        <a:rPr sz="1000" b="0">
                          <a:solidFill>
                            <a:srgbClr val="0E1726"/>
                          </a:solidFill>
                          <a:latin typeface="Calibri"/>
                        </a:rPr>
                        <a:t>The failure there is at least loud</a:t>
                      </a:r>
                    </a:p>
                  </a:txBody>
                  <a:tcPr marL="82296" marR="64008" marT="32004" marB="32004" anchor="ctr">
                    <a:solidFill>
                      <a:srgbClr val="FFFFFF"/>
                    </a:solidFill>
                  </a:tcPr>
                </a:tc>
              </a:tr>
            </a:tbl>
          </a:graphicData>
        </a:graphic>
      </p:graphicFrame>
      <p:sp>
        <p:nvSpPr>
          <p:cNvPr id="12" name="Rectangle 11"/>
          <p:cNvSpPr/>
          <p:nvPr/>
        </p:nvSpPr>
        <p:spPr>
          <a:xfrm>
            <a:off x="777240" y="4498086"/>
            <a:ext cx="10637215" cy="9144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Rectangle 12"/>
          <p:cNvSpPr/>
          <p:nvPr/>
        </p:nvSpPr>
        <p:spPr>
          <a:xfrm>
            <a:off x="777240" y="4498086"/>
            <a:ext cx="41148" cy="91440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1014983" y="4616958"/>
            <a:ext cx="10180015" cy="6949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1E3A6E"/>
                </a:solidFill>
                <a:latin typeface="Calibri"/>
              </a:rPr>
              <a:t>And the commit carries a length seal. </a:t>
            </a:r>
            <a:r>
              <a:rPr sz="1050" b="0" i="0">
                <a:solidFill>
                  <a:srgbClr val="0E1726"/>
                </a:solidFill>
                <a:latin typeface="Calibri"/>
              </a:rPr>
              <a:t>A truncated commit --- a crash mid-write, a full disk --- would otherwise replay as a **shorter valid commit**, which is a silently wrong table rather than a broken one. The seal records how many actions the commit contains, so a short read is refused instead of being believed.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STORAGE · WHAT OPEN IS WORTH</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Validated by somebody else's reader</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6 · Storage, and why the log is the table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20</a:t>
            </a:r>
          </a:p>
        </p:txBody>
      </p:sp>
      <p:sp>
        <p:nvSpPr>
          <p:cNvPr id="10" name="TextBox 9"/>
          <p:cNvSpPr txBox="1"/>
          <p:nvPr/>
        </p:nvSpPr>
        <p:spPr>
          <a:xfrm>
            <a:off x="777240" y="1353312"/>
            <a:ext cx="10637215" cy="1051560"/>
          </a:xfrm>
          <a:prstGeom prst="rect">
            <a:avLst/>
          </a:prstGeom>
          <a:noFill/>
        </p:spPr>
        <p:txBody>
          <a:bodyPr wrap="square" lIns="0" rIns="0" tIns="0" bIns="0" anchor="t">
            <a:spAutoFit/>
          </a:bodyPr>
          <a:lstStyle/>
          <a:p>
            <a:pPr algn="l">
              <a:lnSpc>
                <a:spcPct val="128000"/>
              </a:lnSpc>
              <a:spcBef>
                <a:spcPts val="0"/>
              </a:spcBef>
              <a:spcAft>
                <a:spcPts val="0"/>
              </a:spcAft>
            </a:pPr>
            <a:r>
              <a:rPr sz="1150" b="1" i="0">
                <a:solidFill>
                  <a:srgbClr val="1E3A6E"/>
                </a:solidFill>
                <a:latin typeface="Calibri"/>
              </a:rPr>
              <a:t>SANKHYA writes the Delta log by hand, so the claim that it is readable elsewhere had to be checked by something that is not SANKHYA. </a:t>
            </a:r>
            <a:r>
              <a:rPr sz="1150" b="0" i="0">
                <a:solidFill>
                  <a:srgbClr val="444F60"/>
                </a:solidFill>
                <a:latin typeface="Calibri"/>
              </a:rPr>
              <a:t>An independent implementation of the format is a dev-dependency and an oracle: it must agree about the schema, the version and the live set, across a compaction and across a checkpoint whose commits were deleted. Disagreeing fails the build. It found an invalid action that SANKHYA's own reader round-tripped perfectly --- which is the entire argument for testing against a stranger.</a:t>
            </a:r>
          </a:p>
        </p:txBody>
      </p:sp>
      <p:graphicFrame>
        <p:nvGraphicFramePr>
          <p:cNvPr id="11" name="Table 10"/>
          <p:cNvGraphicFramePr>
            <a:graphicFrameLocks noGrp="1"/>
          </p:cNvGraphicFramePr>
          <p:nvPr/>
        </p:nvGraphicFramePr>
        <p:xfrm>
          <a:off x="777240" y="2542032"/>
          <a:ext cx="10637214" cy="1891232"/>
        </p:xfrm>
        <a:graphic>
          <a:graphicData uri="http://schemas.openxmlformats.org/drawingml/2006/table">
            <a:tbl>
              <a:tblPr firstRow="1">
                <a:tableStyleId>{5C22544A-7EE6-4342-B048-85BDC9FD1C3A}</a:tableStyleId>
              </a:tblPr>
              <a:tblGrid>
                <a:gridCol w="4616149"/>
                <a:gridCol w="6021065"/>
              </a:tblGrid>
              <a:tr h="329184">
                <a:tc>
                  <a:txBody>
                    <a:bodyPr wrap="square"/>
                    <a:lstStyle/>
                    <a:p>
                      <a:pPr algn="l"/>
                      <a:r>
                        <a:rPr sz="1000" b="1">
                          <a:solidFill>
                            <a:srgbClr val="FFFFFF"/>
                          </a:solidFill>
                          <a:latin typeface="Calibri"/>
                        </a:rPr>
                        <a:t>What is actually claimed</a:t>
                      </a:r>
                    </a:p>
                  </a:txBody>
                  <a:tcPr marL="82296" marR="64008" marT="32004" marB="32004" anchor="ctr">
                    <a:solidFill>
                      <a:srgbClr val="1E3A6E"/>
                    </a:solidFill>
                  </a:tcPr>
                </a:tc>
                <a:tc>
                  <a:txBody>
                    <a:bodyPr wrap="square"/>
                    <a:lstStyle/>
                    <a:p>
                      <a:pPr algn="l"/>
                      <a:r>
                        <a:rPr sz="1000" b="1">
                          <a:solidFill>
                            <a:srgbClr val="FFFFFF"/>
                          </a:solidFill>
                          <a:latin typeface="Calibri"/>
                        </a:rPr>
                        <a:t>And what is not</a:t>
                      </a:r>
                    </a:p>
                  </a:txBody>
                  <a:tcPr marL="82296" marR="64008" marT="32004" marB="32004" anchor="ctr">
                    <a:solidFill>
                      <a:srgbClr val="1E3A6E"/>
                    </a:solidFill>
                  </a:tcPr>
                </a:tc>
              </a:tr>
              <a:tr h="310896">
                <a:tc>
                  <a:txBody>
                    <a:bodyPr wrap="square"/>
                    <a:lstStyle/>
                    <a:p>
                      <a:pPr algn="l"/>
                      <a:r>
                        <a:rPr sz="950" b="0">
                          <a:solidFill>
                            <a:srgbClr val="0E1726"/>
                          </a:solidFill>
                          <a:latin typeface="Calibri"/>
                        </a:rPr>
                        <a:t>**One** external reader agrees, on every build</a:t>
                      </a:r>
                    </a:p>
                  </a:txBody>
                  <a:tcPr marL="82296" marR="64008" marT="32004" marB="32004" anchor="ctr">
                    <a:solidFill>
                      <a:srgbClr val="FFFFFF"/>
                    </a:solidFill>
                  </a:tcPr>
                </a:tc>
                <a:tc>
                  <a:txBody>
                    <a:bodyPr wrap="square"/>
                    <a:lstStyle/>
                    <a:p>
                      <a:pPr algn="l"/>
                      <a:r>
                        <a:rPr sz="950" b="0">
                          <a:solidFill>
                            <a:srgbClr val="0E1726"/>
                          </a:solidFill>
                          <a:latin typeface="Calibri"/>
                        </a:rPr>
                        <a:t>Nothing in this repository executes Spark, Trino, DuckDB, Snowflake or Athena</a:t>
                      </a:r>
                    </a:p>
                  </a:txBody>
                  <a:tcPr marL="82296" marR="64008" marT="32004" marB="32004" anchor="ctr">
                    <a:solidFill>
                      <a:srgbClr val="FFFFFF"/>
                    </a:solidFill>
                  </a:tcPr>
                </a:tc>
              </a:tr>
              <a:tr h="470128">
                <a:tc>
                  <a:txBody>
                    <a:bodyPr wrap="square"/>
                    <a:lstStyle/>
                    <a:p>
                      <a:pPr algn="l"/>
                      <a:r>
                        <a:rPr sz="950" b="0">
                          <a:solidFill>
                            <a:srgbClr val="0E1726"/>
                          </a:solidFill>
                          <a:latin typeface="Calibri"/>
                        </a:rPr>
                        <a:t>A protocol version this build cannot honour is **refused**</a:t>
                      </a:r>
                    </a:p>
                  </a:txBody>
                  <a:tcPr marL="82296" marR="64008" marT="32004" marB="32004" anchor="ctr">
                    <a:solidFill>
                      <a:srgbClr val="FBFAF7"/>
                    </a:solidFill>
                  </a:tcPr>
                </a:tc>
                <a:tc>
                  <a:txBody>
                    <a:bodyPr wrap="square"/>
                    <a:lstStyle/>
                    <a:p>
                      <a:pPr algn="l"/>
                      <a:r>
                        <a:rPr sz="950" b="0">
                          <a:solidFill>
                            <a:srgbClr val="0E1726"/>
                          </a:solidFill>
                          <a:latin typeface="Calibri"/>
                        </a:rPr>
                        <a:t>Rather than read partially --- a reader that ignores a feature it does not know serves wrong rows confidently</a:t>
                      </a:r>
                    </a:p>
                  </a:txBody>
                  <a:tcPr marL="82296" marR="64008" marT="32004" marB="32004" anchor="ctr">
                    <a:solidFill>
                      <a:srgbClr val="FBFAF7"/>
                    </a:solidFill>
                  </a:tcPr>
                </a:tc>
              </a:tr>
              <a:tr h="470128">
                <a:tc>
                  <a:txBody>
                    <a:bodyPr wrap="square"/>
                    <a:lstStyle/>
                    <a:p>
                      <a:pPr algn="l"/>
                      <a:r>
                        <a:rPr sz="950" b="0">
                          <a:solidFill>
                            <a:srgbClr val="0E1726"/>
                          </a:solidFill>
                          <a:latin typeface="Calibri"/>
                        </a:rPr>
                        <a:t>Ordinary tables are readable by that implementation</a:t>
                      </a:r>
                    </a:p>
                  </a:txBody>
                  <a:tcPr marL="82296" marR="64008" marT="32004" marB="32004" anchor="ctr">
                    <a:solidFill>
                      <a:srgbClr val="FFFFFF"/>
                    </a:solidFill>
                  </a:tcPr>
                </a:tc>
                <a:tc>
                  <a:txBody>
                    <a:bodyPr wrap="square"/>
                    <a:lstStyle/>
                    <a:p>
                      <a:pPr algn="l"/>
                      <a:r>
                        <a:rPr sz="950" b="0">
                          <a:solidFill>
                            <a:srgbClr val="0E1726"/>
                          </a:solidFill>
                          <a:latin typeface="Calibri"/>
                        </a:rPr>
                        <a:t>**A clone is not.** Its log names none of the inherited files, so a foreign reader sees only what the clone wrote</a:t>
                      </a:r>
                    </a:p>
                  </a:txBody>
                  <a:tcPr marL="82296" marR="64008" marT="32004" marB="32004" anchor="ctr">
                    <a:solidFill>
                      <a:srgbClr val="FFFFFF"/>
                    </a:solidFill>
                  </a:tcPr>
                </a:tc>
              </a:tr>
              <a:tr h="310896">
                <a:tc>
                  <a:txBody>
                    <a:bodyPr wrap="square"/>
                    <a:lstStyle/>
                    <a:p>
                      <a:pPr algn="l"/>
                      <a:r>
                        <a:rPr sz="950" b="0">
                          <a:solidFill>
                            <a:srgbClr val="0E1726"/>
                          </a:solidFill>
                          <a:latin typeface="Calibri"/>
                        </a:rPr>
                        <a:t>The JSON log carries partition values</a:t>
                      </a:r>
                    </a:p>
                  </a:txBody>
                  <a:tcPr marL="82296" marR="64008" marT="32004" marB="32004" anchor="ctr">
                    <a:solidFill>
                      <a:srgbClr val="FBFAF7"/>
                    </a:solidFill>
                  </a:tcPr>
                </a:tc>
                <a:tc>
                  <a:txBody>
                    <a:bodyPr wrap="square"/>
                    <a:lstStyle/>
                    <a:p>
                      <a:pPr algn="l"/>
                      <a:r>
                        <a:rPr sz="950" b="0">
                          <a:solidFill>
                            <a:srgbClr val="0E1726"/>
                          </a:solidFill>
                          <a:latin typeface="Calibri"/>
                        </a:rPr>
                        <a:t>A **checkpoint** does not, so an engine starting from one gets none. Still open</a:t>
                      </a:r>
                    </a:p>
                  </a:txBody>
                  <a:tcPr marL="82296" marR="64008" marT="32004" marB="32004" anchor="ctr">
                    <a:solidFill>
                      <a:srgbClr val="FBFAF7"/>
                    </a:solidFill>
                  </a:tcPr>
                </a:tc>
              </a:tr>
            </a:tbl>
          </a:graphicData>
        </a:graphic>
      </p:graphicFrame>
      <p:sp>
        <p:nvSpPr>
          <p:cNvPr id="12" name="TextBox 11"/>
          <p:cNvSpPr txBox="1"/>
          <p:nvPr/>
        </p:nvSpPr>
        <p:spPr>
          <a:xfrm>
            <a:off x="777240" y="4634433"/>
            <a:ext cx="10637215" cy="731520"/>
          </a:xfrm>
          <a:prstGeom prst="rect">
            <a:avLst/>
          </a:prstGeom>
          <a:noFill/>
        </p:spPr>
        <p:txBody>
          <a:bodyPr wrap="square" lIns="0" rIns="0" tIns="0" bIns="0" anchor="t">
            <a:spAutoFit/>
          </a:bodyPr>
          <a:lstStyle/>
          <a:p>
            <a:pPr algn="l">
              <a:lnSpc>
                <a:spcPct val="126000"/>
              </a:lnSpc>
              <a:spcBef>
                <a:spcPts val="0"/>
              </a:spcBef>
              <a:spcAft>
                <a:spcPts val="0"/>
              </a:spcAft>
            </a:pPr>
            <a:r>
              <a:rPr sz="1100" b="1" i="0">
                <a:solidFill>
                  <a:srgbClr val="1E3A6E"/>
                </a:solidFill>
                <a:latin typeface="Calibri"/>
              </a:rPr>
              <a:t>Three exceptions, named. </a:t>
            </a:r>
            <a:r>
              <a:rPr sz="1100" b="0" i="0">
                <a:solidFill>
                  <a:srgbClr val="444F60"/>
                </a:solidFill>
                <a:latin typeface="Calibri"/>
              </a:rPr>
              <a:t>A bounded claim that survives being checked is worth more than an unbounded one that does not, and “open storage” with three stated exceptions is a sentence a reader can act 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FOUNDATIONS · WHAT A DATE MEANS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Two dates, and the question that separates them</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7 · Time as an axis, not a column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21</a:t>
            </a:r>
          </a:p>
        </p:txBody>
      </p:sp>
      <p:graphicFrame>
        <p:nvGraphicFramePr>
          <p:cNvPr id="10" name="Table 9"/>
          <p:cNvGraphicFramePr>
            <a:graphicFrameLocks noGrp="1"/>
          </p:cNvGraphicFramePr>
          <p:nvPr/>
        </p:nvGraphicFramePr>
        <p:xfrm>
          <a:off x="777240" y="1353312"/>
          <a:ext cx="10637215" cy="1018387"/>
        </p:xfrm>
        <a:graphic>
          <a:graphicData uri="http://schemas.openxmlformats.org/drawingml/2006/table">
            <a:tbl>
              <a:tblPr firstRow="1">
                <a:tableStyleId>{5C22544A-7EE6-4342-B048-85BDC9FD1C3A}</a:tableStyleId>
              </a:tblPr>
              <a:tblGrid>
                <a:gridCol w="2200803"/>
                <a:gridCol w="4218206"/>
                <a:gridCol w="4218206"/>
              </a:tblGrid>
              <a:tr h="333781">
                <a:tc>
                  <a:txBody>
                    <a:bodyPr wrap="square"/>
                    <a:lstStyle/>
                    <a:p>
                      <a:pPr algn="l"/>
                      <a:r>
                        <a:rPr sz="1100" b="1">
                          <a:solidFill>
                            <a:srgbClr val="FFFFFF"/>
                          </a:solidFill>
                          <a:latin typeface="Calibri"/>
                        </a:rPr>
                        <a:t>Column</a:t>
                      </a:r>
                    </a:p>
                  </a:txBody>
                  <a:tcPr marL="82296" marR="64008" marT="32004" marB="32004" anchor="ctr">
                    <a:solidFill>
                      <a:srgbClr val="1E3A6E"/>
                    </a:solidFill>
                  </a:tcPr>
                </a:tc>
                <a:tc>
                  <a:txBody>
                    <a:bodyPr wrap="square"/>
                    <a:lstStyle/>
                    <a:p>
                      <a:pPr algn="l"/>
                      <a:r>
                        <a:rPr sz="1100" b="1">
                          <a:solidFill>
                            <a:srgbClr val="FFFFFF"/>
                          </a:solidFill>
                          <a:latin typeface="Calibri"/>
                        </a:rPr>
                        <a:t>Answers</a:t>
                      </a:r>
                    </a:p>
                  </a:txBody>
                  <a:tcPr marL="82296" marR="64008" marT="32004" marB="32004" anchor="ctr">
                    <a:solidFill>
                      <a:srgbClr val="1E3A6E"/>
                    </a:solidFill>
                  </a:tcPr>
                </a:tc>
                <a:tc>
                  <a:txBody>
                    <a:bodyPr wrap="square"/>
                    <a:lstStyle/>
                    <a:p>
                      <a:pPr algn="l"/>
                      <a:r>
                        <a:rPr sz="1100" b="1">
                          <a:solidFill>
                            <a:srgbClr val="FFFFFF"/>
                          </a:solidFill>
                          <a:latin typeface="Calibri"/>
                        </a:rPr>
                        <a:t>Moves when</a:t>
                      </a:r>
                    </a:p>
                  </a:txBody>
                  <a:tcPr marL="82296" marR="64008" marT="32004" marB="32004" anchor="ctr">
                    <a:solidFill>
                      <a:srgbClr val="1E3A6E"/>
                    </a:solidFill>
                  </a:tcPr>
                </a:tc>
              </a:tr>
              <a:tr h="342303">
                <a:tc>
                  <a:txBody>
                    <a:bodyPr wrap="square"/>
                    <a:lstStyle/>
                    <a:p>
                      <a:pPr algn="l"/>
                      <a:r>
                        <a:rPr sz="1150" b="0">
                          <a:solidFill>
                            <a:srgbClr val="0E1726"/>
                          </a:solidFill>
                          <a:latin typeface="Calibri"/>
                        </a:rPr>
                        <a:t>`sank_data_date`</a:t>
                      </a:r>
                    </a:p>
                  </a:txBody>
                  <a:tcPr marL="82296" marR="64008" marT="32004" marB="32004" anchor="ctr">
                    <a:solidFill>
                      <a:srgbClr val="FFFFFF"/>
                    </a:solidFill>
                  </a:tcPr>
                </a:tc>
                <a:tc>
                  <a:txBody>
                    <a:bodyPr wrap="square"/>
                    <a:lstStyle/>
                    <a:p>
                      <a:pPr algn="l"/>
                      <a:r>
                        <a:rPr sz="1150" b="0">
                          <a:solidFill>
                            <a:srgbClr val="0E1726"/>
                          </a:solidFill>
                          <a:latin typeface="Calibri"/>
                        </a:rPr>
                        <a:t>which business day this row belongs to</a:t>
                      </a:r>
                    </a:p>
                  </a:txBody>
                  <a:tcPr marL="82296" marR="64008" marT="32004" marB="32004" anchor="ctr">
                    <a:solidFill>
                      <a:srgbClr val="FFFFFF"/>
                    </a:solidFill>
                  </a:tcPr>
                </a:tc>
                <a:tc>
                  <a:txBody>
                    <a:bodyPr wrap="square"/>
                    <a:lstStyle/>
                    <a:p>
                      <a:pPr algn="l"/>
                      <a:r>
                        <a:rPr sz="1150" b="0">
                          <a:solidFill>
                            <a:srgbClr val="0E1726"/>
                          </a:solidFill>
                          <a:latin typeface="Calibri"/>
                        </a:rPr>
                        <a:t>never — a restatement is a new row, not an edit</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the commit position</a:t>
                      </a:r>
                    </a:p>
                  </a:txBody>
                  <a:tcPr marL="82296" marR="64008" marT="32004" marB="32004" anchor="ctr">
                    <a:solidFill>
                      <a:srgbClr val="FBFAF7"/>
                    </a:solidFill>
                  </a:tcPr>
                </a:tc>
                <a:tc>
                  <a:txBody>
                    <a:bodyPr wrap="square"/>
                    <a:lstStyle/>
                    <a:p>
                      <a:pPr algn="l"/>
                      <a:r>
                        <a:rPr sz="1150" b="0">
                          <a:solidFill>
                            <a:srgbClr val="0E1726"/>
                          </a:solidFill>
                          <a:latin typeface="Calibri"/>
                        </a:rPr>
                        <a:t>when this row became visible</a:t>
                      </a:r>
                    </a:p>
                  </a:txBody>
                  <a:tcPr marL="82296" marR="64008" marT="32004" marB="32004" anchor="ctr">
                    <a:solidFill>
                      <a:srgbClr val="FBFAF7"/>
                    </a:solidFill>
                  </a:tcPr>
                </a:tc>
                <a:tc>
                  <a:txBody>
                    <a:bodyPr wrap="square"/>
                    <a:lstStyle/>
                    <a:p>
                      <a:pPr algn="l"/>
                      <a:r>
                        <a:rPr sz="1150" b="0">
                          <a:solidFill>
                            <a:srgbClr val="0E1726"/>
                          </a:solidFill>
                          <a:latin typeface="Calibri"/>
                        </a:rPr>
                        <a:t>every publication</a:t>
                      </a:r>
                    </a:p>
                  </a:txBody>
                  <a:tcPr marL="82296" marR="64008" marT="32004" marB="32004" anchor="ctr">
                    <a:solidFill>
                      <a:srgbClr val="FBFAF7"/>
                    </a:solidFill>
                  </a:tcPr>
                </a:tc>
              </a:tr>
            </a:tbl>
          </a:graphicData>
        </a:graphic>
      </p:graphicFrame>
      <p:sp>
        <p:nvSpPr>
          <p:cNvPr id="11" name="TextBox 10"/>
          <p:cNvSpPr txBox="1"/>
          <p:nvPr/>
        </p:nvSpPr>
        <p:spPr>
          <a:xfrm>
            <a:off x="777240" y="2609443"/>
            <a:ext cx="10637215" cy="2377440"/>
          </a:xfrm>
          <a:prstGeom prst="rect">
            <a:avLst/>
          </a:prstGeom>
          <a:noFill/>
        </p:spPr>
        <p:txBody>
          <a:bodyPr wrap="square" lIns="0" rIns="0" tIns="0" bIns="0" anchor="t">
            <a:spAutoFit/>
          </a:bodyPr>
          <a:lstStyle/>
          <a:p>
            <a:pPr algn="l">
              <a:lnSpc>
                <a:spcPct val="130000"/>
              </a:lnSpc>
              <a:spcBef>
                <a:spcPts val="0"/>
              </a:spcBef>
              <a:spcAft>
                <a:spcPts val="1000"/>
              </a:spcAft>
            </a:pPr>
            <a:r>
              <a:rPr sz="1250" b="1" i="0">
                <a:solidFill>
                  <a:srgbClr val="0E1726"/>
                </a:solidFill>
                <a:latin typeface="Calibri"/>
              </a:rPr>
              <a:t>Every published table carries the first. That is not a convention — it is the column that makes a restatement expressible at all.</a:t>
            </a:r>
          </a:p>
          <a:p>
            <a:pPr>
              <a:lnSpc>
                <a:spcPct val="130000"/>
              </a:lnSpc>
              <a:spcBef>
                <a:spcPts val="0"/>
              </a:spcBef>
              <a:spcAft>
                <a:spcPts val="1000"/>
              </a:spcAft>
            </a:pPr>
            <a:r>
              <a:rPr sz="1200" b="1" i="0">
                <a:solidFill>
                  <a:srgbClr val="0E1726"/>
                </a:solidFill>
                <a:latin typeface="Calibri"/>
              </a:rPr>
              <a:t>Without it there is one date and it is doing two jobs. </a:t>
            </a:r>
            <a:r>
              <a:rPr sz="1200" b="0" i="0">
                <a:solidFill>
                  <a:srgbClr val="444F60"/>
                </a:solidFill>
                <a:latin typeface="Calibri"/>
              </a:rPr>
              <a:t>A correction to Monday's figures, published on Wednesday, is either filed under Monday — losing the fact that Monday's number changed — or under Wednesday, losing the fact that it is about Monday. Neither is recoverable afterwards from the data, and both are the sort of thing an auditor asks about a year later.</a:t>
            </a:r>
          </a:p>
          <a:p>
            <a:pPr>
              <a:lnSpc>
                <a:spcPct val="130000"/>
              </a:lnSpc>
              <a:spcBef>
                <a:spcPts val="0"/>
              </a:spcBef>
              <a:spcAft>
                <a:spcPts val="600"/>
              </a:spcAft>
            </a:pPr>
            <a:r>
              <a:rPr sz="1200" b="1" i="0">
                <a:solidFill>
                  <a:srgbClr val="1E3A6E"/>
                </a:solidFill>
                <a:latin typeface="Calibri"/>
              </a:rPr>
              <a:t>With both, the question has an answer: </a:t>
            </a:r>
            <a:r>
              <a:rPr sz="1200" b="0" i="0">
                <a:solidFill>
                  <a:srgbClr val="444F60"/>
                </a:solidFill>
                <a:latin typeface="Calibri"/>
              </a:rPr>
              <a:t>*what did we believe about Monday, as of Tuesday?* — which is a read at a position, filtered on a business date, and is the query a reconciliation is made of.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FOUNDATIONS · THE PRICE AND THE GAP</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What it costs, and where it is not yet true</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7 · Time as an axis, not a column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22</a:t>
            </a:r>
          </a:p>
        </p:txBody>
      </p:sp>
      <p:graphicFrame>
        <p:nvGraphicFramePr>
          <p:cNvPr id="10" name="Table 9"/>
          <p:cNvGraphicFramePr>
            <a:graphicFrameLocks noGrp="1"/>
          </p:cNvGraphicFramePr>
          <p:nvPr/>
        </p:nvGraphicFramePr>
        <p:xfrm>
          <a:off x="777240" y="1353312"/>
          <a:ext cx="10637214" cy="1752688"/>
        </p:xfrm>
        <a:graphic>
          <a:graphicData uri="http://schemas.openxmlformats.org/drawingml/2006/table">
            <a:tbl>
              <a:tblPr firstRow="1">
                <a:tableStyleId>{5C22544A-7EE6-4342-B048-85BDC9FD1C3A}</a:tableStyleId>
              </a:tblPr>
              <a:tblGrid>
                <a:gridCol w="5135207"/>
                <a:gridCol w="5502007"/>
              </a:tblGrid>
              <a:tr h="333781">
                <a:tc>
                  <a:txBody>
                    <a:bodyPr wrap="square"/>
                    <a:lstStyle/>
                    <a:p>
                      <a:pPr algn="l"/>
                      <a:r>
                        <a:rPr sz="1100" b="1">
                          <a:solidFill>
                            <a:srgbClr val="FFFFFF"/>
                          </a:solidFill>
                          <a:latin typeface="Calibri"/>
                        </a:rPr>
                        <a:t/>
                      </a:r>
                    </a:p>
                  </a:txBody>
                  <a:tcPr marL="82296" marR="64008" marT="32004" marB="32004" anchor="ctr">
                    <a:solidFill>
                      <a:srgbClr val="1E3A6E"/>
                    </a:solidFill>
                  </a:tcPr>
                </a:tc>
                <a:tc>
                  <a:txBody>
                    <a:bodyPr wrap="square"/>
                    <a:lstStyle/>
                    <a:p>
                      <a:pPr algn="l"/>
                      <a:r>
                        <a:rPr sz="1100" b="1">
                          <a:solidFill>
                            <a:srgbClr val="FFFFFF"/>
                          </a:solidFill>
                          <a:latin typeface="Calibri"/>
                        </a:rPr>
                        <a:t>State</a:t>
                      </a:r>
                    </a:p>
                  </a:txBody>
                  <a:tcPr marL="82296" marR="64008" marT="32004" marB="32004" anchor="ctr">
                    <a:solidFill>
                      <a:srgbClr val="1E3A6E"/>
                    </a:solidFill>
                  </a:tcPr>
                </a:tc>
              </a:tr>
              <a:tr h="342303">
                <a:tc>
                  <a:txBody>
                    <a:bodyPr wrap="square"/>
                    <a:lstStyle/>
                    <a:p>
                      <a:pPr algn="l"/>
                      <a:r>
                        <a:rPr sz="1150" b="0">
                          <a:solidFill>
                            <a:srgbClr val="0E1726"/>
                          </a:solidFill>
                          <a:latin typeface="Calibri"/>
                        </a:rPr>
                        <a:t>Carried by every table the publish path writes</a:t>
                      </a:r>
                    </a:p>
                  </a:txBody>
                  <a:tcPr marL="82296" marR="64008" marT="32004" marB="32004" anchor="ctr">
                    <a:solidFill>
                      <a:srgbClr val="FFFFFF"/>
                    </a:solidFill>
                  </a:tcPr>
                </a:tc>
                <a:tc>
                  <a:txBody>
                    <a:bodyPr wrap="square"/>
                    <a:lstStyle/>
                    <a:p>
                      <a:pPr algn="l"/>
                      <a:r>
                        <a:rPr sz="1150" b="0">
                          <a:solidFill>
                            <a:srgbClr val="0E1726"/>
                          </a:solidFill>
                          <a:latin typeface="Calibri"/>
                        </a:rPr>
                        <a:t>**held**, and refused at publication if absent</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Carried by rows arriving on the streaming path</a:t>
                      </a:r>
                    </a:p>
                  </a:txBody>
                  <a:tcPr marL="82296" marR="64008" marT="32004" marB="32004" anchor="ctr">
                    <a:solidFill>
                      <a:srgbClr val="FBFAF7"/>
                    </a:solidFill>
                  </a:tcPr>
                </a:tc>
                <a:tc>
                  <a:txBody>
                    <a:bodyPr wrap="square"/>
                    <a:lstStyle/>
                    <a:p>
                      <a:pPr algn="l"/>
                      <a:r>
                        <a:rPr sz="1150" b="0">
                          <a:solidFill>
                            <a:srgbClr val="0E1726"/>
                          </a:solidFill>
                          <a:latin typeface="Calibri"/>
                        </a:rPr>
                        <a:t>**not held** — `FR-STORE-20` is unmet there</a:t>
                      </a:r>
                    </a:p>
                  </a:txBody>
                  <a:tcPr marL="82296" marR="64008" marT="32004" marB="32004" anchor="ctr">
                    <a:solidFill>
                      <a:srgbClr val="FBFAF7"/>
                    </a:solidFill>
                  </a:tcPr>
                </a:tc>
              </a:tr>
              <a:tr h="734301">
                <a:tc>
                  <a:txBody>
                    <a:bodyPr wrap="square"/>
                    <a:lstStyle/>
                    <a:p>
                      <a:pPr algn="l"/>
                      <a:r>
                        <a:rPr sz="1150" b="0">
                          <a:solidFill>
                            <a:srgbClr val="0E1726"/>
                          </a:solidFill>
                          <a:latin typeface="Calibri"/>
                        </a:rPr>
                        <a:t>`_sankhya_commit_ts` on ingested rows</a:t>
                      </a:r>
                    </a:p>
                  </a:txBody>
                  <a:tcPr marL="82296" marR="64008" marT="32004" marB="32004" anchor="ctr">
                    <a:solidFill>
                      <a:srgbClr val="FFFFFF"/>
                    </a:solidFill>
                  </a:tcPr>
                </a:tc>
                <a:tc>
                  <a:txBody>
                    <a:bodyPr wrap="square"/>
                    <a:lstStyle/>
                    <a:p>
                      <a:pPr algn="l"/>
                      <a:r>
                        <a:rPr sz="1150" b="0">
                          <a:solidFill>
                            <a:srgbClr val="0E1726"/>
                          </a:solidFill>
                          <a:latin typeface="Calibri"/>
                        </a:rPr>
                        <a:t>written **null** --- a mutation carries a position and no time. It was a literal `0` until 2026-09-06, which is a wrong instant rather than a missing one</a:t>
                      </a:r>
                    </a:p>
                  </a:txBody>
                  <a:tcPr marL="82296" marR="64008" marT="32004" marB="32004" anchor="ctr">
                    <a:solidFill>
                      <a:srgbClr val="FFFFFF"/>
                    </a:solidFill>
                  </a:tcPr>
                </a:tc>
              </a:tr>
            </a:tbl>
          </a:graphicData>
        </a:graphic>
      </p:graphicFrame>
      <p:sp>
        <p:nvSpPr>
          <p:cNvPr id="11" name="TextBox 10"/>
          <p:cNvSpPr txBox="1"/>
          <p:nvPr/>
        </p:nvSpPr>
        <p:spPr>
          <a:xfrm>
            <a:off x="777240" y="3343744"/>
            <a:ext cx="10637215" cy="1645920"/>
          </a:xfrm>
          <a:prstGeom prst="rect">
            <a:avLst/>
          </a:prstGeom>
          <a:noFill/>
        </p:spPr>
        <p:txBody>
          <a:bodyPr wrap="square" lIns="0" rIns="0" tIns="0" bIns="0" anchor="t">
            <a:spAutoFit/>
          </a:bodyPr>
          <a:lstStyle/>
          <a:p>
            <a:pPr algn="l"/>
          </a:p>
          <a:p>
            <a:pPr>
              <a:lnSpc>
                <a:spcPct val="130000"/>
              </a:lnSpc>
              <a:spcBef>
                <a:spcPts val="0"/>
              </a:spcBef>
              <a:spcAft>
                <a:spcPts val="1000"/>
              </a:spcAft>
            </a:pPr>
            <a:r>
              <a:rPr sz="1150" b="1" i="0">
                <a:solidFill>
                  <a:srgbClr val="1E3A6E"/>
                </a:solidFill>
                <a:latin typeface="Calibri"/>
              </a:rPr>
              <a:t>The gap is in the arm that does not run. </a:t>
            </a:r>
            <a:r>
              <a:rPr sz="1150" b="0" i="0">
                <a:solidFill>
                  <a:srgbClr val="444F60"/>
                </a:solidFill>
                <a:latin typeface="Calibri"/>
              </a:rPr>
              <a:t>There is no change-capture runtime, so nothing arrives on the streaming path today — which makes the unmet requirement harmless now and a defect the moment capture is wired. It is recorded here rather than discovered then.</a:t>
            </a:r>
          </a:p>
          <a:p>
            <a:pPr>
              <a:lnSpc>
                <a:spcPct val="130000"/>
              </a:lnSpc>
              <a:spcBef>
                <a:spcPts val="0"/>
              </a:spcBef>
              <a:spcAft>
                <a:spcPts val="600"/>
              </a:spcAft>
            </a:pPr>
            <a:r>
              <a:rPr sz="1150" b="1" i="0">
                <a:solidFill>
                  <a:srgbClr val="0E1726"/>
                </a:solidFill>
                <a:latin typeface="Calibri"/>
              </a:rPr>
              <a:t>And the cost of the column itself: </a:t>
            </a:r>
            <a:r>
              <a:rPr sz="1150" b="0" i="0">
                <a:solidFill>
                  <a:srgbClr val="444F60"/>
                </a:solidFill>
                <a:latin typeface="Calibri"/>
              </a:rPr>
              <a:t>every table is partitioned by it whether or not a query filters on it, so a query that does not mention the date still pays for the partitioning that makes one that does fast.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SYSTEM · POLICY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Three things a policy governs</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8 · What a statement may see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23</a:t>
            </a:r>
          </a:p>
        </p:txBody>
      </p:sp>
      <p:graphicFrame>
        <p:nvGraphicFramePr>
          <p:cNvPr id="10" name="Table 9"/>
          <p:cNvGraphicFramePr>
            <a:graphicFrameLocks noGrp="1"/>
          </p:cNvGraphicFramePr>
          <p:nvPr/>
        </p:nvGraphicFramePr>
        <p:xfrm>
          <a:off x="777240" y="1353312"/>
          <a:ext cx="10637214" cy="1948687"/>
        </p:xfrm>
        <a:graphic>
          <a:graphicData uri="http://schemas.openxmlformats.org/drawingml/2006/table">
            <a:tbl>
              <a:tblPr firstRow="1">
                <a:tableStyleId>{5C22544A-7EE6-4342-B048-85BDC9FD1C3A}</a:tableStyleId>
              </a:tblPr>
              <a:tblGrid>
                <a:gridCol w="2200803"/>
                <a:gridCol w="3301204"/>
                <a:gridCol w="5135207"/>
              </a:tblGrid>
              <a:tr h="333781">
                <a:tc>
                  <a:txBody>
                    <a:bodyPr wrap="square"/>
                    <a:lstStyle/>
                    <a:p>
                      <a:pPr algn="l"/>
                      <a:r>
                        <a:rPr sz="1100" b="1">
                          <a:solidFill>
                            <a:srgbClr val="FFFFFF"/>
                          </a:solidFill>
                          <a:latin typeface="Calibri"/>
                        </a:rPr>
                        <a:t>Surface</a:t>
                      </a:r>
                    </a:p>
                  </a:txBody>
                  <a:tcPr marL="82296" marR="64008" marT="32004" marB="32004" anchor="ctr">
                    <a:solidFill>
                      <a:srgbClr val="1E3A6E"/>
                    </a:solidFill>
                  </a:tcPr>
                </a:tc>
                <a:tc>
                  <a:txBody>
                    <a:bodyPr wrap="square"/>
                    <a:lstStyle/>
                    <a:p>
                      <a:pPr algn="l"/>
                      <a:r>
                        <a:rPr sz="1100" b="1">
                          <a:solidFill>
                            <a:srgbClr val="FFFFFF"/>
                          </a:solidFill>
                          <a:latin typeface="Calibri"/>
                        </a:rPr>
                        <a:t>How</a:t>
                      </a:r>
                    </a:p>
                  </a:txBody>
                  <a:tcPr marL="82296" marR="64008" marT="32004" marB="32004" anchor="ctr">
                    <a:solidFill>
                      <a:srgbClr val="1E3A6E"/>
                    </a:solidFill>
                  </a:tcPr>
                </a:tc>
                <a:tc>
                  <a:txBody>
                    <a:bodyPr wrap="square"/>
                    <a:lstStyle/>
                    <a:p>
                      <a:pPr algn="l"/>
                      <a:r>
                        <a:rPr sz="1100" b="1">
                          <a:solidFill>
                            <a:srgbClr val="FFFFFF"/>
                          </a:solidFill>
                          <a:latin typeface="Calibri"/>
                        </a:rPr>
                        <a:t>Why it is not advice</a:t>
                      </a:r>
                    </a:p>
                  </a:txBody>
                  <a:tcPr marL="82296" marR="64008" marT="32004" marB="32004" anchor="ctr">
                    <a:solidFill>
                      <a:srgbClr val="1E3A6E"/>
                    </a:solidFill>
                  </a:tcPr>
                </a:tc>
              </a:tr>
              <a:tr h="538302">
                <a:tc>
                  <a:txBody>
                    <a:bodyPr wrap="square"/>
                    <a:lstStyle/>
                    <a:p>
                      <a:pPr algn="l"/>
                      <a:r>
                        <a:rPr sz="1150" b="0">
                          <a:solidFill>
                            <a:srgbClr val="0E1726"/>
                          </a:solidFill>
                          <a:latin typeface="Calibri"/>
                        </a:rPr>
                        <a:t>Which tables exist</a:t>
                      </a:r>
                    </a:p>
                  </a:txBody>
                  <a:tcPr marL="82296" marR="64008" marT="32004" marB="32004" anchor="ctr">
                    <a:solidFill>
                      <a:srgbClr val="FFFFFF"/>
                    </a:solidFill>
                  </a:tcPr>
                </a:tc>
                <a:tc>
                  <a:txBody>
                    <a:bodyPr wrap="square"/>
                    <a:lstStyle/>
                    <a:p>
                      <a:pPr algn="l"/>
                      <a:r>
                        <a:rPr sz="1150" b="0">
                          <a:solidFill>
                            <a:srgbClr val="0E1726"/>
                          </a:solidFill>
                          <a:latin typeface="Calibri"/>
                        </a:rPr>
                        <a:t>an unauthorised table is never registered in the session</a:t>
                      </a:r>
                    </a:p>
                  </a:txBody>
                  <a:tcPr marL="82296" marR="64008" marT="32004" marB="32004" anchor="ctr">
                    <a:solidFill>
                      <a:srgbClr val="FFFFFF"/>
                    </a:solidFill>
                  </a:tcPr>
                </a:tc>
                <a:tc>
                  <a:txBody>
                    <a:bodyPr wrap="square"/>
                    <a:lstStyle/>
                    <a:p>
                      <a:pPr algn="l"/>
                      <a:r>
                        <a:rPr sz="1150" b="0">
                          <a:solidFill>
                            <a:srgbClr val="0E1726"/>
                          </a:solidFill>
                          <a:latin typeface="Calibri"/>
                        </a:rPr>
                        <a:t>a query naming it fails to resolve, rather than planning and returning nothing — which is indistinguishable from an empty table</a:t>
                      </a:r>
                    </a:p>
                  </a:txBody>
                  <a:tcPr marL="82296" marR="64008" marT="32004" marB="32004" anchor="ctr">
                    <a:solidFill>
                      <a:srgbClr val="FFFFFF"/>
                    </a:solidFill>
                  </a:tcPr>
                </a:tc>
              </a:tr>
              <a:tr h="538302">
                <a:tc>
                  <a:txBody>
                    <a:bodyPr wrap="square"/>
                    <a:lstStyle/>
                    <a:p>
                      <a:pPr algn="l"/>
                      <a:r>
                        <a:rPr sz="1150" b="0">
                          <a:solidFill>
                            <a:srgbClr val="0E1726"/>
                          </a:solidFill>
                          <a:latin typeface="Calibri"/>
                        </a:rPr>
                        <a:t>Which rows</a:t>
                      </a:r>
                    </a:p>
                  </a:txBody>
                  <a:tcPr marL="82296" marR="64008" marT="32004" marB="32004" anchor="ctr">
                    <a:solidFill>
                      <a:srgbClr val="FBFAF7"/>
                    </a:solidFill>
                  </a:tcPr>
                </a:tc>
                <a:tc>
                  <a:txBody>
                    <a:bodyPr wrap="square"/>
                    <a:lstStyle/>
                    <a:p>
                      <a:pPr algn="l"/>
                      <a:r>
                        <a:rPr sz="1150" b="0">
                          <a:solidFill>
                            <a:srgbClr val="0E1726"/>
                          </a:solidFill>
                          <a:latin typeface="Calibri"/>
                        </a:rPr>
                        <a:t>a predicate spliced into the plan as a physical operator</a:t>
                      </a:r>
                    </a:p>
                  </a:txBody>
                  <a:tcPr marL="82296" marR="64008" marT="32004" marB="32004" anchor="ctr">
                    <a:solidFill>
                      <a:srgbClr val="FBFAF7"/>
                    </a:solidFill>
                  </a:tcPr>
                </a:tc>
                <a:tc>
                  <a:txBody>
                    <a:bodyPr wrap="square"/>
                    <a:lstStyle/>
                    <a:p>
                      <a:pPr algn="l"/>
                      <a:r>
                        <a:rPr sz="1150" b="0">
                          <a:solidFill>
                            <a:srgbClr val="0E1726"/>
                          </a:solidFill>
                          <a:latin typeface="Calibri"/>
                        </a:rPr>
                        <a:t>a filter the optimiser could reorder past is a filter that sometimes does not run</a:t>
                      </a:r>
                    </a:p>
                  </a:txBody>
                  <a:tcPr marL="82296" marR="64008" marT="32004" marB="32004" anchor="ctr">
                    <a:solidFill>
                      <a:srgbClr val="FBFAF7"/>
                    </a:solidFill>
                  </a:tcPr>
                </a:tc>
              </a:tr>
              <a:tr h="538302">
                <a:tc>
                  <a:txBody>
                    <a:bodyPr wrap="square"/>
                    <a:lstStyle/>
                    <a:p>
                      <a:pPr algn="l"/>
                      <a:r>
                        <a:rPr sz="1150" b="0">
                          <a:solidFill>
                            <a:srgbClr val="0E1726"/>
                          </a:solidFill>
                          <a:latin typeface="Calibri"/>
                        </a:rPr>
                        <a:t>Which columns</a:t>
                      </a:r>
                    </a:p>
                  </a:txBody>
                  <a:tcPr marL="82296" marR="64008" marT="32004" marB="32004" anchor="ctr">
                    <a:solidFill>
                      <a:srgbClr val="FFFFFF"/>
                    </a:solidFill>
                  </a:tcPr>
                </a:tc>
                <a:tc>
                  <a:txBody>
                    <a:bodyPr wrap="square"/>
                    <a:lstStyle/>
                    <a:p>
                      <a:pPr algn="l"/>
                      <a:r>
                        <a:rPr sz="1150" b="0">
                          <a:solidFill>
                            <a:srgbClr val="0E1726"/>
                          </a:solidFill>
                          <a:latin typeface="Calibri"/>
                        </a:rPr>
                        <a:t>a masking expression wrapping the projection</a:t>
                      </a:r>
                    </a:p>
                  </a:txBody>
                  <a:tcPr marL="82296" marR="64008" marT="32004" marB="32004" anchor="ctr">
                    <a:solidFill>
                      <a:srgbClr val="FFFFFF"/>
                    </a:solidFill>
                  </a:tcPr>
                </a:tc>
                <a:tc>
                  <a:txBody>
                    <a:bodyPr wrap="square"/>
                    <a:lstStyle/>
                    <a:p>
                      <a:pPr algn="l"/>
                      <a:r>
                        <a:rPr sz="1150" b="0">
                          <a:solidFill>
                            <a:srgbClr val="0E1726"/>
                          </a:solidFill>
                          <a:latin typeface="Calibri"/>
                        </a:rPr>
                        <a:t>`concat` treats null as empty string, so it would turn a null e-mail into `***` — a value where there was none</a:t>
                      </a:r>
                    </a:p>
                  </a:txBody>
                  <a:tcPr marL="82296" marR="64008" marT="32004" marB="32004" anchor="ctr">
                    <a:solidFill>
                      <a:srgbClr val="FFFFFF"/>
                    </a:solidFill>
                  </a:tcPr>
                </a:tc>
              </a:tr>
            </a:tbl>
          </a:graphicData>
        </a:graphic>
      </p:graphicFrame>
      <p:sp>
        <p:nvSpPr>
          <p:cNvPr id="11" name="TextBox 10"/>
          <p:cNvSpPr txBox="1"/>
          <p:nvPr/>
        </p:nvSpPr>
        <p:spPr>
          <a:xfrm>
            <a:off x="777240" y="3539744"/>
            <a:ext cx="10637215" cy="1371600"/>
          </a:xfrm>
          <a:prstGeom prst="rect">
            <a:avLst/>
          </a:prstGeom>
          <a:noFill/>
        </p:spPr>
        <p:txBody>
          <a:bodyPr wrap="square" lIns="0" rIns="0" tIns="0" bIns="0" anchor="t">
            <a:spAutoFit/>
          </a:bodyPr>
          <a:lstStyle/>
          <a:p>
            <a:pPr algn="l"/>
          </a:p>
          <a:p>
            <a:pPr>
              <a:lnSpc>
                <a:spcPct val="130000"/>
              </a:lnSpc>
              <a:spcBef>
                <a:spcPts val="0"/>
              </a:spcBef>
              <a:spcAft>
                <a:spcPts val="600"/>
              </a:spcAft>
            </a:pPr>
            <a:r>
              <a:rPr sz="1150" b="1" i="0">
                <a:solidFill>
                  <a:srgbClr val="0E1726"/>
                </a:solidFill>
                <a:latin typeface="Calibri"/>
              </a:rPr>
              <a:t>A masked column also stops being a filter target. </a:t>
            </a:r>
            <a:r>
              <a:rPr sz="1150" b="0" i="0">
                <a:solidFill>
                  <a:srgbClr val="444F60"/>
                </a:solidFill>
                <a:latin typeface="Calibri"/>
              </a:rPr>
              <a:t>Pushing a predicate on a masked column down to the scan would test the real value and reveal it through which rows came back — so the table reports those filters as unsupported and the plan keeps them above the mask.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SYSTEM · WHAT IS ON BY DEFAULT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The posture as shipped, stated plainly</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8 · What a statement may see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24</a:t>
            </a:r>
          </a:p>
        </p:txBody>
      </p:sp>
      <p:graphicFrame>
        <p:nvGraphicFramePr>
          <p:cNvPr id="10" name="Table 9"/>
          <p:cNvGraphicFramePr>
            <a:graphicFrameLocks noGrp="1"/>
          </p:cNvGraphicFramePr>
          <p:nvPr/>
        </p:nvGraphicFramePr>
        <p:xfrm>
          <a:off x="777240" y="1353312"/>
          <a:ext cx="10637214" cy="2486989"/>
        </p:xfrm>
        <a:graphic>
          <a:graphicData uri="http://schemas.openxmlformats.org/drawingml/2006/table">
            <a:tbl>
              <a:tblPr firstRow="1">
                <a:tableStyleId>{5C22544A-7EE6-4342-B048-85BDC9FD1C3A}</a:tableStyleId>
              </a:tblPr>
              <a:tblGrid>
                <a:gridCol w="1742302"/>
                <a:gridCol w="2200803"/>
                <a:gridCol w="6694109"/>
              </a:tblGrid>
              <a:tr h="333781">
                <a:tc>
                  <a:txBody>
                    <a:bodyPr wrap="square"/>
                    <a:lstStyle/>
                    <a:p>
                      <a:pPr algn="l"/>
                      <a:r>
                        <a:rPr sz="1100" b="1">
                          <a:solidFill>
                            <a:srgbClr val="FFFFFF"/>
                          </a:solidFill>
                          <a:latin typeface="Calibri"/>
                        </a:rPr>
                        <a:t/>
                      </a:r>
                    </a:p>
                  </a:txBody>
                  <a:tcPr marL="82296" marR="64008" marT="32004" marB="32004" anchor="ctr">
                    <a:solidFill>
                      <a:srgbClr val="1E3A6E"/>
                    </a:solidFill>
                  </a:tcPr>
                </a:tc>
                <a:tc>
                  <a:txBody>
                    <a:bodyPr wrap="square"/>
                    <a:lstStyle/>
                    <a:p>
                      <a:pPr algn="l"/>
                      <a:r>
                        <a:rPr sz="1100" b="1">
                          <a:solidFill>
                            <a:srgbClr val="FFFFFF"/>
                          </a:solidFill>
                          <a:latin typeface="Calibri"/>
                        </a:rPr>
                        <a:t>Shipped default</a:t>
                      </a:r>
                    </a:p>
                  </a:txBody>
                  <a:tcPr marL="82296" marR="64008" marT="32004" marB="32004" anchor="ctr">
                    <a:solidFill>
                      <a:srgbClr val="1E3A6E"/>
                    </a:solidFill>
                  </a:tcPr>
                </a:tc>
                <a:tc>
                  <a:txBody>
                    <a:bodyPr wrap="square"/>
                    <a:lstStyle/>
                    <a:p>
                      <a:pPr algn="l"/>
                      <a:r>
                        <a:rPr sz="1100" b="1">
                          <a:solidFill>
                            <a:srgbClr val="FFFFFF"/>
                          </a:solidFill>
                          <a:latin typeface="Calibri"/>
                        </a:rPr>
                        <a:t>Consequence</a:t>
                      </a:r>
                    </a:p>
                  </a:txBody>
                  <a:tcPr marL="82296" marR="64008" marT="32004" marB="32004" anchor="ctr">
                    <a:solidFill>
                      <a:srgbClr val="1E3A6E"/>
                    </a:solidFill>
                  </a:tcPr>
                </a:tc>
              </a:tr>
              <a:tr h="538302">
                <a:tc>
                  <a:txBody>
                    <a:bodyPr wrap="square"/>
                    <a:lstStyle/>
                    <a:p>
                      <a:pPr algn="l"/>
                      <a:r>
                        <a:rPr sz="1150" b="0">
                          <a:solidFill>
                            <a:srgbClr val="0E1726"/>
                          </a:solidFill>
                          <a:latin typeface="Calibri"/>
                        </a:rPr>
                        <a:t>TLS</a:t>
                      </a:r>
                    </a:p>
                  </a:txBody>
                  <a:tcPr marL="82296" marR="64008" marT="32004" marB="32004" anchor="ctr">
                    <a:solidFill>
                      <a:srgbClr val="FFFFFF"/>
                    </a:solidFill>
                  </a:tcPr>
                </a:tc>
                <a:tc>
                  <a:txBody>
                    <a:bodyPr wrap="square"/>
                    <a:lstStyle/>
                    <a:p>
                      <a:pPr algn="l"/>
                      <a:r>
                        <a:rPr sz="1150" b="0">
                          <a:solidFill>
                            <a:srgbClr val="0E1726"/>
                          </a:solidFill>
                          <a:latin typeface="Calibri"/>
                        </a:rPr>
                        <a:t>**off**</a:t>
                      </a:r>
                    </a:p>
                  </a:txBody>
                  <a:tcPr marL="82296" marR="64008" marT="32004" marB="32004" anchor="ctr">
                    <a:solidFill>
                      <a:srgbClr val="FFFFFF"/>
                    </a:solidFill>
                  </a:tcPr>
                </a:tc>
                <a:tc>
                  <a:txBody>
                    <a:bodyPr wrap="square"/>
                    <a:lstStyle/>
                    <a:p>
                      <a:pPr algn="l"/>
                      <a:r>
                        <a:rPr sz="1150" b="0">
                          <a:solidFill>
                            <a:srgbClr val="0E1726"/>
                          </a:solidFill>
                          <a:latin typeface="Calibri"/>
                        </a:rPr>
                        <a:t>the wire is plain unless a certificate is configured; there is no environment variable for it, so a container configured purely by environment cannot turn it on</a:t>
                      </a:r>
                    </a:p>
                  </a:txBody>
                  <a:tcPr marL="82296" marR="64008" marT="32004" marB="32004" anchor="ctr">
                    <a:solidFill>
                      <a:srgbClr val="FFFFFF"/>
                    </a:solidFill>
                  </a:tcPr>
                </a:tc>
              </a:tr>
              <a:tr h="538302">
                <a:tc>
                  <a:txBody>
                    <a:bodyPr wrap="square"/>
                    <a:lstStyle/>
                    <a:p>
                      <a:pPr algn="l"/>
                      <a:r>
                        <a:rPr sz="1150" b="0">
                          <a:solidFill>
                            <a:srgbClr val="0E1726"/>
                          </a:solidFill>
                          <a:latin typeface="Calibri"/>
                        </a:rPr>
                        <a:t>Passwords</a:t>
                      </a:r>
                    </a:p>
                  </a:txBody>
                  <a:tcPr marL="82296" marR="64008" marT="32004" marB="32004" anchor="ctr">
                    <a:solidFill>
                      <a:srgbClr val="FBFAF7"/>
                    </a:solidFill>
                  </a:tcPr>
                </a:tc>
                <a:tc>
                  <a:txBody>
                    <a:bodyPr wrap="square"/>
                    <a:lstStyle/>
                    <a:p>
                      <a:pPr algn="l"/>
                      <a:r>
                        <a:rPr sz="1150" b="0">
                          <a:solidFill>
                            <a:srgbClr val="0E1726"/>
                          </a:solidFill>
                          <a:latin typeface="Calibri"/>
                        </a:rPr>
                        <a:t>required, verifier list empty</a:t>
                      </a:r>
                    </a:p>
                  </a:txBody>
                  <a:tcPr marL="82296" marR="64008" marT="32004" marB="32004" anchor="ctr">
                    <a:solidFill>
                      <a:srgbClr val="FBFAF7"/>
                    </a:solidFill>
                  </a:tcPr>
                </a:tc>
                <a:tc>
                  <a:txBody>
                    <a:bodyPr wrap="square"/>
                    <a:lstStyle/>
                    <a:p>
                      <a:pPr algn="l"/>
                      <a:r>
                        <a:rPr sz="1150" b="0">
                          <a:solidFill>
                            <a:srgbClr val="0E1726"/>
                          </a:solidFill>
                          <a:latin typeface="Calibri"/>
                        </a:rPr>
                        <a:t>no credential matches, so every login is refused until one is configured — the safe direction, and not obvious</a:t>
                      </a:r>
                    </a:p>
                  </a:txBody>
                  <a:tcPr marL="82296" marR="64008" marT="32004" marB="32004" anchor="ctr">
                    <a:solidFill>
                      <a:srgbClr val="FBFAF7"/>
                    </a:solidFill>
                  </a:tcPr>
                </a:tc>
              </a:tr>
              <a:tr h="538302">
                <a:tc>
                  <a:txBody>
                    <a:bodyPr wrap="square"/>
                    <a:lstStyle/>
                    <a:p>
                      <a:pPr algn="l"/>
                      <a:r>
                        <a:rPr sz="1150" b="0">
                          <a:solidFill>
                            <a:srgbClr val="0E1726"/>
                          </a:solidFill>
                          <a:latin typeface="Calibri"/>
                        </a:rPr>
                        <a:t>`/metrics`</a:t>
                      </a:r>
                    </a:p>
                  </a:txBody>
                  <a:tcPr marL="82296" marR="64008" marT="32004" marB="32004" anchor="ctr">
                    <a:solidFill>
                      <a:srgbClr val="FFFFFF"/>
                    </a:solidFill>
                  </a:tcPr>
                </a:tc>
                <a:tc>
                  <a:txBody>
                    <a:bodyPr wrap="square"/>
                    <a:lstStyle/>
                    <a:p>
                      <a:pPr algn="l"/>
                      <a:r>
                        <a:rPr sz="1150" b="0">
                          <a:solidFill>
                            <a:srgbClr val="0E1726"/>
                          </a:solidFill>
                          <a:latin typeface="Calibri"/>
                        </a:rPr>
                        <a:t>**unauthenticated**</a:t>
                      </a:r>
                    </a:p>
                  </a:txBody>
                  <a:tcPr marL="82296" marR="64008" marT="32004" marB="32004" anchor="ctr">
                    <a:solidFill>
                      <a:srgbClr val="FFFFFF"/>
                    </a:solidFill>
                  </a:tcPr>
                </a:tc>
                <a:tc>
                  <a:txBody>
                    <a:bodyPr wrap="square"/>
                    <a:lstStyle/>
                    <a:p>
                      <a:pPr algn="l"/>
                      <a:r>
                        <a:rPr sz="1150" b="0">
                          <a:solidFill>
                            <a:srgbClr val="0E1726"/>
                          </a:solidFill>
                          <a:latin typeface="Calibri"/>
                        </a:rPr>
                        <a:t>bound to loopback in the shipped unit; a collector reaches it through the pod boundary or a sidecar</a:t>
                      </a:r>
                    </a:p>
                  </a:txBody>
                  <a:tcPr marL="82296" marR="64008" marT="32004" marB="32004" anchor="ctr">
                    <a:solidFill>
                      <a:srgbClr val="FFFFFF"/>
                    </a:solidFill>
                  </a:tcPr>
                </a:tc>
              </a:tr>
              <a:tr h="538302">
                <a:tc>
                  <a:txBody>
                    <a:bodyPr wrap="square"/>
                    <a:lstStyle/>
                    <a:p>
                      <a:pPr algn="l"/>
                      <a:r>
                        <a:rPr sz="1150" b="0">
                          <a:solidFill>
                            <a:srgbClr val="0E1726"/>
                          </a:solidFill>
                          <a:latin typeface="Calibri"/>
                        </a:rPr>
                        <a:t>The columnar door</a:t>
                      </a:r>
                    </a:p>
                  </a:txBody>
                  <a:tcPr marL="82296" marR="64008" marT="32004" marB="32004" anchor="ctr">
                    <a:solidFill>
                      <a:srgbClr val="FBFAF7"/>
                    </a:solidFill>
                  </a:tcPr>
                </a:tc>
                <a:tc>
                  <a:txBody>
                    <a:bodyPr wrap="square"/>
                    <a:lstStyle/>
                    <a:p>
                      <a:pPr algn="l"/>
                      <a:r>
                        <a:rPr sz="1150" b="0">
                          <a:solidFill>
                            <a:srgbClr val="0E1726"/>
                          </a:solidFill>
                          <a:latin typeface="Calibri"/>
                        </a:rPr>
                        <a:t>identity from an unverified header</a:t>
                      </a:r>
                    </a:p>
                  </a:txBody>
                  <a:tcPr marL="82296" marR="64008" marT="32004" marB="32004" anchor="ctr">
                    <a:solidFill>
                      <a:srgbClr val="FBFAF7"/>
                    </a:solidFill>
                  </a:tcPr>
                </a:tc>
                <a:tc>
                  <a:txBody>
                    <a:bodyPr wrap="square"/>
                    <a:lstStyle/>
                    <a:p>
                      <a:pPr algn="l"/>
                      <a:r>
                        <a:rPr sz="1150" b="0">
                          <a:solidFill>
                            <a:srgbClr val="0E1726"/>
                          </a:solidFill>
                          <a:latin typeface="Calibri"/>
                        </a:rPr>
                        <a:t>Flight takes a `sankhya-user` header and never binds it to a client certificate, even under mutual TLS</a:t>
                      </a:r>
                    </a:p>
                  </a:txBody>
                  <a:tcPr marL="82296" marR="64008" marT="32004" marB="32004" anchor="ctr">
                    <a:solidFill>
                      <a:srgbClr val="FBFAF7"/>
                    </a:solidFill>
                  </a:tcPr>
                </a:tc>
              </a:tr>
            </a:tbl>
          </a:graphicData>
        </a:graphic>
      </p:graphicFrame>
      <p:sp>
        <p:nvSpPr>
          <p:cNvPr id="11" name="TextBox 10"/>
          <p:cNvSpPr txBox="1"/>
          <p:nvPr/>
        </p:nvSpPr>
        <p:spPr>
          <a:xfrm>
            <a:off x="777240" y="4059758"/>
            <a:ext cx="10637215" cy="914400"/>
          </a:xfrm>
          <a:prstGeom prst="rect">
            <a:avLst/>
          </a:prstGeom>
          <a:noFill/>
        </p:spPr>
        <p:txBody>
          <a:bodyPr wrap="square" lIns="0" rIns="0" tIns="0" bIns="0" anchor="t">
            <a:spAutoFit/>
          </a:bodyPr>
          <a:lstStyle/>
          <a:p>
            <a:pPr algn="l"/>
          </a:p>
          <a:p>
            <a:pPr>
              <a:lnSpc>
                <a:spcPct val="130000"/>
              </a:lnSpc>
              <a:spcBef>
                <a:spcPts val="0"/>
              </a:spcBef>
              <a:spcAft>
                <a:spcPts val="600"/>
              </a:spcAft>
            </a:pPr>
            <a:r>
              <a:rPr sz="1150" b="1" i="0">
                <a:solidFill>
                  <a:srgbClr val="1E3A6E"/>
                </a:solidFill>
                <a:latin typeface="Calibri"/>
              </a:rPr>
              <a:t>Each of these was documented honestly, and separately. </a:t>
            </a:r>
            <a:r>
              <a:rPr sz="1150" b="0" i="0">
                <a:solidFill>
                  <a:srgbClr val="444F60"/>
                </a:solidFill>
                <a:latin typeface="Calibri"/>
              </a:rPr>
              <a:t>A security reviewer needs them on one page, which is what `docs/SECURITY.md` is for — the assembly is the finding, not any single row.</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SYSTEM · LIMITS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Four bounds, and which door each applies to</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9 · Bounds, and what an operator can find out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25</a:t>
            </a:r>
          </a:p>
        </p:txBody>
      </p:sp>
      <p:graphicFrame>
        <p:nvGraphicFramePr>
          <p:cNvPr id="10" name="Table 9"/>
          <p:cNvGraphicFramePr>
            <a:graphicFrameLocks noGrp="1"/>
          </p:cNvGraphicFramePr>
          <p:nvPr/>
        </p:nvGraphicFramePr>
        <p:xfrm>
          <a:off x="777240" y="1353312"/>
          <a:ext cx="10637212" cy="1702993"/>
        </p:xfrm>
        <a:graphic>
          <a:graphicData uri="http://schemas.openxmlformats.org/drawingml/2006/table">
            <a:tbl>
              <a:tblPr firstRow="1">
                <a:tableStyleId>{5C22544A-7EE6-4342-B048-85BDC9FD1C3A}</a:tableStyleId>
              </a:tblPr>
              <a:tblGrid>
                <a:gridCol w="3209504"/>
                <a:gridCol w="1375501"/>
                <a:gridCol w="3301204"/>
                <a:gridCol w="2751003"/>
              </a:tblGrid>
              <a:tr h="333781">
                <a:tc>
                  <a:txBody>
                    <a:bodyPr wrap="square"/>
                    <a:lstStyle/>
                    <a:p>
                      <a:pPr algn="l"/>
                      <a:r>
                        <a:rPr sz="1100" b="1">
                          <a:solidFill>
                            <a:srgbClr val="FFFFFF"/>
                          </a:solidFill>
                          <a:latin typeface="Calibri"/>
                        </a:rPr>
                        <a:t>Bound</a:t>
                      </a:r>
                    </a:p>
                  </a:txBody>
                  <a:tcPr marL="82296" marR="64008" marT="32004" marB="32004" anchor="ctr">
                    <a:solidFill>
                      <a:srgbClr val="1E3A6E"/>
                    </a:solidFill>
                  </a:tcPr>
                </a:tc>
                <a:tc>
                  <a:txBody>
                    <a:bodyPr wrap="square"/>
                    <a:lstStyle/>
                    <a:p>
                      <a:pPr algn="l"/>
                      <a:r>
                        <a:rPr sz="1100" b="1">
                          <a:solidFill>
                            <a:srgbClr val="FFFFFF"/>
                          </a:solidFill>
                          <a:latin typeface="Calibri"/>
                        </a:rPr>
                        <a:t>Default</a:t>
                      </a:r>
                    </a:p>
                  </a:txBody>
                  <a:tcPr marL="82296" marR="64008" marT="32004" marB="32004" anchor="ctr">
                    <a:solidFill>
                      <a:srgbClr val="1E3A6E"/>
                    </a:solidFill>
                  </a:tcPr>
                </a:tc>
                <a:tc>
                  <a:txBody>
                    <a:bodyPr wrap="square"/>
                    <a:lstStyle/>
                    <a:p>
                      <a:pPr algn="l"/>
                      <a:r>
                        <a:rPr sz="1100" b="1">
                          <a:solidFill>
                            <a:srgbClr val="FFFFFF"/>
                          </a:solidFill>
                          <a:latin typeface="Calibri"/>
                        </a:rPr>
                        <a:t>Set by</a:t>
                      </a:r>
                    </a:p>
                  </a:txBody>
                  <a:tcPr marL="82296" marR="64008" marT="32004" marB="32004" anchor="ctr">
                    <a:solidFill>
                      <a:srgbClr val="1E3A6E"/>
                    </a:solidFill>
                  </a:tcPr>
                </a:tc>
                <a:tc>
                  <a:txBody>
                    <a:bodyPr wrap="square"/>
                    <a:lstStyle/>
                    <a:p>
                      <a:pPr algn="l"/>
                      <a:r>
                        <a:rPr sz="1100" b="1">
                          <a:solidFill>
                            <a:srgbClr val="FFFFFF"/>
                          </a:solidFill>
                          <a:latin typeface="Calibri"/>
                        </a:rPr>
                        <a:t>Applies to</a:t>
                      </a:r>
                    </a:p>
                  </a:txBody>
                  <a:tcPr marL="82296" marR="64008" marT="32004" marB="32004" anchor="ctr">
                    <a:solidFill>
                      <a:srgbClr val="1E3A6E"/>
                    </a:solidFill>
                  </a:tcPr>
                </a:tc>
              </a:tr>
              <a:tr h="342303">
                <a:tc>
                  <a:txBody>
                    <a:bodyPr wrap="square"/>
                    <a:lstStyle/>
                    <a:p>
                      <a:pPr algn="l"/>
                      <a:r>
                        <a:rPr sz="1150" b="0">
                          <a:solidFill>
                            <a:srgbClr val="0E1726"/>
                          </a:solidFill>
                          <a:latin typeface="Calibri"/>
                        </a:rPr>
                        <a:t>Memory, **shared between all queries**</a:t>
                      </a:r>
                    </a:p>
                  </a:txBody>
                  <a:tcPr marL="82296" marR="64008" marT="32004" marB="32004" anchor="ctr">
                    <a:solidFill>
                      <a:srgbClr val="FFFFFF"/>
                    </a:solidFill>
                  </a:tcPr>
                </a:tc>
                <a:tc>
                  <a:txBody>
                    <a:bodyPr wrap="square"/>
                    <a:lstStyle/>
                    <a:p>
                      <a:pPr algn="l"/>
                      <a:r>
                        <a:rPr sz="1150" b="0">
                          <a:solidFill>
                            <a:srgbClr val="0E1726"/>
                          </a:solidFill>
                          <a:latin typeface="Calibri"/>
                        </a:rPr>
                        <a:t>1 GiB</a:t>
                      </a:r>
                    </a:p>
                  </a:txBody>
                  <a:tcPr marL="82296" marR="64008" marT="32004" marB="32004" anchor="ctr">
                    <a:solidFill>
                      <a:srgbClr val="FFFFFF"/>
                    </a:solidFill>
                  </a:tcPr>
                </a:tc>
                <a:tc>
                  <a:txBody>
                    <a:bodyPr wrap="square"/>
                    <a:lstStyle/>
                    <a:p>
                      <a:pPr algn="l"/>
                      <a:r>
                        <a:rPr sz="1150" b="0">
                          <a:solidFill>
                            <a:srgbClr val="0E1726"/>
                          </a:solidFill>
                          <a:latin typeface="Calibri"/>
                        </a:rPr>
                        <a:t>`SANKHYA_QUERY_MEMORY_BYTES`</a:t>
                      </a:r>
                    </a:p>
                  </a:txBody>
                  <a:tcPr marL="82296" marR="64008" marT="32004" marB="32004" anchor="ctr">
                    <a:solidFill>
                      <a:srgbClr val="FFFFFF"/>
                    </a:solidFill>
                  </a:tcPr>
                </a:tc>
                <a:tc>
                  <a:txBody>
                    <a:bodyPr wrap="square"/>
                    <a:lstStyle/>
                    <a:p>
                      <a:pPr algn="l"/>
                      <a:r>
                        <a:rPr sz="1150" b="0">
                          <a:solidFill>
                            <a:srgbClr val="0E1726"/>
                          </a:solidFill>
                          <a:latin typeface="Calibri"/>
                        </a:rPr>
                        <a:t>every statement</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Rows returned</a:t>
                      </a:r>
                    </a:p>
                  </a:txBody>
                  <a:tcPr marL="82296" marR="64008" marT="32004" marB="32004" anchor="ctr">
                    <a:solidFill>
                      <a:srgbClr val="FBFAF7"/>
                    </a:solidFill>
                  </a:tcPr>
                </a:tc>
                <a:tc>
                  <a:txBody>
                    <a:bodyPr wrap="square"/>
                    <a:lstStyle/>
                    <a:p>
                      <a:pPr algn="l"/>
                      <a:r>
                        <a:rPr sz="1150" b="0">
                          <a:solidFill>
                            <a:srgbClr val="0E1726"/>
                          </a:solidFill>
                          <a:latin typeface="Calibri"/>
                        </a:rPr>
                        <a:t>10,000</a:t>
                      </a:r>
                    </a:p>
                  </a:txBody>
                  <a:tcPr marL="82296" marR="64008" marT="32004" marB="32004" anchor="ctr">
                    <a:solidFill>
                      <a:srgbClr val="FBFAF7"/>
                    </a:solidFill>
                  </a:tcPr>
                </a:tc>
                <a:tc>
                  <a:txBody>
                    <a:bodyPr wrap="square"/>
                    <a:lstStyle/>
                    <a:p>
                      <a:pPr algn="l"/>
                      <a:r>
                        <a:rPr sz="1150" b="0">
                          <a:solidFill>
                            <a:srgbClr val="0E1726"/>
                          </a:solidFill>
                          <a:latin typeface="Calibri"/>
                        </a:rPr>
                        <a:t>compiled in</a:t>
                      </a:r>
                    </a:p>
                  </a:txBody>
                  <a:tcPr marL="82296" marR="64008" marT="32004" marB="32004" anchor="ctr">
                    <a:solidFill>
                      <a:srgbClr val="FBFAF7"/>
                    </a:solidFill>
                  </a:tcPr>
                </a:tc>
                <a:tc>
                  <a:txBody>
                    <a:bodyPr wrap="square"/>
                    <a:lstStyle/>
                    <a:p>
                      <a:pPr algn="l"/>
                      <a:r>
                        <a:rPr sz="1150" b="0">
                          <a:solidFill>
                            <a:srgbClr val="0E1726"/>
                          </a:solidFill>
                          <a:latin typeface="Calibri"/>
                        </a:rPr>
                        <a:t>the wire door</a:t>
                      </a:r>
                    </a:p>
                  </a:txBody>
                  <a:tcPr marL="82296" marR="64008" marT="32004" marB="32004" anchor="ctr">
                    <a:solidFill>
                      <a:srgbClr val="FBFAF7"/>
                    </a:solidFill>
                  </a:tcPr>
                </a:tc>
              </a:tr>
              <a:tr h="342303">
                <a:tc>
                  <a:txBody>
                    <a:bodyPr wrap="square"/>
                    <a:lstStyle/>
                    <a:p>
                      <a:pPr algn="l"/>
                      <a:r>
                        <a:rPr sz="1150" b="0">
                          <a:solidFill>
                            <a:srgbClr val="0E1726"/>
                          </a:solidFill>
                          <a:latin typeface="Calibri"/>
                        </a:rPr>
                        <a:t>Statement deadline</a:t>
                      </a:r>
                    </a:p>
                  </a:txBody>
                  <a:tcPr marL="82296" marR="64008" marT="32004" marB="32004" anchor="ctr">
                    <a:solidFill>
                      <a:srgbClr val="FFFFFF"/>
                    </a:solidFill>
                  </a:tcPr>
                </a:tc>
                <a:tc>
                  <a:txBody>
                    <a:bodyPr wrap="square"/>
                    <a:lstStyle/>
                    <a:p>
                      <a:pPr algn="l"/>
                      <a:r>
                        <a:rPr sz="1150" b="0">
                          <a:solidFill>
                            <a:srgbClr val="0E1726"/>
                          </a:solidFill>
                          <a:latin typeface="Calibri"/>
                        </a:rPr>
                        <a:t>30 minutes</a:t>
                      </a:r>
                    </a:p>
                  </a:txBody>
                  <a:tcPr marL="82296" marR="64008" marT="32004" marB="32004" anchor="ctr">
                    <a:solidFill>
                      <a:srgbClr val="FFFFFF"/>
                    </a:solidFill>
                  </a:tcPr>
                </a:tc>
                <a:tc>
                  <a:txBody>
                    <a:bodyPr wrap="square"/>
                    <a:lstStyle/>
                    <a:p>
                      <a:pPr algn="l"/>
                      <a:r>
                        <a:rPr sz="1150" b="0">
                          <a:solidFill>
                            <a:srgbClr val="0E1726"/>
                          </a:solidFill>
                          <a:latin typeface="Calibri"/>
                        </a:rPr>
                        <a:t>`SANKHYA_STATEMENT_TIMEOUT_SECONDS`</a:t>
                      </a:r>
                    </a:p>
                  </a:txBody>
                  <a:tcPr marL="82296" marR="64008" marT="32004" marB="32004" anchor="ctr">
                    <a:solidFill>
                      <a:srgbClr val="FFFFFF"/>
                    </a:solidFill>
                  </a:tcPr>
                </a:tc>
                <a:tc>
                  <a:txBody>
                    <a:bodyPr wrap="square"/>
                    <a:lstStyle/>
                    <a:p>
                      <a:pPr algn="l"/>
                      <a:r>
                        <a:rPr sz="1150" b="0">
                          <a:solidFill>
                            <a:srgbClr val="0E1726"/>
                          </a:solidFill>
                          <a:latin typeface="Calibri"/>
                        </a:rPr>
                        <a:t>the wire door</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Concurrent connections</a:t>
                      </a:r>
                    </a:p>
                  </a:txBody>
                  <a:tcPr marL="82296" marR="64008" marT="32004" marB="32004" anchor="ctr">
                    <a:solidFill>
                      <a:srgbClr val="FBFAF7"/>
                    </a:solidFill>
                  </a:tcPr>
                </a:tc>
                <a:tc>
                  <a:txBody>
                    <a:bodyPr wrap="square"/>
                    <a:lstStyle/>
                    <a:p>
                      <a:pPr algn="l"/>
                      <a:r>
                        <a:rPr sz="1150" b="0">
                          <a:solidFill>
                            <a:srgbClr val="0E1726"/>
                          </a:solidFill>
                          <a:latin typeface="Calibri"/>
                        </a:rPr>
                        <a:t>1,024</a:t>
                      </a:r>
                    </a:p>
                  </a:txBody>
                  <a:tcPr marL="82296" marR="64008" marT="32004" marB="32004" anchor="ctr">
                    <a:solidFill>
                      <a:srgbClr val="FBFAF7"/>
                    </a:solidFill>
                  </a:tcPr>
                </a:tc>
                <a:tc>
                  <a:txBody>
                    <a:bodyPr wrap="square"/>
                    <a:lstStyle/>
                    <a:p>
                      <a:pPr algn="l"/>
                      <a:r>
                        <a:rPr sz="1150" b="0">
                          <a:solidFill>
                            <a:srgbClr val="0E1726"/>
                          </a:solidFill>
                          <a:latin typeface="Calibri"/>
                        </a:rPr>
                        <a:t>compiled in</a:t>
                      </a:r>
                    </a:p>
                  </a:txBody>
                  <a:tcPr marL="82296" marR="64008" marT="32004" marB="32004" anchor="ctr">
                    <a:solidFill>
                      <a:srgbClr val="FBFAF7"/>
                    </a:solidFill>
                  </a:tcPr>
                </a:tc>
                <a:tc>
                  <a:txBody>
                    <a:bodyPr wrap="square"/>
                    <a:lstStyle/>
                    <a:p>
                      <a:pPr algn="l"/>
                      <a:r>
                        <a:rPr sz="1150" b="0">
                          <a:solidFill>
                            <a:srgbClr val="0E1726"/>
                          </a:solidFill>
                          <a:latin typeface="Calibri"/>
                        </a:rPr>
                        <a:t>the wire door</a:t>
                      </a:r>
                    </a:p>
                  </a:txBody>
                  <a:tcPr marL="82296" marR="64008" marT="32004" marB="32004" anchor="ctr">
                    <a:solidFill>
                      <a:srgbClr val="FBFAF7"/>
                    </a:solidFill>
                  </a:tcPr>
                </a:tc>
              </a:tr>
            </a:tbl>
          </a:graphicData>
        </a:graphic>
      </p:graphicFrame>
      <p:sp>
        <p:nvSpPr>
          <p:cNvPr id="11" name="TextBox 10"/>
          <p:cNvSpPr txBox="1"/>
          <p:nvPr/>
        </p:nvSpPr>
        <p:spPr>
          <a:xfrm>
            <a:off x="777240" y="3294049"/>
            <a:ext cx="10637215" cy="2377440"/>
          </a:xfrm>
          <a:prstGeom prst="rect">
            <a:avLst/>
          </a:prstGeom>
          <a:noFill/>
        </p:spPr>
        <p:txBody>
          <a:bodyPr wrap="square" lIns="0" rIns="0" tIns="0" bIns="0" anchor="t">
            <a:spAutoFit/>
          </a:bodyPr>
          <a:lstStyle/>
          <a:p>
            <a:pPr algn="l"/>
          </a:p>
          <a:p>
            <a:pPr>
              <a:lnSpc>
                <a:spcPct val="130000"/>
              </a:lnSpc>
              <a:spcBef>
                <a:spcPts val="0"/>
              </a:spcBef>
              <a:spcAft>
                <a:spcPts val="1000"/>
              </a:spcAft>
            </a:pPr>
            <a:r>
              <a:rPr sz="1150" b="1" i="0">
                <a:solidFill>
                  <a:srgbClr val="0E1726"/>
                </a:solidFill>
                <a:latin typeface="Calibri"/>
              </a:rPr>
              <a:t>The pool is fair rather than greedy, and that is the whole argument for sharing it. </a:t>
            </a:r>
            <a:r>
              <a:rPr sz="1150" b="0" i="0">
                <a:solidFill>
                  <a:srgbClr val="444F60"/>
                </a:solidFill>
                <a:latin typeface="Calibri"/>
              </a:rPr>
              <a:t>A greedy pool serves whoever asks first and starves the rest, turning one expensive query into an outage for everybody. A fair one makes the expensive query fail *itself* — which is the query that should get the error.</a:t>
            </a:r>
          </a:p>
          <a:p>
            <a:pPr>
              <a:lnSpc>
                <a:spcPct val="130000"/>
              </a:lnSpc>
              <a:spcBef>
                <a:spcPts val="0"/>
              </a:spcBef>
              <a:spcAft>
                <a:spcPts val="600"/>
              </a:spcAft>
            </a:pPr>
            <a:r>
              <a:rPr sz="1150" b="1" i="0">
                <a:solidFill>
                  <a:srgbClr val="1E3A6E"/>
                </a:solidFill>
                <a:latin typeface="Calibri"/>
              </a:rPr>
              <a:t>Spilling is not a silver bullet. </a:t>
            </a:r>
            <a:r>
              <a:rPr sz="1150" b="0" i="0">
                <a:solidFill>
                  <a:srgbClr val="444F60"/>
                </a:solidFill>
                <a:latin typeface="Calibri"/>
              </a:rPr>
              <a:t>A sort or a grouping past the bound finishes slowly on disk. A hash join cannot spill at all, so it is refused whatever the limit is — worth knowing before somebody raises the limit expecting the join to start working.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SYSTEM · A CORRECTION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The bound that was not a bound</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9 · Bounds, and what an operator can find out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26</a:t>
            </a:r>
          </a:p>
        </p:txBody>
      </p:sp>
      <p:sp>
        <p:nvSpPr>
          <p:cNvPr id="10" name="TextBox 9"/>
          <p:cNvSpPr txBox="1"/>
          <p:nvPr/>
        </p:nvSpPr>
        <p:spPr>
          <a:xfrm>
            <a:off x="777240" y="1353312"/>
            <a:ext cx="10637215" cy="2011680"/>
          </a:xfrm>
          <a:prstGeom prst="rect">
            <a:avLst/>
          </a:prstGeom>
          <a:noFill/>
        </p:spPr>
        <p:txBody>
          <a:bodyPr wrap="square" lIns="0" rIns="0" tIns="0" bIns="0" anchor="t">
            <a:spAutoFit/>
          </a:bodyPr>
          <a:lstStyle/>
          <a:p>
            <a:pPr algn="l">
              <a:lnSpc>
                <a:spcPct val="130000"/>
              </a:lnSpc>
              <a:spcBef>
                <a:spcPts val="0"/>
              </a:spcBef>
              <a:spcAft>
                <a:spcPts val="1000"/>
              </a:spcAft>
            </a:pPr>
            <a:r>
              <a:rPr sz="1300" b="1" i="0">
                <a:solidFill>
                  <a:srgbClr val="0E1726"/>
                </a:solidFill>
                <a:latin typeface="Calibri"/>
              </a:rPr>
              <a:t>The setting says what a server's queries may use **between them**. The first implementation built a fresh pool on every call.</a:t>
            </a:r>
          </a:p>
          <a:p>
            <a:pPr>
              <a:lnSpc>
                <a:spcPct val="130000"/>
              </a:lnSpc>
              <a:spcBef>
                <a:spcPts val="0"/>
              </a:spcBef>
              <a:spcAft>
                <a:spcPts val="1000"/>
              </a:spcAft>
            </a:pPr>
            <a:r>
              <a:rPr sz="1150" b="0" i="0">
                <a:solidFill>
                  <a:srgbClr val="444F60"/>
                </a:solidFill>
                <a:latin typeface="Calibri"/>
              </a:rPr>
              <a:t>So each statement got its own gibibyte, ten concurrent statements got ten, and the machine died exactly as it had before — while the setting, its help text and the remediation log all said otherwise. </a:t>
            </a:r>
            <a:r>
              <a:rPr sz="1150" b="1" i="0">
                <a:solidFill>
                  <a:srgbClr val="0E1726"/>
                </a:solidFill>
                <a:latin typeface="Calibri"/>
              </a:rPr>
              <a:t>A pool that is not shared is not a bound; it is a per-statement allowance wearing a bound's name, which is worse than no bound because it reads as solved.</a:t>
            </a:r>
          </a:p>
          <a:p>
            <a:pPr>
              <a:lnSpc>
                <a:spcPct val="130000"/>
              </a:lnSpc>
              <a:spcBef>
                <a:spcPts val="0"/>
              </a:spcBef>
              <a:spcAft>
                <a:spcPts val="600"/>
              </a:spcAft>
            </a:pPr>
            <a:r>
              <a:rPr sz="1150" b="1" i="0">
                <a:solidFill>
                  <a:srgbClr val="1E3A6E"/>
                </a:solidFill>
                <a:latin typeface="Calibri"/>
              </a:rPr>
              <a:t>And fairness was the entire reason for choosing that pool. </a:t>
            </a:r>
            <a:r>
              <a:rPr sz="1150" b="0" i="0">
                <a:solidFill>
                  <a:srgbClr val="444F60"/>
                </a:solidFill>
                <a:latin typeface="Calibri"/>
              </a:rPr>
              <a:t>With a pool each, there is nothing to be fair about.</a:t>
            </a:r>
          </a:p>
        </p:txBody>
      </p:sp>
      <p:sp>
        <p:nvSpPr>
          <p:cNvPr id="11" name="Rectangle 10"/>
          <p:cNvSpPr/>
          <p:nvPr/>
        </p:nvSpPr>
        <p:spPr>
          <a:xfrm>
            <a:off x="777240" y="3547872"/>
            <a:ext cx="10637215" cy="105156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547872"/>
            <a:ext cx="41148" cy="105156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3666744"/>
            <a:ext cx="10180015" cy="832103"/>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1E3A6E"/>
                </a:solidFill>
                <a:latin typeface="Calibri"/>
              </a:rPr>
              <a:t>The test written to prove it passed either way. </a:t>
            </a:r>
            <a:r>
              <a:rPr sz="1050" b="0" i="0">
                <a:solidFill>
                  <a:srgbClr val="0E1726"/>
                </a:solidFill>
                <a:latin typeface="Calibri"/>
              </a:rPr>
              <a:t>Two sessions and two hash joins against a megabyte are refused whether the pool is shared or per-statement — each is refused against a megabyte of its own. It was thrown away for one that asks the question directly: the two runtimes, and the pools inside them, must be the same object.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SYSTEM · WHAT IS RECORDED</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Two records of the same event, for two people</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9 · Bounds, and what an operator can find out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27</a:t>
            </a:r>
          </a:p>
        </p:txBody>
      </p:sp>
      <p:graphicFrame>
        <p:nvGraphicFramePr>
          <p:cNvPr id="10" name="Table 9"/>
          <p:cNvGraphicFramePr>
            <a:graphicFrameLocks noGrp="1"/>
          </p:cNvGraphicFramePr>
          <p:nvPr/>
        </p:nvGraphicFramePr>
        <p:xfrm>
          <a:off x="777240" y="1353312"/>
          <a:ext cx="10637214" cy="1898992"/>
        </p:xfrm>
        <a:graphic>
          <a:graphicData uri="http://schemas.openxmlformats.org/drawingml/2006/table">
            <a:tbl>
              <a:tblPr firstRow="1">
                <a:tableStyleId>{5C22544A-7EE6-4342-B048-85BDC9FD1C3A}</a:tableStyleId>
              </a:tblPr>
              <a:tblGrid>
                <a:gridCol w="1925702"/>
                <a:gridCol w="4309906"/>
                <a:gridCol w="4401606"/>
              </a:tblGrid>
              <a:tr h="333781">
                <a:tc>
                  <a:txBody>
                    <a:bodyPr wrap="square"/>
                    <a:lstStyle/>
                    <a:p>
                      <a:pPr algn="l"/>
                      <a:r>
                        <a:rPr sz="1100" b="1">
                          <a:solidFill>
                            <a:srgbClr val="FFFFFF"/>
                          </a:solidFill>
                          <a:latin typeface="Calibri"/>
                        </a:rPr>
                        <a:t/>
                      </a:r>
                    </a:p>
                  </a:txBody>
                  <a:tcPr marL="82296" marR="64008" marT="32004" marB="32004" anchor="ctr">
                    <a:solidFill>
                      <a:srgbClr val="1E3A6E"/>
                    </a:solidFill>
                  </a:tcPr>
                </a:tc>
                <a:tc>
                  <a:txBody>
                    <a:bodyPr wrap="square"/>
                    <a:lstStyle/>
                    <a:p>
                      <a:pPr algn="l"/>
                      <a:r>
                        <a:rPr sz="1100" b="1">
                          <a:solidFill>
                            <a:srgbClr val="FFFFFF"/>
                          </a:solidFill>
                          <a:latin typeface="Calibri"/>
                        </a:rPr>
                        <a:t>The audit chain</a:t>
                      </a:r>
                    </a:p>
                  </a:txBody>
                  <a:tcPr marL="82296" marR="64008" marT="32004" marB="32004" anchor="ctr">
                    <a:solidFill>
                      <a:srgbClr val="1E3A6E"/>
                    </a:solidFill>
                  </a:tcPr>
                </a:tc>
                <a:tc>
                  <a:txBody>
                    <a:bodyPr wrap="square"/>
                    <a:lstStyle/>
                    <a:p>
                      <a:pPr algn="l"/>
                      <a:r>
                        <a:rPr sz="1100" b="1">
                          <a:solidFill>
                            <a:srgbClr val="FFFFFF"/>
                          </a:solidFill>
                          <a:latin typeface="Calibri"/>
                        </a:rPr>
                        <a:t>The query log</a:t>
                      </a:r>
                    </a:p>
                  </a:txBody>
                  <a:tcPr marL="82296" marR="64008" marT="32004" marB="32004" anchor="ctr">
                    <a:solidFill>
                      <a:srgbClr val="1E3A6E"/>
                    </a:solidFill>
                  </a:tcPr>
                </a:tc>
              </a:tr>
              <a:tr h="342303">
                <a:tc>
                  <a:txBody>
                    <a:bodyPr wrap="square"/>
                    <a:lstStyle/>
                    <a:p>
                      <a:pPr algn="l"/>
                      <a:r>
                        <a:rPr sz="1150" b="0">
                          <a:solidFill>
                            <a:srgbClr val="0E1726"/>
                          </a:solidFill>
                          <a:latin typeface="Calibri"/>
                        </a:rPr>
                        <a:t>Read by</a:t>
                      </a:r>
                    </a:p>
                  </a:txBody>
                  <a:tcPr marL="82296" marR="64008" marT="32004" marB="32004" anchor="ctr">
                    <a:solidFill>
                      <a:srgbClr val="FFFFFF"/>
                    </a:solidFill>
                  </a:tcPr>
                </a:tc>
                <a:tc>
                  <a:txBody>
                    <a:bodyPr wrap="square"/>
                    <a:lstStyle/>
                    <a:p>
                      <a:pPr algn="l"/>
                      <a:r>
                        <a:rPr sz="1150" b="0">
                          <a:solidFill>
                            <a:srgbClr val="0E1726"/>
                          </a:solidFill>
                          <a:latin typeface="Calibri"/>
                        </a:rPr>
                        <a:t>an investigator</a:t>
                      </a:r>
                    </a:p>
                  </a:txBody>
                  <a:tcPr marL="82296" marR="64008" marT="32004" marB="32004" anchor="ctr">
                    <a:solidFill>
                      <a:srgbClr val="FFFFFF"/>
                    </a:solidFill>
                  </a:tcPr>
                </a:tc>
                <a:tc>
                  <a:txBody>
                    <a:bodyPr wrap="square"/>
                    <a:lstStyle/>
                    <a:p>
                      <a:pPr algn="l"/>
                      <a:r>
                        <a:rPr sz="1150" b="0">
                          <a:solidFill>
                            <a:srgbClr val="0E1726"/>
                          </a:solidFill>
                          <a:latin typeface="Calibri"/>
                        </a:rPr>
                        <a:t>whoever is looking at a slow server</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Form</a:t>
                      </a:r>
                    </a:p>
                  </a:txBody>
                  <a:tcPr marL="82296" marR="64008" marT="32004" marB="32004" anchor="ctr">
                    <a:solidFill>
                      <a:srgbClr val="FBFAF7"/>
                    </a:solidFill>
                  </a:tcPr>
                </a:tc>
                <a:tc>
                  <a:txBody>
                    <a:bodyPr wrap="square"/>
                    <a:lstStyle/>
                    <a:p>
                      <a:pPr algn="l"/>
                      <a:r>
                        <a:rPr sz="1150" b="0">
                          <a:solidFill>
                            <a:srgbClr val="0E1726"/>
                          </a:solidFill>
                          <a:latin typeface="Calibri"/>
                        </a:rPr>
                        <a:t>hash-linked records, appended to a file</a:t>
                      </a:r>
                    </a:p>
                  </a:txBody>
                  <a:tcPr marL="82296" marR="64008" marT="32004" marB="32004" anchor="ctr">
                    <a:solidFill>
                      <a:srgbClr val="FBFAF7"/>
                    </a:solidFill>
                  </a:tcPr>
                </a:tc>
                <a:tc>
                  <a:txBody>
                    <a:bodyPr wrap="square"/>
                    <a:lstStyle/>
                    <a:p>
                      <a:pPr algn="l"/>
                      <a:r>
                        <a:rPr sz="1150" b="0">
                          <a:solidFill>
                            <a:srgbClr val="0E1726"/>
                          </a:solidFill>
                          <a:latin typeface="Calibri"/>
                        </a:rPr>
                        <a:t>one structured line per statement</a:t>
                      </a:r>
                    </a:p>
                  </a:txBody>
                  <a:tcPr marL="82296" marR="64008" marT="32004" marB="32004" anchor="ctr">
                    <a:solidFill>
                      <a:srgbClr val="FBFAF7"/>
                    </a:solidFill>
                  </a:tcPr>
                </a:tc>
              </a:tr>
              <a:tr h="538302">
                <a:tc>
                  <a:txBody>
                    <a:bodyPr wrap="square"/>
                    <a:lstStyle/>
                    <a:p>
                      <a:pPr algn="l"/>
                      <a:r>
                        <a:rPr sz="1150" b="0">
                          <a:solidFill>
                            <a:srgbClr val="0E1726"/>
                          </a:solidFill>
                          <a:latin typeface="Calibri"/>
                        </a:rPr>
                        <a:t>Carries</a:t>
                      </a:r>
                    </a:p>
                  </a:txBody>
                  <a:tcPr marL="82296" marR="64008" marT="32004" marB="32004" anchor="ctr">
                    <a:solidFill>
                      <a:srgbClr val="FFFFFF"/>
                    </a:solidFill>
                  </a:tcPr>
                </a:tc>
                <a:tc>
                  <a:txBody>
                    <a:bodyPr wrap="square"/>
                    <a:lstStyle/>
                    <a:p>
                      <a:pPr algn="l"/>
                      <a:r>
                        <a:rPr sz="1150" b="0">
                          <a:solidFill>
                            <a:srgbClr val="0E1726"/>
                          </a:solidFill>
                          <a:latin typeface="Calibri"/>
                        </a:rPr>
                        <a:t>who, which table, what shape, how many rows, under what restriction, at what version</a:t>
                      </a:r>
                    </a:p>
                  </a:txBody>
                  <a:tcPr marL="82296" marR="64008" marT="32004" marB="32004" anchor="ctr">
                    <a:solidFill>
                      <a:srgbClr val="FFFFFF"/>
                    </a:solidFill>
                  </a:tcPr>
                </a:tc>
                <a:tc>
                  <a:txBody>
                    <a:bodyPr wrap="square"/>
                    <a:lstStyle/>
                    <a:p>
                      <a:pPr algn="l"/>
                      <a:r>
                        <a:rPr sz="1150" b="0">
                          <a:solidFill>
                            <a:srgbClr val="0E1726"/>
                          </a:solidFill>
                          <a:latin typeface="Calibri"/>
                        </a:rPr>
                        <a:t>who, the shape, tables scanned, rows, **milliseconds**, refused or answered</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Does not carry</a:t>
                      </a:r>
                    </a:p>
                  </a:txBody>
                  <a:tcPr marL="82296" marR="64008" marT="32004" marB="32004" anchor="ctr">
                    <a:solidFill>
                      <a:srgbClr val="FBFAF7"/>
                    </a:solidFill>
                  </a:tcPr>
                </a:tc>
                <a:tc>
                  <a:txBody>
                    <a:bodyPr wrap="square"/>
                    <a:lstStyle/>
                    <a:p>
                      <a:pPr algn="l"/>
                      <a:r>
                        <a:rPr sz="1150" b="0">
                          <a:solidFill>
                            <a:srgbClr val="0E1726"/>
                          </a:solidFill>
                          <a:latin typeface="Calibri"/>
                        </a:rPr>
                        <a:t>the statement text — a second place the data lives</a:t>
                      </a:r>
                    </a:p>
                  </a:txBody>
                  <a:tcPr marL="82296" marR="64008" marT="32004" marB="32004" anchor="ctr">
                    <a:solidFill>
                      <a:srgbClr val="FBFAF7"/>
                    </a:solidFill>
                  </a:tcPr>
                </a:tc>
                <a:tc>
                  <a:txBody>
                    <a:bodyPr wrap="square"/>
                    <a:lstStyle/>
                    <a:p>
                      <a:pPr algn="l"/>
                      <a:r>
                        <a:rPr sz="1150" b="0">
                          <a:solidFill>
                            <a:srgbClr val="0E1726"/>
                          </a:solidFill>
                          <a:latin typeface="Calibri"/>
                        </a:rPr>
                        <a:t>the statement text, and not the refusal's reason either</a:t>
                      </a:r>
                    </a:p>
                  </a:txBody>
                  <a:tcPr marL="82296" marR="64008" marT="32004" marB="32004" anchor="ctr">
                    <a:solidFill>
                      <a:srgbClr val="FBFAF7"/>
                    </a:solidFill>
                  </a:tcPr>
                </a:tc>
              </a:tr>
            </a:tbl>
          </a:graphicData>
        </a:graphic>
      </p:graphicFrame>
      <p:sp>
        <p:nvSpPr>
          <p:cNvPr id="11" name="TextBox 10"/>
          <p:cNvSpPr txBox="1"/>
          <p:nvPr/>
        </p:nvSpPr>
        <p:spPr>
          <a:xfrm>
            <a:off x="777240" y="3471760"/>
            <a:ext cx="10637215" cy="1280160"/>
          </a:xfrm>
          <a:prstGeom prst="rect">
            <a:avLst/>
          </a:prstGeom>
          <a:noFill/>
        </p:spPr>
        <p:txBody>
          <a:bodyPr wrap="square" lIns="0" rIns="0" tIns="0" bIns="0" anchor="t">
            <a:spAutoFit/>
          </a:bodyPr>
          <a:lstStyle/>
          <a:p>
            <a:pPr algn="l"/>
          </a:p>
          <a:p>
            <a:pPr>
              <a:lnSpc>
                <a:spcPct val="130000"/>
              </a:lnSpc>
              <a:spcBef>
                <a:spcPts val="0"/>
              </a:spcBef>
              <a:spcAft>
                <a:spcPts val="600"/>
              </a:spcAft>
            </a:pPr>
            <a:r>
              <a:rPr sz="1150" b="1" i="0">
                <a:solidFill>
                  <a:srgbClr val="0E1726"/>
                </a:solidFill>
                <a:latin typeface="Calibri"/>
              </a:rPr>
              <a:t>A refusal's detail is withheld deliberately. </a:t>
            </a:r>
            <a:r>
              <a:rPr sz="1150" b="0" i="0">
                <a:solidFill>
                  <a:srgbClr val="444F60"/>
                </a:solidFill>
                <a:latin typeface="Calibri"/>
              </a:rPr>
              <a:t>A planner's message frequently quotes what the caller typed — that was a real disclosure, where a misspelt column returned the list of every real one. So the log says a statement was refused, and the audit says which statement it was.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SYSTEM · WHAT A SHAPE IS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The shape, and why it is one word</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9 · Bounds, and what an operator can find out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28</a:t>
            </a:r>
          </a:p>
        </p:txBody>
      </p:sp>
      <p:sp>
        <p:nvSpPr>
          <p:cNvPr id="10" name="Rectangle 9"/>
          <p:cNvSpPr/>
          <p:nvPr/>
        </p:nvSpPr>
        <p:spPr>
          <a:xfrm>
            <a:off x="777240" y="1353312"/>
            <a:ext cx="6169584" cy="1639062"/>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639062"/>
          </a:xfrm>
          <a:prstGeom prst="rect">
            <a:avLst/>
          </a:prstGeom>
          <a:solidFill>
            <a:srgbClr val="444F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803824" cy="219456"/>
          </a:xfrm>
          <a:prstGeom prst="rect">
            <a:avLst/>
          </a:prstGeom>
          <a:noFill/>
        </p:spPr>
        <p:txBody>
          <a:bodyPr wrap="square" lIns="0" rIns="0" tIns="0" bIns="0" anchor="t">
            <a:spAutoFit/>
          </a:bodyPr>
          <a:lstStyle/>
          <a:p>
            <a:pPr algn="l">
              <a:spcBef>
                <a:spcPts val="0"/>
              </a:spcBef>
              <a:spcAft>
                <a:spcPts val="0"/>
              </a:spcAft>
            </a:pPr>
            <a:r>
              <a:rPr sz="900" b="1" i="0">
                <a:solidFill>
                  <a:srgbClr val="1E3A6E"/>
                </a:solidFill>
                <a:latin typeface="Calibri"/>
              </a:rPr>
              <a:t>statement in, shape out</a:t>
            </a:r>
          </a:p>
        </p:txBody>
      </p:sp>
      <p:sp>
        <p:nvSpPr>
          <p:cNvPr id="13" name="TextBox 12"/>
          <p:cNvSpPr txBox="1"/>
          <p:nvPr/>
        </p:nvSpPr>
        <p:spPr>
          <a:xfrm>
            <a:off x="978408" y="1746504"/>
            <a:ext cx="5803824" cy="1163574"/>
          </a:xfrm>
          <a:prstGeom prst="rect">
            <a:avLst/>
          </a:prstGeom>
          <a:noFill/>
        </p:spPr>
        <p:txBody>
          <a:bodyPr wrap="square" lIns="0" rIns="0" tIns="0" bIns="0" anchor="t">
            <a:spAutoFit/>
          </a:bodyPr>
          <a:lstStyle/>
          <a:p>
            <a:pPr algn="l">
              <a:lnSpc>
                <a:spcPct val="134000"/>
              </a:lnSpc>
              <a:spcBef>
                <a:spcPts val="0"/>
              </a:spcBef>
              <a:spcAft>
                <a:spcPts val="0"/>
              </a:spcAft>
            </a:pPr>
            <a:r>
              <a:rPr sz="1000" b="0" i="0">
                <a:solidFill>
                  <a:srgbClr val="0E1726"/>
                </a:solidFill>
                <a:latin typeface="Consolas"/>
              </a:rPr>
              <a:t>SELECT region FROM orders            -&gt;  select</a:t>
            </a:r>
          </a:p>
          <a:p>
            <a:pPr>
              <a:lnSpc>
                <a:spcPct val="134000"/>
              </a:lnSpc>
              <a:spcBef>
                <a:spcPts val="0"/>
              </a:spcBef>
              <a:spcAft>
                <a:spcPts val="0"/>
              </a:spcAft>
            </a:pPr>
            <a:r>
              <a:rPr sz="1000" b="0" i="0">
                <a:solidFill>
                  <a:srgbClr val="0E1726"/>
                </a:solidFill>
                <a:latin typeface="Consolas"/>
              </a:rPr>
              <a:t>SELECT nosuchcolumn FROM orders      -&gt;  select</a:t>
            </a:r>
          </a:p>
          <a:p>
            <a:pPr>
              <a:lnSpc>
                <a:spcPct val="134000"/>
              </a:lnSpc>
              <a:spcBef>
                <a:spcPts val="0"/>
              </a:spcBef>
              <a:spcAft>
                <a:spcPts val="0"/>
              </a:spcAft>
            </a:pPr>
            <a:r>
              <a:rPr sz="1000" b="0" i="0">
                <a:solidFill>
                  <a:srgbClr val="0E1726"/>
                </a:solidFill>
                <a:latin typeface="Consolas"/>
              </a:rPr>
              <a:t>SELECT 'a-secret-value' FROM orders  -&gt;  select</a:t>
            </a:r>
          </a:p>
          <a:p>
            <a:pPr>
              <a:lnSpc>
                <a:spcPct val="134000"/>
              </a:lnSpc>
              <a:spcBef>
                <a:spcPts val="0"/>
              </a:spcBef>
              <a:spcAft>
                <a:spcPts val="0"/>
              </a:spcAft>
            </a:pPr>
            <a:r>
              <a:rPr sz="1000" b="0" i="0">
                <a:solidFill>
                  <a:srgbClr val="0E1726"/>
                </a:solidFill>
                <a:latin typeface="Consolas"/>
              </a:rPr>
              <a:t>CREATE TABLE q3 CLONE sales.orders   -&gt;  create table</a:t>
            </a:r>
          </a:p>
          <a:p>
            <a:pPr>
              <a:lnSpc>
                <a:spcPct val="134000"/>
              </a:lnSpc>
              <a:spcBef>
                <a:spcPts val="0"/>
              </a:spcBef>
              <a:spcAft>
                <a:spcPts val="0"/>
              </a:spcAft>
            </a:pPr>
            <a:r>
              <a:rPr sz="1000" b="0" i="0">
                <a:solidFill>
                  <a:srgbClr val="0E1726"/>
                </a:solidFill>
                <a:latin typeface="Consolas"/>
              </a:rPr>
              <a:t>SHOW FEEDS                           -&gt;  show feeds</a:t>
            </a:r>
          </a:p>
        </p:txBody>
      </p:sp>
      <p:sp>
        <p:nvSpPr>
          <p:cNvPr id="14" name="TextBox 13"/>
          <p:cNvSpPr txBox="1"/>
          <p:nvPr/>
        </p:nvSpPr>
        <p:spPr>
          <a:xfrm>
            <a:off x="7372313" y="1353312"/>
            <a:ext cx="4042141" cy="2194560"/>
          </a:xfrm>
          <a:prstGeom prst="rect">
            <a:avLst/>
          </a:prstGeom>
          <a:noFill/>
        </p:spPr>
        <p:txBody>
          <a:bodyPr wrap="square" lIns="0" rIns="0" tIns="0" bIns="0" anchor="t">
            <a:spAutoFit/>
          </a:bodyPr>
          <a:lstStyle/>
          <a:p>
            <a:pPr algn="l">
              <a:spcBef>
                <a:spcPts val="0"/>
              </a:spcBef>
              <a:spcAft>
                <a:spcPts val="800"/>
              </a:spcAft>
            </a:pPr>
            <a:r>
              <a:rPr sz="1150" b="1" i="0">
                <a:solidFill>
                  <a:srgbClr val="1E3A6E"/>
                </a:solidFill>
                <a:latin typeface="Calibri"/>
              </a:rPr>
              <a:t>The second word survives only when it is one of ours.</a:t>
            </a:r>
          </a:p>
          <a:p>
            <a:pPr>
              <a:lnSpc>
                <a:spcPct val="128000"/>
              </a:lnSpc>
              <a:spcBef>
                <a:spcPts val="0"/>
              </a:spcBef>
              <a:spcAft>
                <a:spcPts val="800"/>
              </a:spcAft>
            </a:pPr>
            <a:r>
              <a:rPr sz="1050" b="0" i="0">
                <a:solidFill>
                  <a:srgbClr val="444F60"/>
                </a:solidFill>
                <a:latin typeface="Calibri"/>
              </a:rPr>
              <a:t>`create table` and `show feeds` are worth telling apart. `select nosuchcolumn` is a column the caller named, and `select 'a-secret-value'` is a literal.</a:t>
            </a:r>
          </a:p>
          <a:p>
            <a:pPr>
              <a:lnSpc>
                <a:spcPct val="128000"/>
              </a:lnSpc>
              <a:spcBef>
                <a:spcPts val="0"/>
              </a:spcBef>
              <a:spcAft>
                <a:spcPts val="600"/>
              </a:spcAft>
            </a:pPr>
            <a:r>
              <a:rPr sz="1050" b="0" i="0">
                <a:solidFill>
                  <a:srgbClr val="444F60"/>
                </a:solidFill>
                <a:latin typeface="Calibri"/>
              </a:rPr>
              <a:t>It took the first two words until a query log was written and the same helper was read again — it had been putting caller text into the durable audit since the day the audit was made durable.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SYSTEM · THE GAPS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What an operator still cannot see</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9 · Bounds, and what an operator can find out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29</a:t>
            </a:r>
          </a:p>
        </p:txBody>
      </p:sp>
      <p:graphicFrame>
        <p:nvGraphicFramePr>
          <p:cNvPr id="10" name="Table 9"/>
          <p:cNvGraphicFramePr>
            <a:graphicFrameLocks noGrp="1"/>
          </p:cNvGraphicFramePr>
          <p:nvPr/>
        </p:nvGraphicFramePr>
        <p:xfrm>
          <a:off x="777240" y="1353312"/>
          <a:ext cx="10637214" cy="1898992"/>
        </p:xfrm>
        <a:graphic>
          <a:graphicData uri="http://schemas.openxmlformats.org/drawingml/2006/table">
            <a:tbl>
              <a:tblPr firstRow="1">
                <a:tableStyleId>{5C22544A-7EE6-4342-B048-85BDC9FD1C3A}</a:tableStyleId>
              </a:tblPr>
              <a:tblGrid>
                <a:gridCol w="5502007"/>
                <a:gridCol w="5135207"/>
              </a:tblGrid>
              <a:tr h="333781">
                <a:tc>
                  <a:txBody>
                    <a:bodyPr wrap="square"/>
                    <a:lstStyle/>
                    <a:p>
                      <a:pPr algn="l"/>
                      <a:r>
                        <a:rPr sz="1100" b="1">
                          <a:solidFill>
                            <a:srgbClr val="FFFFFF"/>
                          </a:solidFill>
                          <a:latin typeface="Calibri"/>
                        </a:rPr>
                        <a:t/>
                      </a:r>
                    </a:p>
                  </a:txBody>
                  <a:tcPr marL="82296" marR="64008" marT="32004" marB="32004" anchor="ctr">
                    <a:solidFill>
                      <a:srgbClr val="1E3A6E"/>
                    </a:solidFill>
                  </a:tcPr>
                </a:tc>
                <a:tc>
                  <a:txBody>
                    <a:bodyPr wrap="square"/>
                    <a:lstStyle/>
                    <a:p>
                      <a:pPr algn="l"/>
                      <a:r>
                        <a:rPr sz="1100" b="1">
                          <a:solidFill>
                            <a:srgbClr val="FFFFFF"/>
                          </a:solidFill>
                          <a:latin typeface="Calibri"/>
                        </a:rPr>
                        <a:t>State</a:t>
                      </a:r>
                    </a:p>
                  </a:txBody>
                  <a:tcPr marL="82296" marR="64008" marT="32004" marB="32004" anchor="ctr">
                    <a:solidFill>
                      <a:srgbClr val="1E3A6E"/>
                    </a:solidFill>
                  </a:tcPr>
                </a:tc>
              </a:tr>
              <a:tr h="342303">
                <a:tc>
                  <a:txBody>
                    <a:bodyPr wrap="square"/>
                    <a:lstStyle/>
                    <a:p>
                      <a:pPr algn="l"/>
                      <a:r>
                        <a:rPr sz="1150" b="0">
                          <a:solidFill>
                            <a:srgbClr val="0E1726"/>
                          </a:solidFill>
                          <a:latin typeface="Calibri"/>
                        </a:rPr>
                        <a:t>Maintenance counters — ticks, failures, bytes reclaimed, tables held</a:t>
                      </a:r>
                    </a:p>
                  </a:txBody>
                  <a:tcPr marL="82296" marR="64008" marT="32004" marB="32004" anchor="ctr">
                    <a:solidFill>
                      <a:srgbClr val="FFFFFF"/>
                    </a:solidFill>
                  </a:tcPr>
                </a:tc>
                <a:tc>
                  <a:txBody>
                    <a:bodyPr wrap="square"/>
                    <a:lstStyle/>
                    <a:p>
                      <a:pPr algn="l"/>
                      <a:r>
                        <a:rPr sz="1150" b="0">
                          <a:solidFill>
                            <a:srgbClr val="0E1726"/>
                          </a:solidFill>
                          <a:latin typeface="Calibri"/>
                        </a:rPr>
                        <a:t>counted on the handle and **exported nowhere**</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Four of the six error codes that page</a:t>
                      </a:r>
                    </a:p>
                  </a:txBody>
                  <a:tcPr marL="82296" marR="64008" marT="32004" marB="32004" anchor="ctr">
                    <a:solidFill>
                      <a:srgbClr val="FBFAF7"/>
                    </a:solidFill>
                  </a:tcPr>
                </a:tc>
                <a:tc>
                  <a:txBody>
                    <a:bodyPr wrap="square"/>
                    <a:lstStyle/>
                    <a:p>
                      <a:pPr algn="l"/>
                      <a:r>
                        <a:rPr sz="1150" b="0">
                          <a:solidFill>
                            <a:srgbClr val="0E1726"/>
                          </a:solidFill>
                          <a:latin typeface="Calibri"/>
                        </a:rPr>
                        <a:t>cannot fire; the subsystems that would raise them do not run</a:t>
                      </a:r>
                    </a:p>
                  </a:txBody>
                  <a:tcPr marL="82296" marR="64008" marT="32004" marB="32004" anchor="ctr">
                    <a:solidFill>
                      <a:srgbClr val="FBFAF7"/>
                    </a:solidFill>
                  </a:tcPr>
                </a:tc>
              </a:tr>
              <a:tr h="342303">
                <a:tc>
                  <a:txBody>
                    <a:bodyPr wrap="square"/>
                    <a:lstStyle/>
                    <a:p>
                      <a:pPr algn="l"/>
                      <a:r>
                        <a:rPr sz="1150" b="0">
                          <a:solidFill>
                            <a:srgbClr val="0E1726"/>
                          </a:solidFill>
                          <a:latin typeface="Calibri"/>
                        </a:rPr>
                        <a:t>Replication lag</a:t>
                      </a:r>
                    </a:p>
                  </a:txBody>
                  <a:tcPr marL="82296" marR="64008" marT="32004" marB="32004" anchor="ctr">
                    <a:solidFill>
                      <a:srgbClr val="FFFFFF"/>
                    </a:solidFill>
                  </a:tcPr>
                </a:tc>
                <a:tc>
                  <a:txBody>
                    <a:bodyPr wrap="square"/>
                    <a:lstStyle/>
                    <a:p>
                      <a:pPr algn="l"/>
                      <a:r>
                        <a:rPr sz="1150" b="0">
                          <a:solidFill>
                            <a:srgbClr val="0E1726"/>
                          </a:solidFill>
                          <a:latin typeface="Calibri"/>
                        </a:rPr>
                        <a:t>the check is written, tested, exported and called by nothing</a:t>
                      </a:r>
                    </a:p>
                  </a:txBody>
                  <a:tcPr marL="82296" marR="64008" marT="32004" marB="32004" anchor="ctr">
                    <a:solidFill>
                      <a:srgbClr val="FFFFFF"/>
                    </a:solidFill>
                  </a:tcPr>
                </a:tc>
              </a:tr>
              <a:tr h="538302">
                <a:tc>
                  <a:txBody>
                    <a:bodyPr wrap="square"/>
                    <a:lstStyle/>
                    <a:p>
                      <a:pPr algn="l"/>
                      <a:r>
                        <a:rPr sz="1150" b="0">
                          <a:solidFill>
                            <a:srgbClr val="0E1726"/>
                          </a:solidFill>
                          <a:latin typeface="Calibri"/>
                        </a:rPr>
                        <a:t>The audit chain's head, continuously</a:t>
                      </a:r>
                    </a:p>
                  </a:txBody>
                  <a:tcPr marL="82296" marR="64008" marT="32004" marB="32004" anchor="ctr">
                    <a:solidFill>
                      <a:srgbClr val="FBFAF7"/>
                    </a:solidFill>
                  </a:tcPr>
                </a:tc>
                <a:tc>
                  <a:txBody>
                    <a:bodyPr wrap="square"/>
                    <a:lstStyle/>
                    <a:p>
                      <a:pPr algn="l"/>
                      <a:r>
                        <a:rPr sz="1150" b="0">
                          <a:solidFill>
                            <a:srgbClr val="0E1726"/>
                          </a:solidFill>
                          <a:latin typeface="Calibri"/>
                        </a:rPr>
                        <a:t>printed once at startup; nothing queries it, so truncation is not detectable the way the design assumes</a:t>
                      </a:r>
                    </a:p>
                  </a:txBody>
                  <a:tcPr marL="82296" marR="64008" marT="32004" marB="32004" anchor="ctr">
                    <a:solidFill>
                      <a:srgbClr val="FBFAF7"/>
                    </a:solidFill>
                  </a:tcPr>
                </a:tc>
              </a:tr>
            </a:tbl>
          </a:graphicData>
        </a:graphic>
      </p:graphicFrame>
      <p:sp>
        <p:nvSpPr>
          <p:cNvPr id="11" name="TextBox 10"/>
          <p:cNvSpPr txBox="1"/>
          <p:nvPr/>
        </p:nvSpPr>
        <p:spPr>
          <a:xfrm>
            <a:off x="777240" y="3471760"/>
            <a:ext cx="10637215" cy="1188720"/>
          </a:xfrm>
          <a:prstGeom prst="rect">
            <a:avLst/>
          </a:prstGeom>
          <a:noFill/>
        </p:spPr>
        <p:txBody>
          <a:bodyPr wrap="square" lIns="0" rIns="0" tIns="0" bIns="0" anchor="t">
            <a:spAutoFit/>
          </a:bodyPr>
          <a:lstStyle/>
          <a:p>
            <a:pPr algn="l"/>
          </a:p>
          <a:p>
            <a:pPr>
              <a:lnSpc>
                <a:spcPct val="130000"/>
              </a:lnSpc>
              <a:spcBef>
                <a:spcPts val="0"/>
              </a:spcBef>
              <a:spcAft>
                <a:spcPts val="600"/>
              </a:spcAft>
            </a:pPr>
            <a:r>
              <a:rPr sz="1150" b="1" i="0">
                <a:solidFill>
                  <a:srgbClr val="1E3A6E"/>
                </a:solidFill>
                <a:latin typeface="Calibri"/>
              </a:rPr>
              <a:t>A metric nothing emits and an alert that can never fire are the same failure: </a:t>
            </a:r>
            <a:r>
              <a:rPr sz="1150" b="0" i="0">
                <a:solidFill>
                  <a:srgbClr val="444F60"/>
                </a:solidFill>
                <a:latin typeface="Calibri"/>
              </a:rPr>
              <a:t>absence rendering as health. `check-catalogues` fails when a documented code has no construction site, and the catalogue marks the twelve that cannot fire — because an alert rule written from a document should be able to fire.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2191695" cy="9144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417320"/>
            <a:ext cx="10637215" cy="457200"/>
          </a:xfrm>
          <a:prstGeom prst="rect">
            <a:avLst/>
          </a:prstGeom>
          <a:noFill/>
        </p:spPr>
        <p:txBody>
          <a:bodyPr wrap="square" lIns="0" rIns="0" tIns="0" bIns="0" anchor="t">
            <a:spAutoFit/>
          </a:bodyPr>
          <a:lstStyle/>
          <a:p>
            <a:pPr algn="l">
              <a:spcBef>
                <a:spcPts val="0"/>
              </a:spcBef>
              <a:spcAft>
                <a:spcPts val="0"/>
              </a:spcAft>
            </a:pPr>
            <a:r>
              <a:rPr sz="1300" b="1" i="0">
                <a:solidFill>
                  <a:srgbClr val="1E3A6E"/>
                </a:solidFill>
                <a:latin typeface="Calibri"/>
              </a:rPr>
              <a:t>PART III</a:t>
            </a:r>
          </a:p>
        </p:txBody>
      </p:sp>
      <p:sp>
        <p:nvSpPr>
          <p:cNvPr id="5" name="TextBox 4"/>
          <p:cNvSpPr txBox="1"/>
          <p:nvPr/>
        </p:nvSpPr>
        <p:spPr>
          <a:xfrm>
            <a:off x="1005840" y="1965960"/>
            <a:ext cx="6807817" cy="1280160"/>
          </a:xfrm>
          <a:prstGeom prst="rect">
            <a:avLst/>
          </a:prstGeom>
          <a:noFill/>
        </p:spPr>
        <p:txBody>
          <a:bodyPr wrap="square" lIns="0" rIns="0" tIns="0" bIns="0" anchor="t">
            <a:spAutoFit/>
          </a:bodyPr>
          <a:lstStyle/>
          <a:p>
            <a:pPr algn="l">
              <a:spcBef>
                <a:spcPts val="0"/>
              </a:spcBef>
              <a:spcAft>
                <a:spcPts val="0"/>
              </a:spcAft>
            </a:pPr>
            <a:r>
              <a:rPr sz="5200" b="0" i="0">
                <a:solidFill>
                  <a:srgbClr val="FFFFFF"/>
                </a:solidFill>
                <a:latin typeface="Georgia"/>
              </a:rPr>
              <a:t>The cube</a:t>
            </a:r>
          </a:p>
        </p:txBody>
      </p:sp>
      <p:sp>
        <p:nvSpPr>
          <p:cNvPr id="6" name="Rectangle 5"/>
          <p:cNvSpPr/>
          <p:nvPr/>
        </p:nvSpPr>
        <p:spPr>
          <a:xfrm>
            <a:off x="1005840" y="3429000"/>
            <a:ext cx="1645920" cy="36576"/>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703320"/>
            <a:ext cx="6382329" cy="1005840"/>
          </a:xfrm>
          <a:prstGeom prst="rect">
            <a:avLst/>
          </a:prstGeom>
          <a:noFill/>
        </p:spPr>
        <p:txBody>
          <a:bodyPr wrap="square" lIns="0" rIns="0" tIns="0" bIns="0" anchor="t">
            <a:spAutoFit/>
          </a:bodyPr>
          <a:lstStyle/>
          <a:p>
            <a:pPr algn="l">
              <a:lnSpc>
                <a:spcPct val="130000"/>
              </a:lnSpc>
              <a:spcBef>
                <a:spcPts val="0"/>
              </a:spcBef>
              <a:spcAft>
                <a:spcPts val="0"/>
              </a:spcAft>
            </a:pPr>
            <a:r>
              <a:rPr sz="1600" b="0" i="1">
                <a:solidFill>
                  <a:srgbClr val="C8C2BA"/>
                </a:solidFill>
                <a:latin typeface="Calibri"/>
              </a:rPr>
              <a:t>a declared model, and one dataset sliced, diced and rolled up</a:t>
            </a:r>
          </a:p>
        </p:txBody>
      </p:sp>
      <p:sp>
        <p:nvSpPr>
          <p:cNvPr id="8" name="TextBox 7"/>
          <p:cNvSpPr txBox="1"/>
          <p:nvPr/>
        </p:nvSpPr>
        <p:spPr>
          <a:xfrm>
            <a:off x="8010546" y="1463040"/>
            <a:ext cx="3403908" cy="4206240"/>
          </a:xfrm>
          <a:prstGeom prst="rect">
            <a:avLst/>
          </a:prstGeom>
          <a:noFill/>
        </p:spPr>
        <p:txBody>
          <a:bodyPr wrap="square" lIns="0" rIns="0" tIns="0" bIns="0" anchor="t">
            <a:spAutoFit/>
          </a:bodyPr>
          <a:lstStyle/>
          <a:p>
            <a:pPr algn="l">
              <a:spcBef>
                <a:spcPts val="0"/>
              </a:spcBef>
              <a:spcAft>
                <a:spcPts val="1200"/>
              </a:spcAft>
            </a:pPr>
            <a:r>
              <a:rPr sz="950" b="1" i="0">
                <a:solidFill>
                  <a:srgbClr val="1E3A6E"/>
                </a:solidFill>
                <a:latin typeface="Calibri"/>
              </a:rPr>
              <a:t>CHAPTERS</a:t>
            </a:r>
          </a:p>
          <a:p>
            <a:pPr>
              <a:lnSpc>
                <a:spcPct val="115000"/>
              </a:lnSpc>
              <a:spcBef>
                <a:spcPts val="0"/>
              </a:spcBef>
              <a:spcAft>
                <a:spcPts val="800"/>
              </a:spcAft>
            </a:pPr>
            <a:r>
              <a:rPr sz="1150" b="0" i="0">
                <a:solidFill>
                  <a:srgbClr val="E4DED6"/>
                </a:solidFill>
                <a:latin typeface="Calibri"/>
              </a:rPr>
              <a:t>10 · Why GROUP BY CUBE is not a cube</a:t>
            </a:r>
          </a:p>
          <a:p>
            <a:pPr>
              <a:lnSpc>
                <a:spcPct val="115000"/>
              </a:lnSpc>
              <a:spcBef>
                <a:spcPts val="0"/>
              </a:spcBef>
              <a:spcAft>
                <a:spcPts val="800"/>
              </a:spcAft>
            </a:pPr>
            <a:r>
              <a:rPr sz="1150" b="0" i="0">
                <a:solidFill>
                  <a:srgbClr val="E4DED6"/>
                </a:solidFill>
                <a:latin typeface="Calibri"/>
              </a:rPr>
              <a:t>11 · The model</a:t>
            </a:r>
          </a:p>
          <a:p>
            <a:pPr>
              <a:lnSpc>
                <a:spcPct val="115000"/>
              </a:lnSpc>
              <a:spcBef>
                <a:spcPts val="0"/>
              </a:spcBef>
              <a:spcAft>
                <a:spcPts val="800"/>
              </a:spcAft>
            </a:pPr>
            <a:r>
              <a:rPr sz="1150" b="0" i="0">
                <a:solidFill>
                  <a:srgbClr val="E4DED6"/>
                </a:solidFill>
                <a:latin typeface="Calibri"/>
              </a:rPr>
              <a:t>12 · A worked example</a:t>
            </a:r>
          </a:p>
          <a:p>
            <a:pPr>
              <a:lnSpc>
                <a:spcPct val="115000"/>
              </a:lnSpc>
              <a:spcBef>
                <a:spcPts val="0"/>
              </a:spcBef>
              <a:spcAft>
                <a:spcPts val="800"/>
              </a:spcAft>
            </a:pPr>
            <a:r>
              <a:rPr sz="1150" b="0" i="0">
                <a:solidFill>
                  <a:srgbClr val="E4DED6"/>
                </a:solidFill>
                <a:latin typeface="Calibri"/>
              </a:rPr>
              <a:t>13 · Completeness, and cubes under policy</a:t>
            </a:r>
          </a:p>
          <a:p>
            <a:pPr>
              <a:lnSpc>
                <a:spcPct val="115000"/>
              </a:lnSpc>
              <a:spcBef>
                <a:spcPts val="0"/>
              </a:spcBef>
              <a:spcAft>
                <a:spcPts val="800"/>
              </a:spcAft>
            </a:pPr>
            <a:r>
              <a:rPr sz="1150" b="0" i="0">
                <a:solidFill>
                  <a:srgbClr val="E4DED6"/>
                </a:solidFill>
                <a:latin typeface="Calibri"/>
              </a:rPr>
              <a:t>14 · Cuboids</a:t>
            </a:r>
          </a:p>
          <a:p>
            <a:pPr>
              <a:lnSpc>
                <a:spcPct val="115000"/>
              </a:lnSpc>
              <a:spcBef>
                <a:spcPts val="0"/>
              </a:spcBef>
              <a:spcAft>
                <a:spcPts val="800"/>
              </a:spcAft>
            </a:pPr>
            <a:r>
              <a:rPr sz="1150" b="0" i="0">
                <a:solidFill>
                  <a:srgbClr val="E4DED6"/>
                </a:solidFill>
                <a:latin typeface="Calibri"/>
              </a:rPr>
              <a:t>15 · Cubes you define yourself</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CUBE · WHAT IS BEING BUILT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A grouping construct is not a model</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10 · Why GROUP BY CUBE is not a cube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31</a:t>
            </a:r>
          </a:p>
        </p:txBody>
      </p:sp>
      <p:graphicFrame>
        <p:nvGraphicFramePr>
          <p:cNvPr id="10" name="Table 9"/>
          <p:cNvGraphicFramePr>
            <a:graphicFrameLocks noGrp="1"/>
          </p:cNvGraphicFramePr>
          <p:nvPr/>
        </p:nvGraphicFramePr>
        <p:xfrm>
          <a:off x="777240" y="1353312"/>
          <a:ext cx="10637214" cy="2387599"/>
        </p:xfrm>
        <a:graphic>
          <a:graphicData uri="http://schemas.openxmlformats.org/drawingml/2006/table">
            <a:tbl>
              <a:tblPr firstRow="1">
                <a:tableStyleId>{5C22544A-7EE6-4342-B048-85BDC9FD1C3A}</a:tableStyleId>
              </a:tblPr>
              <a:tblGrid>
                <a:gridCol w="1834002"/>
                <a:gridCol w="4218206"/>
                <a:gridCol w="4585006"/>
              </a:tblGrid>
              <a:tr h="333781">
                <a:tc>
                  <a:txBody>
                    <a:bodyPr wrap="square"/>
                    <a:lstStyle/>
                    <a:p>
                      <a:pPr algn="l"/>
                      <a:r>
                        <a:rPr sz="1100" b="1">
                          <a:solidFill>
                            <a:srgbClr val="FFFFFF"/>
                          </a:solidFill>
                          <a:latin typeface="Calibri"/>
                        </a:rPr>
                        <a:t/>
                      </a:r>
                    </a:p>
                  </a:txBody>
                  <a:tcPr marL="82296" marR="64008" marT="32004" marB="32004" anchor="ctr">
                    <a:solidFill>
                      <a:srgbClr val="1E3A6E"/>
                    </a:solidFill>
                  </a:tcPr>
                </a:tc>
                <a:tc>
                  <a:txBody>
                    <a:bodyPr wrap="square"/>
                    <a:lstStyle/>
                    <a:p>
                      <a:pPr algn="l"/>
                      <a:r>
                        <a:rPr sz="1100" b="1">
                          <a:solidFill>
                            <a:srgbClr val="FFFFFF"/>
                          </a:solidFill>
                          <a:latin typeface="Calibri"/>
                        </a:rPr>
                        <a:t>`GROUP BY CUBE`</a:t>
                      </a:r>
                    </a:p>
                  </a:txBody>
                  <a:tcPr marL="82296" marR="64008" marT="32004" marB="32004" anchor="ctr">
                    <a:solidFill>
                      <a:srgbClr val="1E3A6E"/>
                    </a:solidFill>
                  </a:tcPr>
                </a:tc>
                <a:tc>
                  <a:txBody>
                    <a:bodyPr wrap="square"/>
                    <a:lstStyle/>
                    <a:p>
                      <a:pPr algn="l"/>
                      <a:r>
                        <a:rPr sz="1100" b="1">
                          <a:solidFill>
                            <a:srgbClr val="FFFFFF"/>
                          </a:solidFill>
                          <a:latin typeface="Calibri"/>
                        </a:rPr>
                        <a:t>A cube</a:t>
                      </a:r>
                    </a:p>
                  </a:txBody>
                  <a:tcPr marL="82296" marR="64008" marT="32004" marB="32004" anchor="ctr">
                    <a:solidFill>
                      <a:srgbClr val="1E3A6E"/>
                    </a:solidFill>
                  </a:tcPr>
                </a:tc>
              </a:tr>
              <a:tr h="342303">
                <a:tc>
                  <a:txBody>
                    <a:bodyPr wrap="square"/>
                    <a:lstStyle/>
                    <a:p>
                      <a:pPr algn="l"/>
                      <a:r>
                        <a:rPr sz="1150" b="0">
                          <a:solidFill>
                            <a:srgbClr val="0E1726"/>
                          </a:solidFill>
                          <a:latin typeface="Calibri"/>
                        </a:rPr>
                        <a:t>What it is</a:t>
                      </a:r>
                    </a:p>
                  </a:txBody>
                  <a:tcPr marL="82296" marR="64008" marT="32004" marB="32004" anchor="ctr">
                    <a:solidFill>
                      <a:srgbClr val="FFFFFF"/>
                    </a:solidFill>
                  </a:tcPr>
                </a:tc>
                <a:tc>
                  <a:txBody>
                    <a:bodyPr wrap="square"/>
                    <a:lstStyle/>
                    <a:p>
                      <a:pPr algn="l"/>
                      <a:r>
                        <a:rPr sz="1150" b="0">
                          <a:solidFill>
                            <a:srgbClr val="0E1726"/>
                          </a:solidFill>
                          <a:latin typeface="Calibri"/>
                        </a:rPr>
                        <a:t>a set of column combinations you enumerate</a:t>
                      </a:r>
                    </a:p>
                  </a:txBody>
                  <a:tcPr marL="82296" marR="64008" marT="32004" marB="32004" anchor="ctr">
                    <a:solidFill>
                      <a:srgbClr val="FFFFFF"/>
                    </a:solidFill>
                  </a:tcPr>
                </a:tc>
                <a:tc>
                  <a:txBody>
                    <a:bodyPr wrap="square"/>
                    <a:lstStyle/>
                    <a:p>
                      <a:pPr algn="l"/>
                      <a:r>
                        <a:rPr sz="1150" b="0">
                          <a:solidFill>
                            <a:srgbClr val="0E1726"/>
                          </a:solidFill>
                          <a:latin typeface="Calibri"/>
                        </a:rPr>
                        <a:t>a declared model of dimensions and measures</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Dimensions</a:t>
                      </a:r>
                    </a:p>
                  </a:txBody>
                  <a:tcPr marL="82296" marR="64008" marT="32004" marB="32004" anchor="ctr">
                    <a:solidFill>
                      <a:srgbClr val="FBFAF7"/>
                    </a:solidFill>
                  </a:tcPr>
                </a:tc>
                <a:tc>
                  <a:txBody>
                    <a:bodyPr wrap="square"/>
                    <a:lstStyle/>
                    <a:p>
                      <a:pPr algn="l"/>
                      <a:r>
                        <a:rPr sz="1150" b="0">
                          <a:solidFill>
                            <a:srgbClr val="0E1726"/>
                          </a:solidFill>
                          <a:latin typeface="Calibri"/>
                        </a:rPr>
                        <a:t>none --- columns</a:t>
                      </a:r>
                    </a:p>
                  </a:txBody>
                  <a:tcPr marL="82296" marR="64008" marT="32004" marB="32004" anchor="ctr">
                    <a:solidFill>
                      <a:srgbClr val="FBFAF7"/>
                    </a:solidFill>
                  </a:tcPr>
                </a:tc>
                <a:tc>
                  <a:txBody>
                    <a:bodyPr wrap="square"/>
                    <a:lstStyle/>
                    <a:p>
                      <a:pPr algn="l"/>
                      <a:r>
                        <a:rPr sz="1150" b="0">
                          <a:solidFill>
                            <a:srgbClr val="0E1726"/>
                          </a:solidFill>
                          <a:latin typeface="Calibri"/>
                        </a:rPr>
                        <a:t>named, with levels coarse-to-fine</a:t>
                      </a:r>
                    </a:p>
                  </a:txBody>
                  <a:tcPr marL="82296" marR="64008" marT="32004" marB="32004" anchor="ctr">
                    <a:solidFill>
                      <a:srgbClr val="FBFAF7"/>
                    </a:solidFill>
                  </a:tcPr>
                </a:tc>
              </a:tr>
              <a:tr h="342303">
                <a:tc>
                  <a:txBody>
                    <a:bodyPr wrap="square"/>
                    <a:lstStyle/>
                    <a:p>
                      <a:pPr algn="l"/>
                      <a:r>
                        <a:rPr sz="1150" b="0">
                          <a:solidFill>
                            <a:srgbClr val="0E1726"/>
                          </a:solidFill>
                          <a:latin typeface="Calibri"/>
                        </a:rPr>
                        <a:t>Hierarchies</a:t>
                      </a:r>
                    </a:p>
                  </a:txBody>
                  <a:tcPr marL="82296" marR="64008" marT="32004" marB="32004" anchor="ctr">
                    <a:solidFill>
                      <a:srgbClr val="FFFFFF"/>
                    </a:solidFill>
                  </a:tcPr>
                </a:tc>
                <a:tc>
                  <a:txBody>
                    <a:bodyPr wrap="square"/>
                    <a:lstStyle/>
                    <a:p>
                      <a:pPr algn="l"/>
                      <a:r>
                        <a:rPr sz="1150" b="0">
                          <a:solidFill>
                            <a:srgbClr val="0E1726"/>
                          </a:solidFill>
                          <a:latin typeface="Calibri"/>
                        </a:rPr>
                        <a:t>none</a:t>
                      </a:r>
                    </a:p>
                  </a:txBody>
                  <a:tcPr marL="82296" marR="64008" marT="32004" marB="32004" anchor="ctr">
                    <a:solidFill>
                      <a:srgbClr val="FFFFFF"/>
                    </a:solidFill>
                  </a:tcPr>
                </a:tc>
                <a:tc>
                  <a:txBody>
                    <a:bodyPr wrap="square"/>
                    <a:lstStyle/>
                    <a:p>
                      <a:pPr algn="l"/>
                      <a:r>
                        <a:rPr sz="1150" b="0">
                          <a:solidFill>
                            <a:srgbClr val="0E1726"/>
                          </a:solidFill>
                          <a:latin typeface="Calibri"/>
                        </a:rPr>
                        <a:t>a level path, walked one grain to the next</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Members</a:t>
                      </a:r>
                    </a:p>
                  </a:txBody>
                  <a:tcPr marL="82296" marR="64008" marT="32004" marB="32004" anchor="ctr">
                    <a:solidFill>
                      <a:srgbClr val="FBFAF7"/>
                    </a:solidFill>
                  </a:tcPr>
                </a:tc>
                <a:tc>
                  <a:txBody>
                    <a:bodyPr wrap="square"/>
                    <a:lstStyle/>
                    <a:p>
                      <a:pPr algn="l"/>
                      <a:r>
                        <a:rPr sz="1150" b="0">
                          <a:solidFill>
                            <a:srgbClr val="0E1726"/>
                          </a:solidFill>
                          <a:latin typeface="Calibri"/>
                        </a:rPr>
                        <a:t>whatever values appear</a:t>
                      </a:r>
                    </a:p>
                  </a:txBody>
                  <a:tcPr marL="82296" marR="64008" marT="32004" marB="32004" anchor="ctr">
                    <a:solidFill>
                      <a:srgbClr val="FBFAF7"/>
                    </a:solidFill>
                  </a:tcPr>
                </a:tc>
                <a:tc>
                  <a:txBody>
                    <a:bodyPr wrap="square"/>
                    <a:lstStyle/>
                    <a:p>
                      <a:pPr algn="l"/>
                      <a:r>
                        <a:rPr sz="1150" b="0">
                          <a:solidFill>
                            <a:srgbClr val="0E1726"/>
                          </a:solidFill>
                          <a:latin typeface="Calibri"/>
                        </a:rPr>
                        <a:t>resolved from a member table, authorized</a:t>
                      </a:r>
                    </a:p>
                  </a:txBody>
                  <a:tcPr marL="82296" marR="64008" marT="32004" marB="32004" anchor="ctr">
                    <a:solidFill>
                      <a:srgbClr val="FBFAF7"/>
                    </a:solidFill>
                  </a:tcPr>
                </a:tc>
              </a:tr>
              <a:tr h="342303">
                <a:tc>
                  <a:txBody>
                    <a:bodyPr wrap="square"/>
                    <a:lstStyle/>
                    <a:p>
                      <a:pPr algn="l"/>
                      <a:r>
                        <a:rPr sz="1150" b="0">
                          <a:solidFill>
                            <a:srgbClr val="0E1726"/>
                          </a:solidFill>
                          <a:latin typeface="Calibri"/>
                        </a:rPr>
                        <a:t>Combination rule</a:t>
                      </a:r>
                    </a:p>
                  </a:txBody>
                  <a:tcPr marL="82296" marR="64008" marT="32004" marB="32004" anchor="ctr">
                    <a:solidFill>
                      <a:srgbClr val="FFFFFF"/>
                    </a:solidFill>
                  </a:tcPr>
                </a:tc>
                <a:tc>
                  <a:txBody>
                    <a:bodyPr wrap="square"/>
                    <a:lstStyle/>
                    <a:p>
                      <a:pPr algn="l"/>
                      <a:r>
                        <a:rPr sz="1150" b="0">
                          <a:solidFill>
                            <a:srgbClr val="0E1726"/>
                          </a:solidFill>
                          <a:latin typeface="Calibri"/>
                        </a:rPr>
                        <a:t>the aggregate you typed, everywhere</a:t>
                      </a:r>
                    </a:p>
                  </a:txBody>
                  <a:tcPr marL="82296" marR="64008" marT="32004" marB="32004" anchor="ctr">
                    <a:solidFill>
                      <a:srgbClr val="FFFFFF"/>
                    </a:solidFill>
                  </a:tcPr>
                </a:tc>
                <a:tc>
                  <a:txBody>
                    <a:bodyPr wrap="square"/>
                    <a:lstStyle/>
                    <a:p>
                      <a:pPr algn="l"/>
                      <a:r>
                        <a:rPr sz="1150" b="0">
                          <a:solidFill>
                            <a:srgbClr val="0E1726"/>
                          </a:solidFill>
                          <a:latin typeface="Calibri"/>
                        </a:rPr>
                        <a:t>declared **per measure per dimension**</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A wrong combination</a:t>
                      </a:r>
                    </a:p>
                  </a:txBody>
                  <a:tcPr marL="82296" marR="64008" marT="32004" marB="32004" anchor="ctr">
                    <a:solidFill>
                      <a:srgbClr val="FBFAF7"/>
                    </a:solidFill>
                  </a:tcPr>
                </a:tc>
                <a:tc>
                  <a:txBody>
                    <a:bodyPr wrap="square"/>
                    <a:lstStyle/>
                    <a:p>
                      <a:pPr algn="l"/>
                      <a:r>
                        <a:rPr sz="1150" b="0">
                          <a:solidFill>
                            <a:srgbClr val="0E1726"/>
                          </a:solidFill>
                          <a:latin typeface="Calibri"/>
                        </a:rPr>
                        <a:t>computes and returns</a:t>
                      </a:r>
                    </a:p>
                  </a:txBody>
                  <a:tcPr marL="82296" marR="64008" marT="32004" marB="32004" anchor="ctr">
                    <a:solidFill>
                      <a:srgbClr val="FBFAF7"/>
                    </a:solidFill>
                  </a:tcPr>
                </a:tc>
                <a:tc>
                  <a:txBody>
                    <a:bodyPr wrap="square"/>
                    <a:lstStyle/>
                    <a:p>
                      <a:pPr algn="l"/>
                      <a:r>
                        <a:rPr sz="1150" b="0">
                          <a:solidFill>
                            <a:srgbClr val="0E1726"/>
                          </a:solidFill>
                          <a:latin typeface="Calibri"/>
                        </a:rPr>
                        <a:t>refused, naming the measure and the axis</a:t>
                      </a:r>
                    </a:p>
                  </a:txBody>
                  <a:tcPr marL="82296" marR="64008" marT="32004" marB="32004" anchor="ctr">
                    <a:solidFill>
                      <a:srgbClr val="FBFAF7"/>
                    </a:solidFill>
                  </a:tcPr>
                </a:tc>
              </a:tr>
            </a:tbl>
          </a:graphicData>
        </a:graphic>
      </p:graphicFrame>
      <p:sp>
        <p:nvSpPr>
          <p:cNvPr id="11" name="Rectangle 10"/>
          <p:cNvSpPr/>
          <p:nvPr/>
        </p:nvSpPr>
        <p:spPr>
          <a:xfrm>
            <a:off x="777240" y="3960368"/>
            <a:ext cx="10637215" cy="105156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960368"/>
            <a:ext cx="41148" cy="105156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079240"/>
            <a:ext cx="10180015" cy="832103"/>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1E3A6E"/>
                </a:solidFill>
                <a:latin typeface="Calibri"/>
              </a:rPr>
              <a:t>The distinction that matters is the last row. </a:t>
            </a:r>
            <a:r>
              <a:rPr sz="1050" b="0" i="0">
                <a:solidFill>
                  <a:srgbClr val="0E1726"/>
                </a:solidFill>
                <a:latin typeface="Calibri"/>
              </a:rPr>
              <a:t>`GROUP BY CUBE` will happily average a percentage across regions and sum a closing balance across twelve months. Both produce a number of the right magnitude and the right sign; neither means anything; and nothing about either looks wrong. A model is what lets the engine know the difference.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CUBE · WHY HERE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Three properties this system already had</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10 · Why GROUP BY CUBE is not a cube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32</a:t>
            </a:r>
          </a:p>
        </p:txBody>
      </p:sp>
      <p:sp>
        <p:nvSpPr>
          <p:cNvPr id="10" name="Rectangle 9"/>
          <p:cNvSpPr/>
          <p:nvPr/>
        </p:nvSpPr>
        <p:spPr>
          <a:xfrm>
            <a:off x="777240" y="1399032"/>
            <a:ext cx="10637215" cy="1170432"/>
          </a:xfrm>
          <a:prstGeom prst="rect">
            <a:avLst/>
          </a:prstGeom>
          <a:solidFill>
            <a:srgbClr val="FFFFFF"/>
          </a:solidFill>
          <a:ln w="1143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99032"/>
            <a:ext cx="10637215"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618488"/>
            <a:ext cx="10198303" cy="237744"/>
          </a:xfrm>
          <a:prstGeom prst="rect">
            <a:avLst/>
          </a:prstGeom>
          <a:noFill/>
        </p:spPr>
        <p:txBody>
          <a:bodyPr wrap="square" lIns="0" rIns="0" tIns="0" bIns="0" anchor="t">
            <a:spAutoFit/>
          </a:bodyPr>
          <a:lstStyle/>
          <a:p>
            <a:pPr algn="l">
              <a:spcBef>
                <a:spcPts val="0"/>
              </a:spcBef>
              <a:spcAft>
                <a:spcPts val="0"/>
              </a:spcAft>
            </a:pPr>
            <a:r>
              <a:rPr sz="1000" b="1" i="0">
                <a:solidFill>
                  <a:srgbClr val="1E3A6E"/>
                </a:solidFill>
                <a:latin typeface="Calibri"/>
              </a:rPr>
              <a:t>01</a:t>
            </a:r>
          </a:p>
        </p:txBody>
      </p:sp>
      <p:sp>
        <p:nvSpPr>
          <p:cNvPr id="13" name="TextBox 12"/>
          <p:cNvSpPr txBox="1"/>
          <p:nvPr/>
        </p:nvSpPr>
        <p:spPr>
          <a:xfrm>
            <a:off x="996695" y="1892807"/>
            <a:ext cx="10198303"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1726"/>
                </a:solidFill>
                <a:latin typeface="Georgia"/>
              </a:rPr>
              <a:t>A consolidation path is a graph traversal.</a:t>
            </a:r>
          </a:p>
        </p:txBody>
      </p:sp>
      <p:sp>
        <p:nvSpPr>
          <p:cNvPr id="14" name="TextBox 13"/>
          <p:cNvSpPr txBox="1"/>
          <p:nvPr/>
        </p:nvSpPr>
        <p:spPr>
          <a:xfrm>
            <a:off x="996695" y="2203703"/>
            <a:ext cx="10198303" cy="182880"/>
          </a:xfrm>
          <a:prstGeom prst="rect">
            <a:avLst/>
          </a:prstGeom>
          <a:noFill/>
        </p:spPr>
        <p:txBody>
          <a:bodyPr wrap="square" lIns="0" rIns="0" tIns="0" bIns="0" anchor="t">
            <a:spAutoFit/>
          </a:bodyPr>
          <a:lstStyle/>
          <a:p>
            <a:pPr algn="l">
              <a:lnSpc>
                <a:spcPct val="122000"/>
              </a:lnSpc>
              <a:spcBef>
                <a:spcPts val="0"/>
              </a:spcBef>
              <a:spcAft>
                <a:spcPts val="0"/>
              </a:spcAft>
            </a:pPr>
            <a:r>
              <a:rPr sz="900" b="0" i="0">
                <a:solidFill>
                  <a:srgbClr val="444F60"/>
                </a:solidFill>
                <a:latin typeface="Calibri"/>
              </a:rPr>
              <a:t>Walking a hierarchy from one grain to the next is exactly what the graph engine already does over a typed adjacency. The cube did not need a second traversal.</a:t>
            </a:r>
          </a:p>
        </p:txBody>
      </p:sp>
      <p:sp>
        <p:nvSpPr>
          <p:cNvPr id="15" name="Rectangle 14"/>
          <p:cNvSpPr/>
          <p:nvPr/>
        </p:nvSpPr>
        <p:spPr>
          <a:xfrm>
            <a:off x="777240" y="2697480"/>
            <a:ext cx="10637215" cy="1170432"/>
          </a:xfrm>
          <a:prstGeom prst="rect">
            <a:avLst/>
          </a:prstGeom>
          <a:solidFill>
            <a:srgbClr val="FFFFFF"/>
          </a:solidFill>
          <a:ln w="1143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777240" y="2697480"/>
            <a:ext cx="10637215"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996695" y="2916936"/>
            <a:ext cx="10198303" cy="237744"/>
          </a:xfrm>
          <a:prstGeom prst="rect">
            <a:avLst/>
          </a:prstGeom>
          <a:noFill/>
        </p:spPr>
        <p:txBody>
          <a:bodyPr wrap="square" lIns="0" rIns="0" tIns="0" bIns="0" anchor="t">
            <a:spAutoFit/>
          </a:bodyPr>
          <a:lstStyle/>
          <a:p>
            <a:pPr algn="l">
              <a:spcBef>
                <a:spcPts val="0"/>
              </a:spcBef>
              <a:spcAft>
                <a:spcPts val="0"/>
              </a:spcAft>
            </a:pPr>
            <a:r>
              <a:rPr sz="1000" b="1" i="0">
                <a:solidFill>
                  <a:srgbClr val="1E3A6E"/>
                </a:solidFill>
                <a:latin typeface="Calibri"/>
              </a:rPr>
              <a:t>02</a:t>
            </a:r>
          </a:p>
        </p:txBody>
      </p:sp>
      <p:sp>
        <p:nvSpPr>
          <p:cNvPr id="18" name="TextBox 17"/>
          <p:cNvSpPr txBox="1"/>
          <p:nvPr/>
        </p:nvSpPr>
        <p:spPr>
          <a:xfrm>
            <a:off x="996695" y="3191256"/>
            <a:ext cx="10198303"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1726"/>
                </a:solidFill>
                <a:latin typeface="Georgia"/>
              </a:rPr>
              <a:t>Consolidation is floating-point reduction at its worst.</a:t>
            </a:r>
          </a:p>
        </p:txBody>
      </p:sp>
      <p:sp>
        <p:nvSpPr>
          <p:cNvPr id="19" name="TextBox 18"/>
          <p:cNvSpPr txBox="1"/>
          <p:nvPr/>
        </p:nvSpPr>
        <p:spPr>
          <a:xfrm>
            <a:off x="996695" y="3502152"/>
            <a:ext cx="10198303" cy="182880"/>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44F60"/>
                </a:solidFill>
                <a:latin typeface="Calibri"/>
              </a:rPr>
              <a:t>A roll-up re-associates a sum by construction, and re-association is precisely what moves a floating-point total. The determinism work in Part V is the prerequisite, not a neighbour.</a:t>
            </a:r>
          </a:p>
        </p:txBody>
      </p:sp>
      <p:sp>
        <p:nvSpPr>
          <p:cNvPr id="20" name="Rectangle 19"/>
          <p:cNvSpPr/>
          <p:nvPr/>
        </p:nvSpPr>
        <p:spPr>
          <a:xfrm>
            <a:off x="777240" y="3995928"/>
            <a:ext cx="10637215" cy="1170432"/>
          </a:xfrm>
          <a:prstGeom prst="rect">
            <a:avLst/>
          </a:prstGeom>
          <a:solidFill>
            <a:srgbClr val="FFFFFF"/>
          </a:solidFill>
          <a:ln w="1143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777240" y="3995928"/>
            <a:ext cx="10637215"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996695" y="4215384"/>
            <a:ext cx="10198303" cy="237744"/>
          </a:xfrm>
          <a:prstGeom prst="rect">
            <a:avLst/>
          </a:prstGeom>
          <a:noFill/>
        </p:spPr>
        <p:txBody>
          <a:bodyPr wrap="square" lIns="0" rIns="0" tIns="0" bIns="0" anchor="t">
            <a:spAutoFit/>
          </a:bodyPr>
          <a:lstStyle/>
          <a:p>
            <a:pPr algn="l">
              <a:spcBef>
                <a:spcPts val="0"/>
              </a:spcBef>
              <a:spcAft>
                <a:spcPts val="0"/>
              </a:spcAft>
            </a:pPr>
            <a:r>
              <a:rPr sz="1000" b="1" i="0">
                <a:solidFill>
                  <a:srgbClr val="1E3A6E"/>
                </a:solidFill>
                <a:latin typeface="Calibri"/>
              </a:rPr>
              <a:t>03</a:t>
            </a:r>
          </a:p>
        </p:txBody>
      </p:sp>
      <p:sp>
        <p:nvSpPr>
          <p:cNvPr id="23" name="TextBox 22"/>
          <p:cNvSpPr txBox="1"/>
          <p:nvPr/>
        </p:nvSpPr>
        <p:spPr>
          <a:xfrm>
            <a:off x="996695" y="4489704"/>
            <a:ext cx="10198303"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1726"/>
                </a:solidFill>
                <a:latin typeface="Georgia"/>
              </a:rPr>
              <a:t>Every table already carries a business-date axis.</a:t>
            </a:r>
          </a:p>
        </p:txBody>
      </p:sp>
      <p:sp>
        <p:nvSpPr>
          <p:cNvPr id="24" name="TextBox 23"/>
          <p:cNvSpPr txBox="1"/>
          <p:nvPr/>
        </p:nvSpPr>
        <p:spPr>
          <a:xfrm>
            <a:off x="996695" y="4800600"/>
            <a:ext cx="10198303" cy="182880"/>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44F60"/>
                </a:solidFill>
                <a:latin typeface="Calibri"/>
              </a:rPr>
              <a:t>A time dimension is the one every cube has and the one every implementation gets wrong, because arrival time and business time are different questions. Chapter 7 is why that was settled first.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MODEL · WHAT IT IS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A cube is a declared view over a published table</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11 · The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33</a:t>
            </a:r>
          </a:p>
        </p:txBody>
      </p:sp>
      <p:graphicFrame>
        <p:nvGraphicFramePr>
          <p:cNvPr id="10" name="Table 9"/>
          <p:cNvGraphicFramePr>
            <a:graphicFrameLocks noGrp="1"/>
          </p:cNvGraphicFramePr>
          <p:nvPr/>
        </p:nvGraphicFramePr>
        <p:xfrm>
          <a:off x="777240" y="1353312"/>
          <a:ext cx="10637214" cy="2633293"/>
        </p:xfrm>
        <a:graphic>
          <a:graphicData uri="http://schemas.openxmlformats.org/drawingml/2006/table">
            <a:tbl>
              <a:tblPr firstRow="1">
                <a:tableStyleId>{5C22544A-7EE6-4342-B048-85BDC9FD1C3A}</a:tableStyleId>
              </a:tblPr>
              <a:tblGrid>
                <a:gridCol w="1558902"/>
                <a:gridCol w="4218206"/>
                <a:gridCol w="4860106"/>
              </a:tblGrid>
              <a:tr h="333781">
                <a:tc>
                  <a:txBody>
                    <a:bodyPr wrap="square"/>
                    <a:lstStyle/>
                    <a:p>
                      <a:pPr algn="l"/>
                      <a:r>
                        <a:rPr sz="1100" b="1">
                          <a:solidFill>
                            <a:srgbClr val="FFFFFF"/>
                          </a:solidFill>
                          <a:latin typeface="Calibri"/>
                        </a:rPr>
                        <a:t>Part</a:t>
                      </a:r>
                    </a:p>
                  </a:txBody>
                  <a:tcPr marL="82296" marR="64008" marT="32004" marB="32004" anchor="ctr">
                    <a:solidFill>
                      <a:srgbClr val="1E3A6E"/>
                    </a:solidFill>
                  </a:tcPr>
                </a:tc>
                <a:tc>
                  <a:txBody>
                    <a:bodyPr wrap="square"/>
                    <a:lstStyle/>
                    <a:p>
                      <a:pPr algn="l"/>
                      <a:r>
                        <a:rPr sz="1100" b="1">
                          <a:solidFill>
                            <a:srgbClr val="FFFFFF"/>
                          </a:solidFill>
                          <a:latin typeface="Calibri"/>
                        </a:rPr>
                        <a:t>What it is</a:t>
                      </a:r>
                    </a:p>
                  </a:txBody>
                  <a:tcPr marL="82296" marR="64008" marT="32004" marB="32004" anchor="ctr">
                    <a:solidFill>
                      <a:srgbClr val="1E3A6E"/>
                    </a:solidFill>
                  </a:tcPr>
                </a:tc>
                <a:tc>
                  <a:txBody>
                    <a:bodyPr wrap="square"/>
                    <a:lstStyle/>
                    <a:p>
                      <a:pPr algn="l"/>
                      <a:r>
                        <a:rPr sz="1100" b="1">
                          <a:solidFill>
                            <a:srgbClr val="FFFFFF"/>
                          </a:solidFill>
                          <a:latin typeface="Calibri"/>
                        </a:rPr>
                        <a:t>Written as</a:t>
                      </a:r>
                    </a:p>
                  </a:txBody>
                  <a:tcPr marL="82296" marR="64008" marT="32004" marB="32004" anchor="ctr">
                    <a:solidFill>
                      <a:srgbClr val="1E3A6E"/>
                    </a:solidFill>
                  </a:tcPr>
                </a:tc>
              </a:tr>
              <a:tr h="342303">
                <a:tc>
                  <a:txBody>
                    <a:bodyPr wrap="square"/>
                    <a:lstStyle/>
                    <a:p>
                      <a:pPr algn="l"/>
                      <a:r>
                        <a:rPr sz="1150" b="0">
                          <a:solidFill>
                            <a:srgbClr val="0E1726"/>
                          </a:solidFill>
                          <a:latin typeface="Calibri"/>
                        </a:rPr>
                        <a:t>Fact source</a:t>
                      </a:r>
                    </a:p>
                  </a:txBody>
                  <a:tcPr marL="82296" marR="64008" marT="32004" marB="32004" anchor="ctr">
                    <a:solidFill>
                      <a:srgbClr val="FFFFFF"/>
                    </a:solidFill>
                  </a:tcPr>
                </a:tc>
                <a:tc>
                  <a:txBody>
                    <a:bodyPr wrap="square"/>
                    <a:lstStyle/>
                    <a:p>
                      <a:pPr algn="l"/>
                      <a:r>
                        <a:rPr sz="1150" b="0">
                          <a:solidFill>
                            <a:srgbClr val="0E1726"/>
                          </a:solidFill>
                          <a:latin typeface="Calibri"/>
                        </a:rPr>
                        <a:t>a published table, or a parenthesised query</a:t>
                      </a:r>
                    </a:p>
                  </a:txBody>
                  <a:tcPr marL="82296" marR="64008" marT="32004" marB="32004" anchor="ctr">
                    <a:solidFill>
                      <a:srgbClr val="FFFFFF"/>
                    </a:solidFill>
                  </a:tcPr>
                </a:tc>
                <a:tc>
                  <a:txBody>
                    <a:bodyPr wrap="square"/>
                    <a:lstStyle/>
                    <a:p>
                      <a:pPr algn="l"/>
                      <a:r>
                        <a:rPr sz="1150" b="0">
                          <a:solidFill>
                            <a:srgbClr val="0E1726"/>
                          </a:solidFill>
                          <a:latin typeface="Calibri"/>
                        </a:rPr>
                        <a:t>`FROM sales.orders`</a:t>
                      </a:r>
                    </a:p>
                  </a:txBody>
                  <a:tcPr marL="82296" marR="64008" marT="32004" marB="32004" anchor="ctr">
                    <a:solidFill>
                      <a:srgbClr val="FFFFFF"/>
                    </a:solidFill>
                  </a:tcPr>
                </a:tc>
              </a:tr>
              <a:tr h="538302">
                <a:tc>
                  <a:txBody>
                    <a:bodyPr wrap="square"/>
                    <a:lstStyle/>
                    <a:p>
                      <a:pPr algn="l"/>
                      <a:r>
                        <a:rPr sz="1150" b="0">
                          <a:solidFill>
                            <a:srgbClr val="0E1726"/>
                          </a:solidFill>
                          <a:latin typeface="Calibri"/>
                        </a:rPr>
                        <a:t>Dimension</a:t>
                      </a:r>
                    </a:p>
                  </a:txBody>
                  <a:tcPr marL="82296" marR="64008" marT="32004" marB="32004" anchor="ctr">
                    <a:solidFill>
                      <a:srgbClr val="FBFAF7"/>
                    </a:solidFill>
                  </a:tcPr>
                </a:tc>
                <a:tc>
                  <a:txBody>
                    <a:bodyPr wrap="square"/>
                    <a:lstStyle/>
                    <a:p>
                      <a:pPr algn="l"/>
                      <a:r>
                        <a:rPr sz="1150" b="0">
                          <a:solidFill>
                            <a:srgbClr val="0E1726"/>
                          </a:solidFill>
                          <a:latin typeface="Calibri"/>
                        </a:rPr>
                        <a:t>a name, a member table, the fact column it joins on, and levels</a:t>
                      </a:r>
                    </a:p>
                  </a:txBody>
                  <a:tcPr marL="82296" marR="64008" marT="32004" marB="32004" anchor="ctr">
                    <a:solidFill>
                      <a:srgbClr val="FBFAF7"/>
                    </a:solidFill>
                  </a:tcPr>
                </a:tc>
                <a:tc>
                  <a:txBody>
                    <a:bodyPr wrap="square"/>
                    <a:lstStyle/>
                    <a:p>
                      <a:pPr algn="l"/>
                      <a:r>
                        <a:rPr sz="1150" b="0">
                          <a:solidFill>
                            <a:srgbClr val="0E1726"/>
                          </a:solidFill>
                          <a:latin typeface="Calibri"/>
                        </a:rPr>
                        <a:t>`DIMENSION region FROM sales.regions ON region (LEVEL area = region)`</a:t>
                      </a:r>
                    </a:p>
                  </a:txBody>
                  <a:tcPr marL="82296" marR="64008" marT="32004" marB="32004" anchor="ctr">
                    <a:solidFill>
                      <a:srgbClr val="FBFAF7"/>
                    </a:solidFill>
                  </a:tcPr>
                </a:tc>
              </a:tr>
              <a:tr h="342303">
                <a:tc>
                  <a:txBody>
                    <a:bodyPr wrap="square"/>
                    <a:lstStyle/>
                    <a:p>
                      <a:pPr algn="l"/>
                      <a:r>
                        <a:rPr sz="1150" b="0">
                          <a:solidFill>
                            <a:srgbClr val="0E1726"/>
                          </a:solidFill>
                          <a:latin typeface="Calibri"/>
                        </a:rPr>
                        <a:t>Measure</a:t>
                      </a:r>
                    </a:p>
                  </a:txBody>
                  <a:tcPr marL="82296" marR="64008" marT="32004" marB="32004" anchor="ctr">
                    <a:solidFill>
                      <a:srgbClr val="FFFFFF"/>
                    </a:solidFill>
                  </a:tcPr>
                </a:tc>
                <a:tc>
                  <a:txBody>
                    <a:bodyPr wrap="square"/>
                    <a:lstStyle/>
                    <a:p>
                      <a:pPr algn="l"/>
                      <a:r>
                        <a:rPr sz="1150" b="0">
                          <a:solidFill>
                            <a:srgbClr val="0E1726"/>
                          </a:solidFill>
                          <a:latin typeface="Calibri"/>
                        </a:rPr>
                        <a:t>a name and **one rule per dimension, with no default**</a:t>
                      </a:r>
                    </a:p>
                  </a:txBody>
                  <a:tcPr marL="82296" marR="64008" marT="32004" marB="32004" anchor="ctr">
                    <a:solidFill>
                      <a:srgbClr val="FFFFFF"/>
                    </a:solidFill>
                  </a:tcPr>
                </a:tc>
                <a:tc>
                  <a:txBody>
                    <a:bodyPr wrap="square"/>
                    <a:lstStyle/>
                    <a:p>
                      <a:pPr algn="l"/>
                      <a:r>
                        <a:rPr sz="1150" b="0">
                          <a:solidFill>
                            <a:srgbClr val="0E1726"/>
                          </a:solidFill>
                          <a:latin typeface="Calibri"/>
                        </a:rPr>
                        <a:t>`MEASURE amount (SUM ALONG region, SUM ALONG period)`</a:t>
                      </a:r>
                    </a:p>
                  </a:txBody>
                  <a:tcPr marL="82296" marR="64008" marT="32004" marB="32004" anchor="ctr">
                    <a:solidFill>
                      <a:srgbClr val="FFFFFF"/>
                    </a:solidFill>
                  </a:tcPr>
                </a:tc>
              </a:tr>
              <a:tr h="538302">
                <a:tc>
                  <a:txBody>
                    <a:bodyPr wrap="square"/>
                    <a:lstStyle/>
                    <a:p>
                      <a:pPr algn="l"/>
                      <a:r>
                        <a:rPr sz="1150" b="0">
                          <a:solidFill>
                            <a:srgbClr val="0E1726"/>
                          </a:solidFill>
                          <a:latin typeface="Calibri"/>
                        </a:rPr>
                        <a:t>Rule</a:t>
                      </a:r>
                    </a:p>
                  </a:txBody>
                  <a:tcPr marL="82296" marR="64008" marT="32004" marB="32004" anchor="ctr">
                    <a:solidFill>
                      <a:srgbClr val="FBFAF7"/>
                    </a:solidFill>
                  </a:tcPr>
                </a:tc>
                <a:tc>
                  <a:txBody>
                    <a:bodyPr wrap="square"/>
                    <a:lstStyle/>
                    <a:p>
                      <a:pPr algn="l"/>
                      <a:r>
                        <a:rPr sz="1150" b="0">
                          <a:solidFill>
                            <a:srgbClr val="0E1726"/>
                          </a:solidFill>
                          <a:latin typeface="Calibri"/>
                        </a:rPr>
                        <a:t>`SUM` `MIN` `MAX` `FIRST` `LAST` `MEAN` `NONE` `AGGREGATION &lt;name&gt;`</a:t>
                      </a:r>
                    </a:p>
                  </a:txBody>
                  <a:tcPr marL="82296" marR="64008" marT="32004" marB="32004" anchor="ctr">
                    <a:solidFill>
                      <a:srgbClr val="FBFAF7"/>
                    </a:solidFill>
                  </a:tcPr>
                </a:tc>
                <a:tc>
                  <a:txBody>
                    <a:bodyPr wrap="square"/>
                    <a:lstStyle/>
                    <a:p>
                      <a:pPr algn="l"/>
                      <a:r>
                        <a:rPr sz="1150" b="0">
                          <a:solidFill>
                            <a:srgbClr val="0E1726"/>
                          </a:solidFill>
                          <a:latin typeface="Calibri"/>
                        </a:rPr>
                        <a:t>`crates/sankhya-cube-algo/src/measure.rs`</a:t>
                      </a:r>
                    </a:p>
                  </a:txBody>
                  <a:tcPr marL="82296" marR="64008" marT="32004" marB="32004" anchor="ctr">
                    <a:solidFill>
                      <a:srgbClr val="FBFAF7"/>
                    </a:solidFill>
                  </a:tcPr>
                </a:tc>
              </a:tr>
              <a:tr h="538302">
                <a:tc>
                  <a:txBody>
                    <a:bodyPr wrap="square"/>
                    <a:lstStyle/>
                    <a:p>
                      <a:pPr algn="l"/>
                      <a:r>
                        <a:rPr sz="1150" b="0">
                          <a:solidFill>
                            <a:srgbClr val="0E1726"/>
                          </a:solidFill>
                          <a:latin typeface="Calibri"/>
                        </a:rPr>
                        <a:t>Composes?</a:t>
                      </a:r>
                    </a:p>
                  </a:txBody>
                  <a:tcPr marL="82296" marR="64008" marT="32004" marB="32004" anchor="ctr">
                    <a:solidFill>
                      <a:srgbClr val="FFFFFF"/>
                    </a:solidFill>
                  </a:tcPr>
                </a:tc>
                <a:tc>
                  <a:txBody>
                    <a:bodyPr wrap="square"/>
                    <a:lstStyle/>
                    <a:p>
                      <a:pPr algn="l"/>
                      <a:r>
                        <a:rPr sz="1150" b="0">
                          <a:solidFill>
                            <a:srgbClr val="0E1726"/>
                          </a:solidFill>
                          <a:latin typeface="Calibri"/>
                        </a:rPr>
                        <a:t>`SUM` `MIN` `MAX` `FIRST` `LAST` yes · `MEAN` `NONE` no</a:t>
                      </a:r>
                    </a:p>
                  </a:txBody>
                  <a:tcPr marL="82296" marR="64008" marT="32004" marB="32004" anchor="ctr">
                    <a:solidFill>
                      <a:srgbClr val="FFFFFF"/>
                    </a:solidFill>
                  </a:tcPr>
                </a:tc>
                <a:tc>
                  <a:txBody>
                    <a:bodyPr wrap="square"/>
                    <a:lstStyle/>
                    <a:p>
                      <a:pPr algn="l"/>
                      <a:r>
                        <a:rPr sz="1150" b="0">
                          <a:solidFill>
                            <a:srgbClr val="0E1726"/>
                          </a:solidFill>
                          <a:latin typeface="Calibri"/>
                        </a:rPr>
                        <a:t>`measure.rs`, and it is a property of the operator</a:t>
                      </a:r>
                    </a:p>
                  </a:txBody>
                  <a:tcPr marL="82296" marR="64008" marT="32004" marB="32004" anchor="ctr">
                    <a:solidFill>
                      <a:srgbClr val="FFFFFF"/>
                    </a:solidFill>
                  </a:tcPr>
                </a:tc>
              </a:tr>
            </a:tbl>
          </a:graphicData>
        </a:graphic>
      </p:graphicFrame>
      <p:sp>
        <p:nvSpPr>
          <p:cNvPr id="11" name="TextBox 10"/>
          <p:cNvSpPr txBox="1"/>
          <p:nvPr/>
        </p:nvSpPr>
        <p:spPr>
          <a:xfrm>
            <a:off x="777240" y="4206062"/>
            <a:ext cx="10637215" cy="1371600"/>
          </a:xfrm>
          <a:prstGeom prst="rect">
            <a:avLst/>
          </a:prstGeom>
          <a:noFill/>
        </p:spPr>
        <p:txBody>
          <a:bodyPr wrap="square" lIns="0" rIns="0" tIns="0" bIns="0" anchor="t">
            <a:spAutoFit/>
          </a:bodyPr>
          <a:lstStyle/>
          <a:p>
            <a:pPr algn="l">
              <a:lnSpc>
                <a:spcPct val="128000"/>
              </a:lnSpc>
              <a:spcBef>
                <a:spcPts val="0"/>
              </a:spcBef>
              <a:spcAft>
                <a:spcPts val="0"/>
              </a:spcAft>
            </a:pPr>
            <a:r>
              <a:rPr sz="1150" b="1" i="0">
                <a:solidFill>
                  <a:srgbClr val="1E3A6E"/>
                </a:solidFill>
                <a:latin typeface="Calibri"/>
              </a:rPr>
              <a:t>There is no load step, no build step and no second store. </a:t>
            </a:r>
            <a:r>
              <a:rPr sz="1150" b="0" i="0">
                <a:solidFill>
                  <a:srgbClr val="444F60"/>
                </a:solidFill>
                <a:latin typeface="Calibri"/>
              </a:rPr>
              <a:t>`CREATE CUBE` writes one JSON document to `&lt;warehouse&gt;/_cubes/&lt;name&gt;.json` and nothing else --- no data, no cells. A cell exists because rows exist. The version is not a field somebody remembers to bump: it is an FNV-1a fingerprint of the validated content, so changing a rule changes the key and reformatting the file does not.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MODEL · THE RULE</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The rule is per measure PER DIMENSION, and that is the part people skip</a:t>
            </a:r>
          </a:p>
        </p:txBody>
      </p:sp>
      <p:sp>
        <p:nvSpPr>
          <p:cNvPr id="6" name="Rectangle 5"/>
          <p:cNvSpPr/>
          <p:nvPr/>
        </p:nvSpPr>
        <p:spPr>
          <a:xfrm>
            <a:off x="777240" y="161848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11 · The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34</a:t>
            </a:r>
          </a:p>
        </p:txBody>
      </p:sp>
      <p:sp>
        <p:nvSpPr>
          <p:cNvPr id="10" name="TextBox 9"/>
          <p:cNvSpPr txBox="1"/>
          <p:nvPr/>
        </p:nvSpPr>
        <p:spPr>
          <a:xfrm>
            <a:off x="777240" y="1764792"/>
            <a:ext cx="10637215" cy="1188720"/>
          </a:xfrm>
          <a:prstGeom prst="rect">
            <a:avLst/>
          </a:prstGeom>
          <a:noFill/>
        </p:spPr>
        <p:txBody>
          <a:bodyPr wrap="square" lIns="0" rIns="0" tIns="0" bIns="0" anchor="t">
            <a:spAutoFit/>
          </a:bodyPr>
          <a:lstStyle/>
          <a:p>
            <a:pPr algn="l">
              <a:lnSpc>
                <a:spcPct val="128000"/>
              </a:lnSpc>
              <a:spcBef>
                <a:spcPts val="0"/>
              </a:spcBef>
              <a:spcAft>
                <a:spcPts val="0"/>
              </a:spcAft>
            </a:pPr>
            <a:r>
              <a:rPr sz="1200" b="1" i="0">
                <a:solidFill>
                  <a:srgbClr val="1E3A6E"/>
                </a:solidFill>
                <a:latin typeface="Calibri"/>
              </a:rPr>
              <a:t>“This measure is semi-additive” is not a usable statement. </a:t>
            </a:r>
            <a:r>
              <a:rPr sz="1200" b="0" i="0">
                <a:solidFill>
                  <a:srgbClr val="444F60"/>
                </a:solidFill>
                <a:latin typeface="Calibri"/>
              </a:rPr>
              <a:t>Semi-additive *over what?* A balance sums across accounts and takes the last value across time. At query time the planner asks one question --- may this measure be combined along **this** axis, and with what? --- and a per-measure answer cannot answer it.</a:t>
            </a:r>
          </a:p>
        </p:txBody>
      </p:sp>
      <p:sp>
        <p:nvSpPr>
          <p:cNvPr id="11" name="Rectangle 10"/>
          <p:cNvSpPr/>
          <p:nvPr/>
        </p:nvSpPr>
        <p:spPr>
          <a:xfrm>
            <a:off x="777240" y="2724912"/>
            <a:ext cx="5744096" cy="2196571"/>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2724912"/>
            <a:ext cx="41148" cy="2196571"/>
          </a:xfrm>
          <a:prstGeom prst="rect">
            <a:avLst/>
          </a:prstGeom>
          <a:solidFill>
            <a:srgbClr val="444F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78408" y="2816352"/>
            <a:ext cx="5378336" cy="219456"/>
          </a:xfrm>
          <a:prstGeom prst="rect">
            <a:avLst/>
          </a:prstGeom>
          <a:noFill/>
        </p:spPr>
        <p:txBody>
          <a:bodyPr wrap="square" lIns="0" rIns="0" tIns="0" bIns="0" anchor="t">
            <a:spAutoFit/>
          </a:bodyPr>
          <a:lstStyle/>
          <a:p>
            <a:pPr algn="l">
              <a:spcBef>
                <a:spcPts val="0"/>
              </a:spcBef>
              <a:spcAft>
                <a:spcPts val="0"/>
              </a:spcAft>
            </a:pPr>
            <a:r>
              <a:rPr sz="900" b="1" i="0">
                <a:solidFill>
                  <a:srgbClr val="1E3A6E"/>
                </a:solidFill>
                <a:latin typeface="Calibri"/>
              </a:rPr>
              <a:t>one row per (measure, dimension)</a:t>
            </a:r>
          </a:p>
        </p:txBody>
      </p:sp>
      <p:sp>
        <p:nvSpPr>
          <p:cNvPr id="14" name="TextBox 13"/>
          <p:cNvSpPr txBox="1"/>
          <p:nvPr/>
        </p:nvSpPr>
        <p:spPr>
          <a:xfrm>
            <a:off x="978408" y="3118103"/>
            <a:ext cx="5378336" cy="1721083"/>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0E1726"/>
                </a:solidFill>
                <a:latin typeface="Consolas"/>
              </a:rPr>
              <a:t>SELECT * FROM cube_measures('sales_q');</a:t>
            </a:r>
          </a:p>
          <a:p>
            <a:pPr>
              <a:lnSpc>
                <a:spcPct val="134000"/>
              </a:lnSpc>
              <a:spcBef>
                <a:spcPts val="0"/>
              </a:spcBef>
              <a:spcAft>
                <a:spcPts val="0"/>
              </a:spcAft>
            </a:pPr>
            <a:r>
              <a:rPr sz="950" b="0" i="0">
                <a:solidFill>
                  <a:srgbClr val="0E1726"/>
                </a:solidFill>
                <a:latin typeface="Consolas"/>
              </a:rPr>
              <a:t> </a:t>
            </a:r>
          </a:p>
          <a:p>
            <a:pPr>
              <a:lnSpc>
                <a:spcPct val="134000"/>
              </a:lnSpc>
              <a:spcBef>
                <a:spcPts val="0"/>
              </a:spcBef>
              <a:spcAft>
                <a:spcPts val="0"/>
              </a:spcAft>
            </a:pPr>
            <a:r>
              <a:rPr sz="950" b="0" i="0">
                <a:solidFill>
                  <a:srgbClr val="0E1726"/>
                </a:solidFill>
                <a:latin typeface="Consolas"/>
              </a:rPr>
              <a:t>  measure   | dimension | rule | composes</a:t>
            </a:r>
          </a:p>
          <a:p>
            <a:pPr>
              <a:lnSpc>
                <a:spcPct val="134000"/>
              </a:lnSpc>
              <a:spcBef>
                <a:spcPts val="0"/>
              </a:spcBef>
              <a:spcAft>
                <a:spcPts val="0"/>
              </a:spcAft>
            </a:pPr>
            <a:r>
              <a:rPr sz="950" b="0" i="0">
                <a:solidFill>
                  <a:srgbClr val="0E1726"/>
                </a:solidFill>
                <a:latin typeface="Consolas"/>
              </a:rPr>
              <a:t>------------+-----------+------+---------</a:t>
            </a:r>
          </a:p>
          <a:p>
            <a:pPr>
              <a:lnSpc>
                <a:spcPct val="134000"/>
              </a:lnSpc>
              <a:spcBef>
                <a:spcPts val="0"/>
              </a:spcBef>
              <a:spcAft>
                <a:spcPts val="0"/>
              </a:spcAft>
            </a:pPr>
            <a:r>
              <a:rPr sz="950" b="0" i="0">
                <a:solidFill>
                  <a:srgbClr val="0E1726"/>
                </a:solidFill>
                <a:latin typeface="Consolas"/>
              </a:rPr>
              <a:t> amount     | region    | sum  | t</a:t>
            </a:r>
          </a:p>
          <a:p>
            <a:pPr>
              <a:lnSpc>
                <a:spcPct val="134000"/>
              </a:lnSpc>
              <a:spcBef>
                <a:spcPts val="0"/>
              </a:spcBef>
              <a:spcAft>
                <a:spcPts val="0"/>
              </a:spcAft>
            </a:pPr>
            <a:r>
              <a:rPr sz="950" b="0" i="0">
                <a:solidFill>
                  <a:srgbClr val="0E1726"/>
                </a:solidFill>
                <a:latin typeface="Consolas"/>
              </a:rPr>
              <a:t> amount     | period    | sum  | t</a:t>
            </a:r>
          </a:p>
          <a:p>
            <a:pPr>
              <a:lnSpc>
                <a:spcPct val="134000"/>
              </a:lnSpc>
              <a:spcBef>
                <a:spcPts val="0"/>
              </a:spcBef>
              <a:spcAft>
                <a:spcPts val="0"/>
              </a:spcAft>
            </a:pPr>
            <a:r>
              <a:rPr sz="950" b="0" i="0">
                <a:solidFill>
                  <a:srgbClr val="0E1726"/>
                </a:solidFill>
                <a:latin typeface="Consolas"/>
              </a:rPr>
              <a:t> margin_pct | region    | none | f</a:t>
            </a:r>
          </a:p>
          <a:p>
            <a:pPr>
              <a:lnSpc>
                <a:spcPct val="134000"/>
              </a:lnSpc>
              <a:spcBef>
                <a:spcPts val="0"/>
              </a:spcBef>
              <a:spcAft>
                <a:spcPts val="0"/>
              </a:spcAft>
            </a:pPr>
            <a:r>
              <a:rPr sz="950" b="0" i="0">
                <a:solidFill>
                  <a:srgbClr val="0E1726"/>
                </a:solidFill>
                <a:latin typeface="Consolas"/>
              </a:rPr>
              <a:t> margin_pct | period    | none | f</a:t>
            </a:r>
          </a:p>
        </p:txBody>
      </p:sp>
      <p:sp>
        <p:nvSpPr>
          <p:cNvPr id="15" name="TextBox 14"/>
          <p:cNvSpPr txBox="1"/>
          <p:nvPr/>
        </p:nvSpPr>
        <p:spPr>
          <a:xfrm>
            <a:off x="6946824" y="2724912"/>
            <a:ext cx="4467630" cy="2377440"/>
          </a:xfrm>
          <a:prstGeom prst="rect">
            <a:avLst/>
          </a:prstGeom>
          <a:noFill/>
        </p:spPr>
        <p:txBody>
          <a:bodyPr wrap="square" lIns="0" rIns="0" tIns="0" bIns="0" anchor="t">
            <a:spAutoFit/>
          </a:bodyPr>
          <a:lstStyle/>
          <a:p>
            <a:pPr algn="l">
              <a:spcBef>
                <a:spcPts val="0"/>
              </a:spcBef>
              <a:spcAft>
                <a:spcPts val="800"/>
              </a:spcAft>
            </a:pPr>
            <a:r>
              <a:rPr sz="1200" b="1" i="0">
                <a:solidFill>
                  <a:srgbClr val="1E3A6E"/>
                </a:solidFill>
                <a:latin typeface="Calibri"/>
              </a:rPr>
              <a:t>That shape is the argument.</a:t>
            </a:r>
          </a:p>
          <a:p>
            <a:pPr>
              <a:lnSpc>
                <a:spcPct val="130000"/>
              </a:lnSpc>
              <a:spcBef>
                <a:spcPts val="0"/>
              </a:spcBef>
              <a:spcAft>
                <a:spcPts val="800"/>
              </a:spcAft>
            </a:pPr>
            <a:r>
              <a:rPr sz="1100" b="0" i="0">
                <a:solidFill>
                  <a:srgbClr val="444F60"/>
                </a:solidFill>
                <a:latin typeface="Calibri"/>
              </a:rPr>
              <a:t>A rule declared per dimension is what makes a semi-additive measure expressible at all --- and `composes` is on the row so a client does not offer “roll up by time” as a button that cannot work.</a:t>
            </a:r>
          </a:p>
          <a:p>
            <a:pPr>
              <a:lnSpc>
                <a:spcPct val="128000"/>
              </a:lnSpc>
              <a:spcBef>
                <a:spcPts val="0"/>
              </a:spcBef>
              <a:spcAft>
                <a:spcPts val="600"/>
              </a:spcAft>
            </a:pPr>
            <a:r>
              <a:rPr sz="1000" b="0" i="0">
                <a:solidFill>
                  <a:srgbClr val="788395"/>
                </a:solidFill>
                <a:latin typeface="Calibri"/>
              </a:rPr>
              <a:t>Asserted over the wire on every build, booleans rendered `t`/`f` as PostgreSQL does --- `crates/sankhya-server/tests/cube_queries.rs`.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WORKED · THE DECLARATION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The fact table, and the cube declared over it</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12 · A worked example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35</a:t>
            </a:r>
          </a:p>
        </p:txBody>
      </p:sp>
      <p:sp>
        <p:nvSpPr>
          <p:cNvPr id="10" name="Rectangle 9"/>
          <p:cNvSpPr/>
          <p:nvPr/>
        </p:nvSpPr>
        <p:spPr>
          <a:xfrm>
            <a:off x="777240" y="1353312"/>
            <a:ext cx="5531351" cy="240027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400277"/>
          </a:xfrm>
          <a:prstGeom prst="rect">
            <a:avLst/>
          </a:prstGeom>
          <a:solidFill>
            <a:srgbClr val="444F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165591" cy="219456"/>
          </a:xfrm>
          <a:prstGeom prst="rect">
            <a:avLst/>
          </a:prstGeom>
          <a:noFill/>
        </p:spPr>
        <p:txBody>
          <a:bodyPr wrap="square" lIns="0" rIns="0" tIns="0" bIns="0" anchor="t">
            <a:spAutoFit/>
          </a:bodyPr>
          <a:lstStyle/>
          <a:p>
            <a:pPr algn="l">
              <a:spcBef>
                <a:spcPts val="0"/>
              </a:spcBef>
              <a:spcAft>
                <a:spcPts val="0"/>
              </a:spcAft>
            </a:pPr>
            <a:r>
              <a:rPr sz="900" b="1" i="0">
                <a:solidFill>
                  <a:srgbClr val="1E3A6E"/>
                </a:solidFill>
                <a:latin typeface="Calibri"/>
              </a:rPr>
              <a:t>runnable against the quickstart warehouse</a:t>
            </a:r>
          </a:p>
        </p:txBody>
      </p:sp>
      <p:sp>
        <p:nvSpPr>
          <p:cNvPr id="13" name="TextBox 12"/>
          <p:cNvSpPr txBox="1"/>
          <p:nvPr/>
        </p:nvSpPr>
        <p:spPr>
          <a:xfrm>
            <a:off x="978408" y="1746504"/>
            <a:ext cx="5165591" cy="1924789"/>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0E1726"/>
                </a:solidFill>
                <a:latin typeface="Consolas"/>
              </a:rPr>
              <a:t>CREATE CUBE sales_q FROM sales.orders</a:t>
            </a:r>
          </a:p>
          <a:p>
            <a:pPr>
              <a:lnSpc>
                <a:spcPct val="134000"/>
              </a:lnSpc>
              <a:spcBef>
                <a:spcPts val="0"/>
              </a:spcBef>
              <a:spcAft>
                <a:spcPts val="0"/>
              </a:spcAft>
            </a:pPr>
            <a:r>
              <a:rPr sz="950" b="0" i="0">
                <a:solidFill>
                  <a:srgbClr val="0E1726"/>
                </a:solidFill>
                <a:latin typeface="Consolas"/>
              </a:rPr>
              <a:t>  DIMENSION region FROM sales.regions ON region</a:t>
            </a:r>
          </a:p>
          <a:p>
            <a:pPr>
              <a:lnSpc>
                <a:spcPct val="134000"/>
              </a:lnSpc>
              <a:spcBef>
                <a:spcPts val="0"/>
              </a:spcBef>
              <a:spcAft>
                <a:spcPts val="0"/>
              </a:spcAft>
            </a:pPr>
            <a:r>
              <a:rPr sz="950" b="0" i="0">
                <a:solidFill>
                  <a:srgbClr val="0E1726"/>
                </a:solidFill>
                <a:latin typeface="Consolas"/>
              </a:rPr>
              <a:t>            (LEVEL area = region)</a:t>
            </a:r>
          </a:p>
          <a:p>
            <a:pPr>
              <a:lnSpc>
                <a:spcPct val="134000"/>
              </a:lnSpc>
              <a:spcBef>
                <a:spcPts val="0"/>
              </a:spcBef>
              <a:spcAft>
                <a:spcPts val="0"/>
              </a:spcAft>
            </a:pPr>
            <a:r>
              <a:rPr sz="950" b="0" i="0">
                <a:solidFill>
                  <a:srgbClr val="0E1726"/>
                </a:solidFill>
                <a:latin typeface="Consolas"/>
              </a:rPr>
              <a:t>  DIMENSION period FROM sales.orders  ON period</a:t>
            </a:r>
          </a:p>
          <a:p>
            <a:pPr>
              <a:lnSpc>
                <a:spcPct val="134000"/>
              </a:lnSpc>
              <a:spcBef>
                <a:spcPts val="0"/>
              </a:spcBef>
              <a:spcAft>
                <a:spcPts val="0"/>
              </a:spcAft>
            </a:pPr>
            <a:r>
              <a:rPr sz="950" b="0" i="0">
                <a:solidFill>
                  <a:srgbClr val="0E1726"/>
                </a:solidFill>
                <a:latin typeface="Consolas"/>
              </a:rPr>
              <a:t>            (LEVEL quarter = period)</a:t>
            </a:r>
          </a:p>
          <a:p>
            <a:pPr>
              <a:lnSpc>
                <a:spcPct val="134000"/>
              </a:lnSpc>
              <a:spcBef>
                <a:spcPts val="0"/>
              </a:spcBef>
              <a:spcAft>
                <a:spcPts val="0"/>
              </a:spcAft>
            </a:pPr>
            <a:r>
              <a:rPr sz="950" b="0" i="0">
                <a:solidFill>
                  <a:srgbClr val="0E1726"/>
                </a:solidFill>
                <a:latin typeface="Consolas"/>
              </a:rPr>
              <a:t>  MEASURE amount     (SUM  ALONG region,</a:t>
            </a:r>
          </a:p>
          <a:p>
            <a:pPr>
              <a:lnSpc>
                <a:spcPct val="134000"/>
              </a:lnSpc>
              <a:spcBef>
                <a:spcPts val="0"/>
              </a:spcBef>
              <a:spcAft>
                <a:spcPts val="0"/>
              </a:spcAft>
            </a:pPr>
            <a:r>
              <a:rPr sz="950" b="0" i="0">
                <a:solidFill>
                  <a:srgbClr val="0E1726"/>
                </a:solidFill>
                <a:latin typeface="Consolas"/>
              </a:rPr>
              <a:t>                      SUM  ALONG period)</a:t>
            </a:r>
          </a:p>
          <a:p>
            <a:pPr>
              <a:lnSpc>
                <a:spcPct val="134000"/>
              </a:lnSpc>
              <a:spcBef>
                <a:spcPts val="0"/>
              </a:spcBef>
              <a:spcAft>
                <a:spcPts val="0"/>
              </a:spcAft>
            </a:pPr>
            <a:r>
              <a:rPr sz="950" b="0" i="0">
                <a:solidFill>
                  <a:srgbClr val="0E1726"/>
                </a:solidFill>
                <a:latin typeface="Consolas"/>
              </a:rPr>
              <a:t>  MEASURE margin_pct (NONE ALONG region,</a:t>
            </a:r>
          </a:p>
          <a:p>
            <a:pPr>
              <a:lnSpc>
                <a:spcPct val="134000"/>
              </a:lnSpc>
              <a:spcBef>
                <a:spcPts val="0"/>
              </a:spcBef>
              <a:spcAft>
                <a:spcPts val="0"/>
              </a:spcAft>
            </a:pPr>
            <a:r>
              <a:rPr sz="950" b="0" i="0">
                <a:solidFill>
                  <a:srgbClr val="0E1726"/>
                </a:solidFill>
                <a:latin typeface="Consolas"/>
              </a:rPr>
              <a:t>                      NONE ALONG period);</a:t>
            </a:r>
          </a:p>
        </p:txBody>
      </p:sp>
      <p:sp>
        <p:nvSpPr>
          <p:cNvPr id="14" name="TextBox 13"/>
          <p:cNvSpPr txBox="1"/>
          <p:nvPr/>
        </p:nvSpPr>
        <p:spPr>
          <a:xfrm>
            <a:off x="6734080" y="1353312"/>
            <a:ext cx="4680374" cy="3017520"/>
          </a:xfrm>
          <a:prstGeom prst="rect">
            <a:avLst/>
          </a:prstGeom>
          <a:noFill/>
        </p:spPr>
        <p:txBody>
          <a:bodyPr wrap="square" lIns="0" rIns="0" tIns="0" bIns="0" anchor="t">
            <a:spAutoFit/>
          </a:bodyPr>
          <a:lstStyle/>
          <a:p>
            <a:pPr algn="l">
              <a:spcBef>
                <a:spcPts val="0"/>
              </a:spcBef>
              <a:spcAft>
                <a:spcPts val="800"/>
              </a:spcAft>
            </a:pPr>
            <a:r>
              <a:rPr sz="1200" b="1" i="0">
                <a:solidFill>
                  <a:srgbClr val="1E3A6E"/>
                </a:solidFill>
                <a:latin typeface="Calibri"/>
              </a:rPr>
              <a:t>Read it as three sentences.</a:t>
            </a:r>
          </a:p>
          <a:p>
            <a:pPr>
              <a:spcBef>
                <a:spcPts val="0"/>
              </a:spcBef>
              <a:spcAft>
                <a:spcPts val="800"/>
              </a:spcAft>
            </a:pPr>
            <a:r>
              <a:rPr sz="1100" b="1">
                <a:solidFill>
                  <a:srgbClr val="1E3A6E"/>
                </a:solidFill>
                <a:latin typeface="Calibri"/>
              </a:rPr>
              <a:t>▪  </a:t>
            </a:r>
            <a:r>
              <a:rPr sz="1100">
                <a:solidFill>
                  <a:srgbClr val="0E1726"/>
                </a:solidFill>
                <a:latin typeface="Calibri"/>
              </a:rPr>
              <a:t>The facts are in `sales.orders`.</a:t>
            </a:r>
          </a:p>
          <a:p>
            <a:pPr>
              <a:spcBef>
                <a:spcPts val="0"/>
              </a:spcBef>
              <a:spcAft>
                <a:spcPts val="800"/>
              </a:spcAft>
            </a:pPr>
            <a:r>
              <a:rPr sz="1100" b="1">
                <a:solidFill>
                  <a:srgbClr val="1E3A6E"/>
                </a:solidFill>
                <a:latin typeface="Calibri"/>
              </a:rPr>
              <a:t>▪  </a:t>
            </a:r>
            <a:r>
              <a:rPr sz="1100">
                <a:solidFill>
                  <a:srgbClr val="0E1726"/>
                </a:solidFill>
                <a:latin typeface="Calibri"/>
              </a:rPr>
              <a:t>`region` takes its members from the fact table's `region` column, and is authorized against `sales.regions`.</a:t>
            </a:r>
          </a:p>
          <a:p>
            <a:pPr>
              <a:spcBef>
                <a:spcPts val="0"/>
              </a:spcBef>
              <a:spcAft>
                <a:spcPts val="800"/>
              </a:spcAft>
            </a:pPr>
            <a:r>
              <a:rPr sz="1100" b="1">
                <a:solidFill>
                  <a:srgbClr val="1E3A6E"/>
                </a:solidFill>
                <a:latin typeface="Calibri"/>
              </a:rPr>
              <a:t>▪  </a:t>
            </a:r>
            <a:r>
              <a:rPr sz="1100">
                <a:solidFill>
                  <a:srgbClr val="0E1726"/>
                </a:solidFill>
                <a:latin typeface="Calibri"/>
              </a:rPr>
              <a:t>`amount` adds along both axes. `margin_pct` is a ratio and composes along **nothing** --- declared, not discovered.</a:t>
            </a:r>
          </a:p>
          <a:p>
            <a:pPr>
              <a:lnSpc>
                <a:spcPct val="130000"/>
              </a:lnSpc>
              <a:spcBef>
                <a:spcPts val="0"/>
              </a:spcBef>
              <a:spcAft>
                <a:spcPts val="0"/>
              </a:spcAft>
            </a:pPr>
            <a:r>
              <a:rPr sz="1000" b="0" i="0">
                <a:solidFill>
                  <a:srgbClr val="788395"/>
                </a:solidFill>
                <a:latin typeface="Calibri"/>
              </a:rPr>
              <a:t>Clauses are not comma-separated; the rules inside a MEASURE's parentheses are. There is no CREATE OR REPLACE CUBE --- replacing a cube retires everything it materialised, and that should not happen because somebody re-ran a script.</a:t>
            </a:r>
          </a:p>
        </p:txBody>
      </p:sp>
      <p:sp>
        <p:nvSpPr>
          <p:cNvPr id="15" name="TextBox 14"/>
          <p:cNvSpPr txBox="1"/>
          <p:nvPr/>
        </p:nvSpPr>
        <p:spPr>
          <a:xfrm>
            <a:off x="777240" y="4507992"/>
            <a:ext cx="10637215" cy="457200"/>
          </a:xfrm>
          <a:prstGeom prst="rect">
            <a:avLst/>
          </a:prstGeom>
          <a:noFill/>
        </p:spPr>
        <p:txBody>
          <a:bodyPr wrap="square" lIns="0" rIns="0" tIns="0" bIns="0" anchor="t">
            <a:spAutoFit/>
          </a:bodyPr>
          <a:lstStyle/>
          <a:p>
            <a:pPr algn="l">
              <a:lnSpc>
                <a:spcPct val="125000"/>
              </a:lnSpc>
              <a:spcBef>
                <a:spcPts val="0"/>
              </a:spcBef>
              <a:spcAft>
                <a:spcPts val="0"/>
              </a:spcAft>
            </a:pPr>
            <a:r>
              <a:rPr sz="1100" b="1" i="0">
                <a:solidFill>
                  <a:srgbClr val="1E3A6E"/>
                </a:solidFill>
                <a:latin typeface="Calibri"/>
              </a:rPr>
              <a:t>It is not SQL, and it is not parsed as SQL. </a:t>
            </a:r>
            <a:r>
              <a:rPr sz="1100" b="0" i="0">
                <a:solidFill>
                  <a:srgbClr val="444F60"/>
                </a:solidFill>
                <a:latin typeface="Calibri"/>
              </a:rPr>
              <a:t>`CREATE CUBE` goes through a hand-written parser, because the engine would reject the statement before any hook could see it --- `crates/sankhya-cube-sql/src/ddl.rs`.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WORKED · THE BASE GRAIN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Twelve rows, and the four cells they make</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12 · A worked example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36</a:t>
            </a:r>
          </a:p>
        </p:txBody>
      </p:sp>
      <p:sp>
        <p:nvSpPr>
          <p:cNvPr id="10" name="Rectangle 9"/>
          <p:cNvSpPr/>
          <p:nvPr/>
        </p:nvSpPr>
        <p:spPr>
          <a:xfrm>
            <a:off x="777240" y="1353312"/>
            <a:ext cx="4680374" cy="3268705"/>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3268705"/>
          </a:xfrm>
          <a:prstGeom prst="rect">
            <a:avLst/>
          </a:prstGeom>
          <a:solidFill>
            <a:srgbClr val="444F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4314614" cy="219456"/>
          </a:xfrm>
          <a:prstGeom prst="rect">
            <a:avLst/>
          </a:prstGeom>
          <a:noFill/>
        </p:spPr>
        <p:txBody>
          <a:bodyPr wrap="square" lIns="0" rIns="0" tIns="0" bIns="0" anchor="t">
            <a:spAutoFit/>
          </a:bodyPr>
          <a:lstStyle/>
          <a:p>
            <a:pPr algn="l">
              <a:spcBef>
                <a:spcPts val="0"/>
              </a:spcBef>
              <a:spcAft>
                <a:spcPts val="0"/>
              </a:spcAft>
            </a:pPr>
            <a:r>
              <a:rPr sz="900" b="1" i="0">
                <a:solidFill>
                  <a:srgbClr val="1E3A6E"/>
                </a:solidFill>
                <a:latin typeface="Calibri"/>
              </a:rPr>
              <a:t>the fixture generator: region = id % 3, period = id % 2, amount = id x 1.5</a:t>
            </a:r>
          </a:p>
        </p:txBody>
      </p:sp>
      <p:sp>
        <p:nvSpPr>
          <p:cNvPr id="13" name="TextBox 12"/>
          <p:cNvSpPr txBox="1"/>
          <p:nvPr/>
        </p:nvSpPr>
        <p:spPr>
          <a:xfrm>
            <a:off x="978408" y="1746504"/>
            <a:ext cx="4314614" cy="2793217"/>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0E1726"/>
                </a:solidFill>
                <a:latin typeface="Consolas"/>
              </a:rPr>
              <a:t> id | region | period | amount</a:t>
            </a:r>
          </a:p>
          <a:p>
            <a:pPr>
              <a:lnSpc>
                <a:spcPct val="134000"/>
              </a:lnSpc>
              <a:spcBef>
                <a:spcPts val="0"/>
              </a:spcBef>
              <a:spcAft>
                <a:spcPts val="0"/>
              </a:spcAft>
            </a:pPr>
            <a:r>
              <a:rPr sz="900" b="0" i="0">
                <a:solidFill>
                  <a:srgbClr val="0E1726"/>
                </a:solidFill>
                <a:latin typeface="Consolas"/>
              </a:rPr>
              <a:t>----+--------+--------+-------</a:t>
            </a:r>
          </a:p>
          <a:p>
            <a:pPr>
              <a:lnSpc>
                <a:spcPct val="134000"/>
              </a:lnSpc>
              <a:spcBef>
                <a:spcPts val="0"/>
              </a:spcBef>
              <a:spcAft>
                <a:spcPts val="0"/>
              </a:spcAft>
            </a:pPr>
            <a:r>
              <a:rPr sz="900" b="0" i="0">
                <a:solidFill>
                  <a:srgbClr val="0E1726"/>
                </a:solidFill>
                <a:latin typeface="Consolas"/>
              </a:rPr>
              <a:t>  0 | north  | q1     |    0.0</a:t>
            </a:r>
          </a:p>
          <a:p>
            <a:pPr>
              <a:lnSpc>
                <a:spcPct val="134000"/>
              </a:lnSpc>
              <a:spcBef>
                <a:spcPts val="0"/>
              </a:spcBef>
              <a:spcAft>
                <a:spcPts val="0"/>
              </a:spcAft>
            </a:pPr>
            <a:r>
              <a:rPr sz="900" b="0" i="0">
                <a:solidFill>
                  <a:srgbClr val="0E1726"/>
                </a:solidFill>
                <a:latin typeface="Consolas"/>
              </a:rPr>
              <a:t>  1 | south  | q2     |    1.5</a:t>
            </a:r>
          </a:p>
          <a:p>
            <a:pPr>
              <a:lnSpc>
                <a:spcPct val="134000"/>
              </a:lnSpc>
              <a:spcBef>
                <a:spcPts val="0"/>
              </a:spcBef>
              <a:spcAft>
                <a:spcPts val="0"/>
              </a:spcAft>
            </a:pPr>
            <a:r>
              <a:rPr sz="900" b="0" i="0">
                <a:solidFill>
                  <a:srgbClr val="0E1726"/>
                </a:solidFill>
                <a:latin typeface="Consolas"/>
              </a:rPr>
              <a:t>  2 | (null) | q1     |    3.0</a:t>
            </a:r>
          </a:p>
          <a:p>
            <a:pPr>
              <a:lnSpc>
                <a:spcPct val="134000"/>
              </a:lnSpc>
              <a:spcBef>
                <a:spcPts val="0"/>
              </a:spcBef>
              <a:spcAft>
                <a:spcPts val="0"/>
              </a:spcAft>
            </a:pPr>
            <a:r>
              <a:rPr sz="900" b="0" i="0">
                <a:solidFill>
                  <a:srgbClr val="0E1726"/>
                </a:solidFill>
                <a:latin typeface="Consolas"/>
              </a:rPr>
              <a:t>  3 | north  | q2     |    4.5</a:t>
            </a:r>
          </a:p>
          <a:p>
            <a:pPr>
              <a:lnSpc>
                <a:spcPct val="134000"/>
              </a:lnSpc>
              <a:spcBef>
                <a:spcPts val="0"/>
              </a:spcBef>
              <a:spcAft>
                <a:spcPts val="0"/>
              </a:spcAft>
            </a:pPr>
            <a:r>
              <a:rPr sz="900" b="0" i="0">
                <a:solidFill>
                  <a:srgbClr val="0E1726"/>
                </a:solidFill>
                <a:latin typeface="Consolas"/>
              </a:rPr>
              <a:t>  4 | south  | q1     |    6.0</a:t>
            </a:r>
          </a:p>
          <a:p>
            <a:pPr>
              <a:lnSpc>
                <a:spcPct val="134000"/>
              </a:lnSpc>
              <a:spcBef>
                <a:spcPts val="0"/>
              </a:spcBef>
              <a:spcAft>
                <a:spcPts val="0"/>
              </a:spcAft>
            </a:pPr>
            <a:r>
              <a:rPr sz="900" b="0" i="0">
                <a:solidFill>
                  <a:srgbClr val="0E1726"/>
                </a:solidFill>
                <a:latin typeface="Consolas"/>
              </a:rPr>
              <a:t>  5 | (null) | q2     |    7.5</a:t>
            </a:r>
          </a:p>
          <a:p>
            <a:pPr>
              <a:lnSpc>
                <a:spcPct val="134000"/>
              </a:lnSpc>
              <a:spcBef>
                <a:spcPts val="0"/>
              </a:spcBef>
              <a:spcAft>
                <a:spcPts val="0"/>
              </a:spcAft>
            </a:pPr>
            <a:r>
              <a:rPr sz="900" b="0" i="0">
                <a:solidFill>
                  <a:srgbClr val="0E1726"/>
                </a:solidFill>
                <a:latin typeface="Consolas"/>
              </a:rPr>
              <a:t>  6 | north  | q1     |    9.0</a:t>
            </a:r>
          </a:p>
          <a:p>
            <a:pPr>
              <a:lnSpc>
                <a:spcPct val="134000"/>
              </a:lnSpc>
              <a:spcBef>
                <a:spcPts val="0"/>
              </a:spcBef>
              <a:spcAft>
                <a:spcPts val="0"/>
              </a:spcAft>
            </a:pPr>
            <a:r>
              <a:rPr sz="900" b="0" i="0">
                <a:solidFill>
                  <a:srgbClr val="0E1726"/>
                </a:solidFill>
                <a:latin typeface="Consolas"/>
              </a:rPr>
              <a:t>  7 | south  | q2     |   10.5</a:t>
            </a:r>
          </a:p>
          <a:p>
            <a:pPr>
              <a:lnSpc>
                <a:spcPct val="134000"/>
              </a:lnSpc>
              <a:spcBef>
                <a:spcPts val="0"/>
              </a:spcBef>
              <a:spcAft>
                <a:spcPts val="0"/>
              </a:spcAft>
            </a:pPr>
            <a:r>
              <a:rPr sz="900" b="0" i="0">
                <a:solidFill>
                  <a:srgbClr val="0E1726"/>
                </a:solidFill>
                <a:latin typeface="Consolas"/>
              </a:rPr>
              <a:t>  8 | (null) | q1     |   12.0</a:t>
            </a:r>
          </a:p>
          <a:p>
            <a:pPr>
              <a:lnSpc>
                <a:spcPct val="134000"/>
              </a:lnSpc>
              <a:spcBef>
                <a:spcPts val="0"/>
              </a:spcBef>
              <a:spcAft>
                <a:spcPts val="0"/>
              </a:spcAft>
            </a:pPr>
            <a:r>
              <a:rPr sz="900" b="0" i="0">
                <a:solidFill>
                  <a:srgbClr val="0E1726"/>
                </a:solidFill>
                <a:latin typeface="Consolas"/>
              </a:rPr>
              <a:t>  9 | north  | q2     |   13.5</a:t>
            </a:r>
          </a:p>
          <a:p>
            <a:pPr>
              <a:lnSpc>
                <a:spcPct val="134000"/>
              </a:lnSpc>
              <a:spcBef>
                <a:spcPts val="0"/>
              </a:spcBef>
              <a:spcAft>
                <a:spcPts val="0"/>
              </a:spcAft>
            </a:pPr>
            <a:r>
              <a:rPr sz="900" b="0" i="0">
                <a:solidFill>
                  <a:srgbClr val="0E1726"/>
                </a:solidFill>
                <a:latin typeface="Consolas"/>
              </a:rPr>
              <a:t> 10 | south  | q1     |   15.0</a:t>
            </a:r>
          </a:p>
          <a:p>
            <a:pPr>
              <a:lnSpc>
                <a:spcPct val="134000"/>
              </a:lnSpc>
              <a:spcBef>
                <a:spcPts val="0"/>
              </a:spcBef>
              <a:spcAft>
                <a:spcPts val="0"/>
              </a:spcAft>
            </a:pPr>
            <a:r>
              <a:rPr sz="900" b="0" i="0">
                <a:solidFill>
                  <a:srgbClr val="0E1726"/>
                </a:solidFill>
                <a:latin typeface="Consolas"/>
              </a:rPr>
              <a:t> 11 | (null) | q2     |   16.5</a:t>
            </a:r>
          </a:p>
        </p:txBody>
      </p:sp>
      <p:sp>
        <p:nvSpPr>
          <p:cNvPr id="14" name="TextBox 13"/>
          <p:cNvSpPr txBox="1"/>
          <p:nvPr/>
        </p:nvSpPr>
        <p:spPr>
          <a:xfrm>
            <a:off x="5883103" y="1353312"/>
            <a:ext cx="5531351" cy="365760"/>
          </a:xfrm>
          <a:prstGeom prst="rect">
            <a:avLst/>
          </a:prstGeom>
          <a:noFill/>
        </p:spPr>
        <p:txBody>
          <a:bodyPr wrap="square" lIns="0" rIns="0" tIns="0" bIns="0" anchor="t">
            <a:spAutoFit/>
          </a:bodyPr>
          <a:lstStyle/>
          <a:p>
            <a:pPr algn="l">
              <a:spcBef>
                <a:spcPts val="0"/>
              </a:spcBef>
              <a:spcAft>
                <a:spcPts val="600"/>
              </a:spcAft>
            </a:pPr>
            <a:r>
              <a:rPr sz="1150" b="1" i="0">
                <a:solidFill>
                  <a:srgbClr val="1E3A6E"/>
                </a:solidFill>
                <a:latin typeface="Calibri"/>
              </a:rPr>
              <a:t>The base grain --- 4 cells, 8 rows placed, 4 unplaced</a:t>
            </a:r>
          </a:p>
        </p:txBody>
      </p:sp>
      <p:graphicFrame>
        <p:nvGraphicFramePr>
          <p:cNvPr id="15" name="Table 14"/>
          <p:cNvGraphicFramePr>
            <a:graphicFrameLocks noGrp="1"/>
          </p:cNvGraphicFramePr>
          <p:nvPr/>
        </p:nvGraphicFramePr>
        <p:xfrm>
          <a:off x="5883103" y="1700784"/>
          <a:ext cx="5531350" cy="1279398"/>
        </p:xfrm>
        <a:graphic>
          <a:graphicData uri="http://schemas.openxmlformats.org/drawingml/2006/table">
            <a:tbl>
              <a:tblPr firstRow="1">
                <a:tableStyleId>{5C22544A-7EE6-4342-B048-85BDC9FD1C3A}</a:tableStyleId>
              </a:tblPr>
              <a:tblGrid>
                <a:gridCol w="1247265"/>
                <a:gridCol w="1464181"/>
                <a:gridCol w="1681097"/>
                <a:gridCol w="1138807"/>
              </a:tblGrid>
              <a:tr h="329184">
                <a:tc>
                  <a:txBody>
                    <a:bodyPr wrap="square"/>
                    <a:lstStyle/>
                    <a:p>
                      <a:pPr algn="l"/>
                      <a:r>
                        <a:rPr sz="1000" b="1">
                          <a:solidFill>
                            <a:srgbClr val="FFFFFF"/>
                          </a:solidFill>
                          <a:latin typeface="Calibri"/>
                        </a:rPr>
                        <a:t/>
                      </a:r>
                    </a:p>
                  </a:txBody>
                  <a:tcPr marL="82296" marR="64008" marT="32004" marB="32004" anchor="ctr">
                    <a:solidFill>
                      <a:srgbClr val="1E3A6E"/>
                    </a:solidFill>
                  </a:tcPr>
                </a:tc>
                <a:tc>
                  <a:txBody>
                    <a:bodyPr wrap="square"/>
                    <a:lstStyle/>
                    <a:p>
                      <a:pPr algn="l"/>
                      <a:r>
                        <a:rPr sz="1000" b="1">
                          <a:solidFill>
                            <a:srgbClr val="FFFFFF"/>
                          </a:solidFill>
                          <a:latin typeface="Calibri"/>
                        </a:rPr>
                        <a:t>q1</a:t>
                      </a:r>
                    </a:p>
                  </a:txBody>
                  <a:tcPr marL="82296" marR="64008" marT="32004" marB="32004" anchor="ctr">
                    <a:solidFill>
                      <a:srgbClr val="1E3A6E"/>
                    </a:solidFill>
                  </a:tcPr>
                </a:tc>
                <a:tc>
                  <a:txBody>
                    <a:bodyPr wrap="square"/>
                    <a:lstStyle/>
                    <a:p>
                      <a:pPr algn="l"/>
                      <a:r>
                        <a:rPr sz="1000" b="1">
                          <a:solidFill>
                            <a:srgbClr val="FFFFFF"/>
                          </a:solidFill>
                          <a:latin typeface="Calibri"/>
                        </a:rPr>
                        <a:t>q2</a:t>
                      </a:r>
                    </a:p>
                  </a:txBody>
                  <a:tcPr marL="82296" marR="64008" marT="32004" marB="32004" anchor="ctr">
                    <a:solidFill>
                      <a:srgbClr val="1E3A6E"/>
                    </a:solidFill>
                  </a:tcPr>
                </a:tc>
                <a:tc>
                  <a:txBody>
                    <a:bodyPr wrap="square"/>
                    <a:lstStyle/>
                    <a:p>
                      <a:pPr algn="l"/>
                      <a:r>
                        <a:rPr sz="1000" b="1">
                          <a:solidFill>
                            <a:srgbClr val="FFFFFF"/>
                          </a:solidFill>
                          <a:latin typeface="Calibri"/>
                        </a:rPr>
                        <a:t>row total</a:t>
                      </a:r>
                    </a:p>
                  </a:txBody>
                  <a:tcPr marL="82296" marR="64008" marT="32004" marB="32004" anchor="ctr">
                    <a:solidFill>
                      <a:srgbClr val="1E3A6E"/>
                    </a:solidFill>
                  </a:tcPr>
                </a:tc>
              </a:tr>
              <a:tr h="316738">
                <a:tc>
                  <a:txBody>
                    <a:bodyPr wrap="square"/>
                    <a:lstStyle/>
                    <a:p>
                      <a:pPr algn="l"/>
                      <a:r>
                        <a:rPr sz="1000" b="0">
                          <a:solidFill>
                            <a:srgbClr val="0E1726"/>
                          </a:solidFill>
                          <a:latin typeface="Calibri"/>
                        </a:rPr>
                        <a:t>**north**</a:t>
                      </a:r>
                    </a:p>
                  </a:txBody>
                  <a:tcPr marL="82296" marR="64008" marT="32004" marB="32004" anchor="ctr">
                    <a:solidFill>
                      <a:srgbClr val="FFFFFF"/>
                    </a:solidFill>
                  </a:tcPr>
                </a:tc>
                <a:tc>
                  <a:txBody>
                    <a:bodyPr wrap="square"/>
                    <a:lstStyle/>
                    <a:p>
                      <a:pPr algn="l"/>
                      <a:r>
                        <a:rPr sz="1000" b="0">
                          <a:solidFill>
                            <a:srgbClr val="0E1726"/>
                          </a:solidFill>
                          <a:latin typeface="Calibri"/>
                        </a:rPr>
                        <a:t>0 + 9 = **9.0**</a:t>
                      </a:r>
                    </a:p>
                  </a:txBody>
                  <a:tcPr marL="82296" marR="64008" marT="32004" marB="32004" anchor="ctr">
                    <a:solidFill>
                      <a:srgbClr val="FFFFFF"/>
                    </a:solidFill>
                  </a:tcPr>
                </a:tc>
                <a:tc>
                  <a:txBody>
                    <a:bodyPr wrap="square"/>
                    <a:lstStyle/>
                    <a:p>
                      <a:pPr algn="l"/>
                      <a:r>
                        <a:rPr sz="1000" b="0">
                          <a:solidFill>
                            <a:srgbClr val="0E1726"/>
                          </a:solidFill>
                          <a:latin typeface="Calibri"/>
                        </a:rPr>
                        <a:t>4.5 + 13.5 = **18.0**</a:t>
                      </a:r>
                    </a:p>
                  </a:txBody>
                  <a:tcPr marL="82296" marR="64008" marT="32004" marB="32004" anchor="ctr">
                    <a:solidFill>
                      <a:srgbClr val="FFFFFF"/>
                    </a:solidFill>
                  </a:tcPr>
                </a:tc>
                <a:tc>
                  <a:txBody>
                    <a:bodyPr wrap="square"/>
                    <a:lstStyle/>
                    <a:p>
                      <a:pPr algn="l"/>
                      <a:r>
                        <a:rPr sz="1000" b="0">
                          <a:solidFill>
                            <a:srgbClr val="0E1726"/>
                          </a:solidFill>
                          <a:latin typeface="Calibri"/>
                        </a:rPr>
                        <a:t>27.0</a:t>
                      </a:r>
                    </a:p>
                  </a:txBody>
                  <a:tcPr marL="82296" marR="64008" marT="32004" marB="32004" anchor="ctr">
                    <a:solidFill>
                      <a:srgbClr val="FFFFFF"/>
                    </a:solidFill>
                  </a:tcPr>
                </a:tc>
              </a:tr>
              <a:tr h="316738">
                <a:tc>
                  <a:txBody>
                    <a:bodyPr wrap="square"/>
                    <a:lstStyle/>
                    <a:p>
                      <a:pPr algn="l"/>
                      <a:r>
                        <a:rPr sz="1000" b="0">
                          <a:solidFill>
                            <a:srgbClr val="0E1726"/>
                          </a:solidFill>
                          <a:latin typeface="Calibri"/>
                        </a:rPr>
                        <a:t>**south**</a:t>
                      </a:r>
                    </a:p>
                  </a:txBody>
                  <a:tcPr marL="82296" marR="64008" marT="32004" marB="32004" anchor="ctr">
                    <a:solidFill>
                      <a:srgbClr val="FBFAF7"/>
                    </a:solidFill>
                  </a:tcPr>
                </a:tc>
                <a:tc>
                  <a:txBody>
                    <a:bodyPr wrap="square"/>
                    <a:lstStyle/>
                    <a:p>
                      <a:pPr algn="l"/>
                      <a:r>
                        <a:rPr sz="1000" b="0">
                          <a:solidFill>
                            <a:srgbClr val="0E1726"/>
                          </a:solidFill>
                          <a:latin typeface="Calibri"/>
                        </a:rPr>
                        <a:t>6 + 15 = **21.0**</a:t>
                      </a:r>
                    </a:p>
                  </a:txBody>
                  <a:tcPr marL="82296" marR="64008" marT="32004" marB="32004" anchor="ctr">
                    <a:solidFill>
                      <a:srgbClr val="FBFAF7"/>
                    </a:solidFill>
                  </a:tcPr>
                </a:tc>
                <a:tc>
                  <a:txBody>
                    <a:bodyPr wrap="square"/>
                    <a:lstStyle/>
                    <a:p>
                      <a:pPr algn="l"/>
                      <a:r>
                        <a:rPr sz="1000" b="0">
                          <a:solidFill>
                            <a:srgbClr val="0E1726"/>
                          </a:solidFill>
                          <a:latin typeface="Calibri"/>
                        </a:rPr>
                        <a:t>1.5 + 10.5 = **12.0**</a:t>
                      </a:r>
                    </a:p>
                  </a:txBody>
                  <a:tcPr marL="82296" marR="64008" marT="32004" marB="32004" anchor="ctr">
                    <a:solidFill>
                      <a:srgbClr val="FBFAF7"/>
                    </a:solidFill>
                  </a:tcPr>
                </a:tc>
                <a:tc>
                  <a:txBody>
                    <a:bodyPr wrap="square"/>
                    <a:lstStyle/>
                    <a:p>
                      <a:pPr algn="l"/>
                      <a:r>
                        <a:rPr sz="1000" b="0">
                          <a:solidFill>
                            <a:srgbClr val="0E1726"/>
                          </a:solidFill>
                          <a:latin typeface="Calibri"/>
                        </a:rPr>
                        <a:t>33.0</a:t>
                      </a:r>
                    </a:p>
                  </a:txBody>
                  <a:tcPr marL="82296" marR="64008" marT="32004" marB="32004" anchor="ctr">
                    <a:solidFill>
                      <a:srgbClr val="FBFAF7"/>
                    </a:solidFill>
                  </a:tcPr>
                </a:tc>
              </a:tr>
              <a:tr h="316738">
                <a:tc>
                  <a:txBody>
                    <a:bodyPr wrap="square"/>
                    <a:lstStyle/>
                    <a:p>
                      <a:pPr algn="l"/>
                      <a:r>
                        <a:rPr sz="1000" b="0">
                          <a:solidFill>
                            <a:srgbClr val="0E1726"/>
                          </a:solidFill>
                          <a:latin typeface="Calibri"/>
                        </a:rPr>
                        <a:t>column total</a:t>
                      </a:r>
                    </a:p>
                  </a:txBody>
                  <a:tcPr marL="82296" marR="64008" marT="32004" marB="32004" anchor="ctr">
                    <a:solidFill>
                      <a:srgbClr val="FFFFFF"/>
                    </a:solidFill>
                  </a:tcPr>
                </a:tc>
                <a:tc>
                  <a:txBody>
                    <a:bodyPr wrap="square"/>
                    <a:lstStyle/>
                    <a:p>
                      <a:pPr algn="l"/>
                      <a:r>
                        <a:rPr sz="1000" b="0">
                          <a:solidFill>
                            <a:srgbClr val="0E1726"/>
                          </a:solidFill>
                          <a:latin typeface="Calibri"/>
                        </a:rPr>
                        <a:t>30.0</a:t>
                      </a:r>
                    </a:p>
                  </a:txBody>
                  <a:tcPr marL="82296" marR="64008" marT="32004" marB="32004" anchor="ctr">
                    <a:solidFill>
                      <a:srgbClr val="FFFFFF"/>
                    </a:solidFill>
                  </a:tcPr>
                </a:tc>
                <a:tc>
                  <a:txBody>
                    <a:bodyPr wrap="square"/>
                    <a:lstStyle/>
                    <a:p>
                      <a:pPr algn="l"/>
                      <a:r>
                        <a:rPr sz="1000" b="0">
                          <a:solidFill>
                            <a:srgbClr val="0E1726"/>
                          </a:solidFill>
                          <a:latin typeface="Calibri"/>
                        </a:rPr>
                        <a:t>30.0</a:t>
                      </a:r>
                    </a:p>
                  </a:txBody>
                  <a:tcPr marL="82296" marR="64008" marT="32004" marB="32004" anchor="ctr">
                    <a:solidFill>
                      <a:srgbClr val="FFFFFF"/>
                    </a:solidFill>
                  </a:tcPr>
                </a:tc>
                <a:tc>
                  <a:txBody>
                    <a:bodyPr wrap="square"/>
                    <a:lstStyle/>
                    <a:p>
                      <a:pPr algn="l"/>
                      <a:r>
                        <a:rPr sz="1000" b="0">
                          <a:solidFill>
                            <a:srgbClr val="0E1726"/>
                          </a:solidFill>
                          <a:latin typeface="Calibri"/>
                        </a:rPr>
                        <a:t>**60.0**</a:t>
                      </a:r>
                    </a:p>
                  </a:txBody>
                  <a:tcPr marL="82296" marR="64008" marT="32004" marB="32004" anchor="ctr">
                    <a:solidFill>
                      <a:srgbClr val="FFFFFF"/>
                    </a:solidFill>
                  </a:tcPr>
                </a:tc>
              </a:tr>
            </a:tbl>
          </a:graphicData>
        </a:graphic>
      </p:graphicFrame>
      <p:sp>
        <p:nvSpPr>
          <p:cNvPr id="16" name="TextBox 15"/>
          <p:cNvSpPr txBox="1"/>
          <p:nvPr/>
        </p:nvSpPr>
        <p:spPr>
          <a:xfrm>
            <a:off x="5883103" y="3181350"/>
            <a:ext cx="5531351" cy="1737360"/>
          </a:xfrm>
          <a:prstGeom prst="rect">
            <a:avLst/>
          </a:prstGeom>
          <a:noFill/>
        </p:spPr>
        <p:txBody>
          <a:bodyPr wrap="square" lIns="0" rIns="0" tIns="0" bIns="0" anchor="t">
            <a:spAutoFit/>
          </a:bodyPr>
          <a:lstStyle/>
          <a:p>
            <a:pPr algn="l">
              <a:lnSpc>
                <a:spcPct val="128000"/>
              </a:lnSpc>
              <a:spcBef>
                <a:spcPts val="0"/>
              </a:spcBef>
              <a:spcAft>
                <a:spcPts val="800"/>
              </a:spcAft>
            </a:pPr>
            <a:r>
              <a:rPr sz="1100" b="1" i="0">
                <a:solidFill>
                  <a:srgbClr val="1E3A6E"/>
                </a:solidFill>
                <a:latin typeface="Calibri"/>
              </a:rPr>
              <a:t>A null key is not a member named “”. </a:t>
            </a:r>
            <a:r>
              <a:rPr sz="1100" b="0" i="0">
                <a:solidFill>
                  <a:srgbClr val="444F60"/>
                </a:solidFill>
                <a:latin typeface="Calibri"/>
              </a:rPr>
              <a:t>Four rows have no region. They are **counted and never dropped** --- they are not in any cell, and the completeness column on every answer says so. That is why 27 + 33 = 60 and the twelve rows total 99.0.</a:t>
            </a:r>
          </a:p>
          <a:p>
            <a:pPr>
              <a:spcBef>
                <a:spcPts val="0"/>
              </a:spcBef>
              <a:spcAft>
                <a:spcPts val="0"/>
              </a:spcAft>
            </a:pPr>
            <a:r>
              <a:rPr sz="1100" b="1" i="0">
                <a:solidFill>
                  <a:srgbClr val="1E3A6E"/>
                </a:solidFill>
                <a:latin typeface="Calibri"/>
              </a:rPr>
              <a:t>Every number on the next three slides can be checked by hand against this table.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WORKED · ROLL UP</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Roll up rolls a dimension AWAY</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12 · A worked example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37</a:t>
            </a:r>
          </a:p>
        </p:txBody>
      </p:sp>
      <p:sp>
        <p:nvSpPr>
          <p:cNvPr id="10" name="TextBox 9"/>
          <p:cNvSpPr txBox="1"/>
          <p:nvPr/>
        </p:nvSpPr>
        <p:spPr>
          <a:xfrm>
            <a:off x="777240" y="1353312"/>
            <a:ext cx="10637215" cy="502920"/>
          </a:xfrm>
          <a:prstGeom prst="rect">
            <a:avLst/>
          </a:prstGeom>
          <a:noFill/>
        </p:spPr>
        <p:txBody>
          <a:bodyPr wrap="square" lIns="0" rIns="0" tIns="0" bIns="0" anchor="t">
            <a:spAutoFit/>
          </a:bodyPr>
          <a:lstStyle/>
          <a:p>
            <a:pPr algn="l">
              <a:lnSpc>
                <a:spcPct val="125000"/>
              </a:lnSpc>
              <a:spcBef>
                <a:spcPts val="0"/>
              </a:spcBef>
              <a:spcAft>
                <a:spcPts val="0"/>
              </a:spcAft>
            </a:pPr>
            <a:r>
              <a:rPr sz="1150" b="1" i="0">
                <a:solidFill>
                  <a:srgbClr val="1E3A6E"/>
                </a:solidFill>
                <a:latin typeface="Calibri"/>
              </a:rPr>
              <a:t>`by=` names the dimensions to KEEP. </a:t>
            </a:r>
            <a:r>
              <a:rPr sz="1150" b="0" i="0">
                <a:solidFill>
                  <a:srgbClr val="444F60"/>
                </a:solidFill>
                <a:latin typeface="Calibri"/>
              </a:rPr>
              <a:t>Every dimension not named is aggregated out, one at a time, under the rule the measure declares **for the dimension being removed** --- not for the one you kept.</a:t>
            </a:r>
          </a:p>
        </p:txBody>
      </p:sp>
      <p:sp>
        <p:nvSpPr>
          <p:cNvPr id="11" name="Rectangle 10"/>
          <p:cNvSpPr/>
          <p:nvPr/>
        </p:nvSpPr>
        <p:spPr>
          <a:xfrm>
            <a:off x="777240" y="1920240"/>
            <a:ext cx="4999491" cy="1992866"/>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1920240"/>
            <a:ext cx="41148" cy="1992866"/>
          </a:xfrm>
          <a:prstGeom prst="rect">
            <a:avLst/>
          </a:prstGeom>
          <a:solidFill>
            <a:srgbClr val="444F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78408" y="2011680"/>
            <a:ext cx="4633731" cy="219456"/>
          </a:xfrm>
          <a:prstGeom prst="rect">
            <a:avLst/>
          </a:prstGeom>
          <a:noFill/>
        </p:spPr>
        <p:txBody>
          <a:bodyPr wrap="square" lIns="0" rIns="0" tIns="0" bIns="0" anchor="t">
            <a:spAutoFit/>
          </a:bodyPr>
          <a:lstStyle/>
          <a:p>
            <a:pPr algn="l">
              <a:spcBef>
                <a:spcPts val="0"/>
              </a:spcBef>
              <a:spcAft>
                <a:spcPts val="0"/>
              </a:spcAft>
            </a:pPr>
            <a:r>
              <a:rPr sz="900" b="1" i="0">
                <a:solidFill>
                  <a:srgbClr val="1E3A6E"/>
                </a:solidFill>
                <a:latin typeface="Calibri"/>
              </a:rPr>
              <a:t>2 axes -&gt; 1 axis   ·   4 cells -&gt; 2 cells</a:t>
            </a:r>
          </a:p>
        </p:txBody>
      </p:sp>
      <p:sp>
        <p:nvSpPr>
          <p:cNvPr id="14" name="TextBox 13"/>
          <p:cNvSpPr txBox="1"/>
          <p:nvPr/>
        </p:nvSpPr>
        <p:spPr>
          <a:xfrm>
            <a:off x="978408" y="2313432"/>
            <a:ext cx="4633731" cy="1517378"/>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0E1726"/>
                </a:solidFill>
                <a:latin typeface="Consolas"/>
              </a:rPr>
              <a:t>SELECT region, amount</a:t>
            </a:r>
          </a:p>
          <a:p>
            <a:pPr>
              <a:lnSpc>
                <a:spcPct val="134000"/>
              </a:lnSpc>
              <a:spcBef>
                <a:spcPts val="0"/>
              </a:spcBef>
              <a:spcAft>
                <a:spcPts val="0"/>
              </a:spcAft>
            </a:pPr>
            <a:r>
              <a:rPr sz="950" b="0" i="0">
                <a:solidFill>
                  <a:srgbClr val="0E1726"/>
                </a:solidFill>
                <a:latin typeface="Consolas"/>
              </a:rPr>
              <a:t>FROM cube_rollup('sales_q', 'amount', 'by=region');</a:t>
            </a:r>
          </a:p>
          <a:p>
            <a:pPr>
              <a:lnSpc>
                <a:spcPct val="134000"/>
              </a:lnSpc>
              <a:spcBef>
                <a:spcPts val="0"/>
              </a:spcBef>
              <a:spcAft>
                <a:spcPts val="0"/>
              </a:spcAft>
            </a:pPr>
            <a:r>
              <a:rPr sz="950" b="0" i="0">
                <a:solidFill>
                  <a:srgbClr val="0E1726"/>
                </a:solidFill>
                <a:latin typeface="Consolas"/>
              </a:rPr>
              <a:t> </a:t>
            </a:r>
          </a:p>
          <a:p>
            <a:pPr>
              <a:lnSpc>
                <a:spcPct val="134000"/>
              </a:lnSpc>
              <a:spcBef>
                <a:spcPts val="0"/>
              </a:spcBef>
              <a:spcAft>
                <a:spcPts val="0"/>
              </a:spcAft>
            </a:pPr>
            <a:r>
              <a:rPr sz="950" b="0" i="0">
                <a:solidFill>
                  <a:srgbClr val="0E1726"/>
                </a:solidFill>
                <a:latin typeface="Consolas"/>
              </a:rPr>
              <a:t> region | amount</a:t>
            </a:r>
          </a:p>
          <a:p>
            <a:pPr>
              <a:lnSpc>
                <a:spcPct val="134000"/>
              </a:lnSpc>
              <a:spcBef>
                <a:spcPts val="0"/>
              </a:spcBef>
              <a:spcAft>
                <a:spcPts val="0"/>
              </a:spcAft>
            </a:pPr>
            <a:r>
              <a:rPr sz="950" b="0" i="0">
                <a:solidFill>
                  <a:srgbClr val="0E1726"/>
                </a:solidFill>
                <a:latin typeface="Consolas"/>
              </a:rPr>
              <a:t>--------+--------</a:t>
            </a:r>
          </a:p>
          <a:p>
            <a:pPr>
              <a:lnSpc>
                <a:spcPct val="134000"/>
              </a:lnSpc>
              <a:spcBef>
                <a:spcPts val="0"/>
              </a:spcBef>
              <a:spcAft>
                <a:spcPts val="0"/>
              </a:spcAft>
            </a:pPr>
            <a:r>
              <a:rPr sz="950" b="0" i="0">
                <a:solidFill>
                  <a:srgbClr val="0E1726"/>
                </a:solidFill>
                <a:latin typeface="Consolas"/>
              </a:rPr>
              <a:t> north  |   27.0</a:t>
            </a:r>
          </a:p>
          <a:p>
            <a:pPr>
              <a:lnSpc>
                <a:spcPct val="134000"/>
              </a:lnSpc>
              <a:spcBef>
                <a:spcPts val="0"/>
              </a:spcBef>
              <a:spcAft>
                <a:spcPts val="0"/>
              </a:spcAft>
            </a:pPr>
            <a:r>
              <a:rPr sz="950" b="0" i="0">
                <a:solidFill>
                  <a:srgbClr val="0E1726"/>
                </a:solidFill>
                <a:latin typeface="Consolas"/>
              </a:rPr>
              <a:t> south  |   33.0</a:t>
            </a:r>
          </a:p>
        </p:txBody>
      </p:sp>
      <p:sp>
        <p:nvSpPr>
          <p:cNvPr id="15" name="Rectangle 14"/>
          <p:cNvSpPr/>
          <p:nvPr/>
        </p:nvSpPr>
        <p:spPr>
          <a:xfrm>
            <a:off x="6202219" y="1920240"/>
            <a:ext cx="5212235" cy="1789160"/>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6202219" y="1920240"/>
            <a:ext cx="41148" cy="1789160"/>
          </a:xfrm>
          <a:prstGeom prst="rect">
            <a:avLst/>
          </a:prstGeom>
          <a:solidFill>
            <a:srgbClr val="444F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6403387" y="2011680"/>
            <a:ext cx="4846475" cy="219456"/>
          </a:xfrm>
          <a:prstGeom prst="rect">
            <a:avLst/>
          </a:prstGeom>
          <a:noFill/>
        </p:spPr>
        <p:txBody>
          <a:bodyPr wrap="square" lIns="0" rIns="0" tIns="0" bIns="0" anchor="t">
            <a:spAutoFit/>
          </a:bodyPr>
          <a:lstStyle/>
          <a:p>
            <a:pPr algn="l">
              <a:spcBef>
                <a:spcPts val="0"/>
              </a:spcBef>
              <a:spcAft>
                <a:spcPts val="0"/>
              </a:spcAft>
            </a:pPr>
            <a:r>
              <a:rPr sz="900" b="1" i="0">
                <a:solidFill>
                  <a:srgbClr val="1E3A6E"/>
                </a:solidFill>
                <a:latin typeface="Calibri"/>
              </a:rPr>
              <a:t>no by= : the grand total   ·   4 cells -&gt; 1 cell</a:t>
            </a:r>
          </a:p>
        </p:txBody>
      </p:sp>
      <p:sp>
        <p:nvSpPr>
          <p:cNvPr id="18" name="TextBox 17"/>
          <p:cNvSpPr txBox="1"/>
          <p:nvPr/>
        </p:nvSpPr>
        <p:spPr>
          <a:xfrm>
            <a:off x="6403387" y="2313432"/>
            <a:ext cx="4846475" cy="1313672"/>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0E1726"/>
                </a:solidFill>
                <a:latin typeface="Consolas"/>
              </a:rPr>
              <a:t>SELECT amount</a:t>
            </a:r>
          </a:p>
          <a:p>
            <a:pPr>
              <a:lnSpc>
                <a:spcPct val="134000"/>
              </a:lnSpc>
              <a:spcBef>
                <a:spcPts val="0"/>
              </a:spcBef>
              <a:spcAft>
                <a:spcPts val="0"/>
              </a:spcAft>
            </a:pPr>
            <a:r>
              <a:rPr sz="950" b="0" i="0">
                <a:solidFill>
                  <a:srgbClr val="0E1726"/>
                </a:solidFill>
                <a:latin typeface="Consolas"/>
              </a:rPr>
              <a:t>FROM cube_rollup('sales_q', 'amount');</a:t>
            </a:r>
          </a:p>
          <a:p>
            <a:pPr>
              <a:lnSpc>
                <a:spcPct val="134000"/>
              </a:lnSpc>
              <a:spcBef>
                <a:spcPts val="0"/>
              </a:spcBef>
              <a:spcAft>
                <a:spcPts val="0"/>
              </a:spcAft>
            </a:pPr>
            <a:r>
              <a:rPr sz="950" b="0" i="0">
                <a:solidFill>
                  <a:srgbClr val="0E1726"/>
                </a:solidFill>
                <a:latin typeface="Consolas"/>
              </a:rPr>
              <a:t> </a:t>
            </a:r>
          </a:p>
          <a:p>
            <a:pPr>
              <a:lnSpc>
                <a:spcPct val="134000"/>
              </a:lnSpc>
              <a:spcBef>
                <a:spcPts val="0"/>
              </a:spcBef>
              <a:spcAft>
                <a:spcPts val="0"/>
              </a:spcAft>
            </a:pPr>
            <a:r>
              <a:rPr sz="950" b="0" i="0">
                <a:solidFill>
                  <a:srgbClr val="0E1726"/>
                </a:solidFill>
                <a:latin typeface="Consolas"/>
              </a:rPr>
              <a:t> amount</a:t>
            </a:r>
          </a:p>
          <a:p>
            <a:pPr>
              <a:lnSpc>
                <a:spcPct val="134000"/>
              </a:lnSpc>
              <a:spcBef>
                <a:spcPts val="0"/>
              </a:spcBef>
              <a:spcAft>
                <a:spcPts val="0"/>
              </a:spcAft>
            </a:pPr>
            <a:r>
              <a:rPr sz="950" b="0" i="0">
                <a:solidFill>
                  <a:srgbClr val="0E1726"/>
                </a:solidFill>
                <a:latin typeface="Consolas"/>
              </a:rPr>
              <a:t>--------</a:t>
            </a:r>
          </a:p>
          <a:p>
            <a:pPr>
              <a:lnSpc>
                <a:spcPct val="134000"/>
              </a:lnSpc>
              <a:spcBef>
                <a:spcPts val="0"/>
              </a:spcBef>
              <a:spcAft>
                <a:spcPts val="0"/>
              </a:spcAft>
            </a:pPr>
            <a:r>
              <a:rPr sz="950" b="0" i="0">
                <a:solidFill>
                  <a:srgbClr val="0E1726"/>
                </a:solidFill>
                <a:latin typeface="Consolas"/>
              </a:rPr>
              <a:t>   60.0</a:t>
            </a:r>
          </a:p>
        </p:txBody>
      </p:sp>
      <p:sp>
        <p:nvSpPr>
          <p:cNvPr id="19" name="TextBox 18"/>
          <p:cNvSpPr txBox="1"/>
          <p:nvPr/>
        </p:nvSpPr>
        <p:spPr>
          <a:xfrm>
            <a:off x="777240" y="3401568"/>
            <a:ext cx="10637215" cy="1463040"/>
          </a:xfrm>
          <a:prstGeom prst="rect">
            <a:avLst/>
          </a:prstGeom>
          <a:noFill/>
        </p:spPr>
        <p:txBody>
          <a:bodyPr wrap="square" lIns="0" rIns="0" tIns="0" bIns="0" anchor="t">
            <a:spAutoFit/>
          </a:bodyPr>
          <a:lstStyle/>
          <a:p>
            <a:pPr algn="l">
              <a:lnSpc>
                <a:spcPct val="128000"/>
              </a:lnSpc>
              <a:spcBef>
                <a:spcPts val="0"/>
              </a:spcBef>
              <a:spcAft>
                <a:spcPts val="800"/>
              </a:spcAft>
            </a:pPr>
            <a:r>
              <a:rPr sz="1150" b="1" i="0">
                <a:solidFill>
                  <a:srgbClr val="1E3A6E"/>
                </a:solidFill>
                <a:latin typeface="Calibri"/>
              </a:rPr>
              <a:t>`period` is not filtered, not hidden, and not present. </a:t>
            </a:r>
            <a:r>
              <a:rPr sz="1150" b="0" i="0">
                <a:solidFill>
                  <a:srgbClr val="444F60"/>
                </a:solidFill>
                <a:latin typeface="Calibri"/>
              </a:rPr>
              <a:t>It is gone, and its facts are inside the numbers. That is the difference between a roll-up and a `WHERE` clause, and it is the difference a spreadsheet cannot express.</a:t>
            </a:r>
          </a:p>
          <a:p>
            <a:pPr>
              <a:lnSpc>
                <a:spcPct val="128000"/>
              </a:lnSpc>
              <a:spcBef>
                <a:spcPts val="0"/>
              </a:spcBef>
              <a:spcAft>
                <a:spcPts val="0"/>
              </a:spcAft>
            </a:pPr>
            <a:r>
              <a:rPr sz="1100" b="1" i="0">
                <a:solidFill>
                  <a:srgbClr val="1E3A6E"/>
                </a:solidFill>
                <a:latin typeface="Calibri"/>
              </a:rPr>
              <a:t>Check it: </a:t>
            </a:r>
            <a:r>
              <a:rPr sz="1100" b="0" i="0">
                <a:solidFill>
                  <a:srgbClr val="444F60"/>
                </a:solidFill>
                <a:latin typeface="Calibri"/>
              </a:rPr>
              <a:t>27 + 33 = 60 = 30 + 30. The four null-region rows (3.0 + 7.5 + 12.0 + 16.5 = 39.0) are **not** in it --- twelve rows total 99.0, and the answer says so on the completeness column.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WORKED · SLICE AND DICE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Slice REMOVES an axis; dice narrows one</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12 · A worked example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38</a:t>
            </a:r>
          </a:p>
        </p:txBody>
      </p:sp>
      <p:sp>
        <p:nvSpPr>
          <p:cNvPr id="10" name="Rectangle 9"/>
          <p:cNvSpPr/>
          <p:nvPr/>
        </p:nvSpPr>
        <p:spPr>
          <a:xfrm>
            <a:off x="777240" y="1353312"/>
            <a:ext cx="4999491" cy="1992866"/>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992866"/>
          </a:xfrm>
          <a:prstGeom prst="rect">
            <a:avLst/>
          </a:prstGeom>
          <a:solidFill>
            <a:srgbClr val="444F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4633731" cy="219456"/>
          </a:xfrm>
          <a:prstGeom prst="rect">
            <a:avLst/>
          </a:prstGeom>
          <a:noFill/>
        </p:spPr>
        <p:txBody>
          <a:bodyPr wrap="square" lIns="0" rIns="0" tIns="0" bIns="0" anchor="t">
            <a:spAutoFit/>
          </a:bodyPr>
          <a:lstStyle/>
          <a:p>
            <a:pPr algn="l">
              <a:spcBef>
                <a:spcPts val="0"/>
              </a:spcBef>
              <a:spcAft>
                <a:spcPts val="0"/>
              </a:spcAft>
            </a:pPr>
            <a:r>
              <a:rPr sz="900" b="1" i="0">
                <a:solidFill>
                  <a:srgbClr val="1E3A6E"/>
                </a:solidFill>
                <a:latin typeface="Calibri"/>
              </a:rPr>
              <a:t>SLICE  ·  4 cells -&gt; 2 cells on 1 axis</a:t>
            </a:r>
          </a:p>
        </p:txBody>
      </p:sp>
      <p:sp>
        <p:nvSpPr>
          <p:cNvPr id="13" name="TextBox 12"/>
          <p:cNvSpPr txBox="1"/>
          <p:nvPr/>
        </p:nvSpPr>
        <p:spPr>
          <a:xfrm>
            <a:off x="978408" y="1746504"/>
            <a:ext cx="4633731" cy="1517378"/>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0E1726"/>
                </a:solidFill>
                <a:latin typeface="Consolas"/>
              </a:rPr>
              <a:t>SELECT period, amount FROM cube_slice(</a:t>
            </a:r>
          </a:p>
          <a:p>
            <a:pPr>
              <a:lnSpc>
                <a:spcPct val="134000"/>
              </a:lnSpc>
              <a:spcBef>
                <a:spcPts val="0"/>
              </a:spcBef>
              <a:spcAft>
                <a:spcPts val="0"/>
              </a:spcAft>
            </a:pPr>
            <a:r>
              <a:rPr sz="950" b="0" i="0">
                <a:solidFill>
                  <a:srgbClr val="0E1726"/>
                </a:solidFill>
                <a:latin typeface="Consolas"/>
              </a:rPr>
              <a:t>  'sales_q', 'amount', 'where=region:north');</a:t>
            </a:r>
          </a:p>
          <a:p>
            <a:pPr>
              <a:lnSpc>
                <a:spcPct val="134000"/>
              </a:lnSpc>
              <a:spcBef>
                <a:spcPts val="0"/>
              </a:spcBef>
              <a:spcAft>
                <a:spcPts val="0"/>
              </a:spcAft>
            </a:pPr>
            <a:r>
              <a:rPr sz="950" b="0" i="0">
                <a:solidFill>
                  <a:srgbClr val="0E1726"/>
                </a:solidFill>
                <a:latin typeface="Consolas"/>
              </a:rPr>
              <a:t> </a:t>
            </a:r>
          </a:p>
          <a:p>
            <a:pPr>
              <a:lnSpc>
                <a:spcPct val="134000"/>
              </a:lnSpc>
              <a:spcBef>
                <a:spcPts val="0"/>
              </a:spcBef>
              <a:spcAft>
                <a:spcPts val="0"/>
              </a:spcAft>
            </a:pPr>
            <a:r>
              <a:rPr sz="950" b="0" i="0">
                <a:solidFill>
                  <a:srgbClr val="0E1726"/>
                </a:solidFill>
                <a:latin typeface="Consolas"/>
              </a:rPr>
              <a:t> period | amount</a:t>
            </a:r>
          </a:p>
          <a:p>
            <a:pPr>
              <a:lnSpc>
                <a:spcPct val="134000"/>
              </a:lnSpc>
              <a:spcBef>
                <a:spcPts val="0"/>
              </a:spcBef>
              <a:spcAft>
                <a:spcPts val="0"/>
              </a:spcAft>
            </a:pPr>
            <a:r>
              <a:rPr sz="950" b="0" i="0">
                <a:solidFill>
                  <a:srgbClr val="0E1726"/>
                </a:solidFill>
                <a:latin typeface="Consolas"/>
              </a:rPr>
              <a:t>--------+--------</a:t>
            </a:r>
          </a:p>
          <a:p>
            <a:pPr>
              <a:lnSpc>
                <a:spcPct val="134000"/>
              </a:lnSpc>
              <a:spcBef>
                <a:spcPts val="0"/>
              </a:spcBef>
              <a:spcAft>
                <a:spcPts val="0"/>
              </a:spcAft>
            </a:pPr>
            <a:r>
              <a:rPr sz="950" b="0" i="0">
                <a:solidFill>
                  <a:srgbClr val="0E1726"/>
                </a:solidFill>
                <a:latin typeface="Consolas"/>
              </a:rPr>
              <a:t> q1     |    9.0</a:t>
            </a:r>
          </a:p>
          <a:p>
            <a:pPr>
              <a:lnSpc>
                <a:spcPct val="134000"/>
              </a:lnSpc>
              <a:spcBef>
                <a:spcPts val="0"/>
              </a:spcBef>
              <a:spcAft>
                <a:spcPts val="0"/>
              </a:spcAft>
            </a:pPr>
            <a:r>
              <a:rPr sz="950" b="0" i="0">
                <a:solidFill>
                  <a:srgbClr val="0E1726"/>
                </a:solidFill>
                <a:latin typeface="Consolas"/>
              </a:rPr>
              <a:t> q2     |   18.0</a:t>
            </a:r>
          </a:p>
        </p:txBody>
      </p:sp>
      <p:sp>
        <p:nvSpPr>
          <p:cNvPr id="14" name="Rectangle 13"/>
          <p:cNvSpPr/>
          <p:nvPr/>
        </p:nvSpPr>
        <p:spPr>
          <a:xfrm>
            <a:off x="6202219" y="1353312"/>
            <a:ext cx="5212235" cy="2196571"/>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6202219" y="1353312"/>
            <a:ext cx="41148" cy="2196571"/>
          </a:xfrm>
          <a:prstGeom prst="rect">
            <a:avLst/>
          </a:prstGeom>
          <a:solidFill>
            <a:srgbClr val="444F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6403387" y="1444752"/>
            <a:ext cx="4846475" cy="219456"/>
          </a:xfrm>
          <a:prstGeom prst="rect">
            <a:avLst/>
          </a:prstGeom>
          <a:noFill/>
        </p:spPr>
        <p:txBody>
          <a:bodyPr wrap="square" lIns="0" rIns="0" tIns="0" bIns="0" anchor="t">
            <a:spAutoFit/>
          </a:bodyPr>
          <a:lstStyle/>
          <a:p>
            <a:pPr algn="l">
              <a:spcBef>
                <a:spcPts val="0"/>
              </a:spcBef>
              <a:spcAft>
                <a:spcPts val="0"/>
              </a:spcAft>
            </a:pPr>
            <a:r>
              <a:rPr sz="900" b="1" i="0">
                <a:solidFill>
                  <a:srgbClr val="1E3A6E"/>
                </a:solidFill>
                <a:latin typeface="Calibri"/>
              </a:rPr>
              <a:t>DICE  ·  4 cells -&gt; 2 cells on 2 axes</a:t>
            </a:r>
          </a:p>
        </p:txBody>
      </p:sp>
      <p:sp>
        <p:nvSpPr>
          <p:cNvPr id="17" name="TextBox 16"/>
          <p:cNvSpPr txBox="1"/>
          <p:nvPr/>
        </p:nvSpPr>
        <p:spPr>
          <a:xfrm>
            <a:off x="6403387" y="1746504"/>
            <a:ext cx="4846475" cy="1721083"/>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0E1726"/>
                </a:solidFill>
                <a:latin typeface="Consolas"/>
              </a:rPr>
              <a:t>SELECT region, period, amount FROM cube_rollup(</a:t>
            </a:r>
          </a:p>
          <a:p>
            <a:pPr>
              <a:lnSpc>
                <a:spcPct val="134000"/>
              </a:lnSpc>
              <a:spcBef>
                <a:spcPts val="0"/>
              </a:spcBef>
              <a:spcAft>
                <a:spcPts val="0"/>
              </a:spcAft>
            </a:pPr>
            <a:r>
              <a:rPr sz="950" b="0" i="0">
                <a:solidFill>
                  <a:srgbClr val="0E1726"/>
                </a:solidFill>
                <a:latin typeface="Consolas"/>
              </a:rPr>
              <a:t>  'sales_q', 'amount',</a:t>
            </a:r>
          </a:p>
          <a:p>
            <a:pPr>
              <a:lnSpc>
                <a:spcPct val="134000"/>
              </a:lnSpc>
              <a:spcBef>
                <a:spcPts val="0"/>
              </a:spcBef>
              <a:spcAft>
                <a:spcPts val="0"/>
              </a:spcAft>
            </a:pPr>
            <a:r>
              <a:rPr sz="950" b="0" i="0">
                <a:solidFill>
                  <a:srgbClr val="0E1726"/>
                </a:solidFill>
                <a:latin typeface="Consolas"/>
              </a:rPr>
              <a:t>  'by=region|period, where=region:north');</a:t>
            </a:r>
          </a:p>
          <a:p>
            <a:pPr>
              <a:lnSpc>
                <a:spcPct val="134000"/>
              </a:lnSpc>
              <a:spcBef>
                <a:spcPts val="0"/>
              </a:spcBef>
              <a:spcAft>
                <a:spcPts val="0"/>
              </a:spcAft>
            </a:pPr>
            <a:r>
              <a:rPr sz="950" b="0" i="0">
                <a:solidFill>
                  <a:srgbClr val="0E1726"/>
                </a:solidFill>
                <a:latin typeface="Consolas"/>
              </a:rPr>
              <a:t> </a:t>
            </a:r>
          </a:p>
          <a:p>
            <a:pPr>
              <a:lnSpc>
                <a:spcPct val="134000"/>
              </a:lnSpc>
              <a:spcBef>
                <a:spcPts val="0"/>
              </a:spcBef>
              <a:spcAft>
                <a:spcPts val="0"/>
              </a:spcAft>
            </a:pPr>
            <a:r>
              <a:rPr sz="950" b="0" i="0">
                <a:solidFill>
                  <a:srgbClr val="0E1726"/>
                </a:solidFill>
                <a:latin typeface="Consolas"/>
              </a:rPr>
              <a:t> region | period | amount</a:t>
            </a:r>
          </a:p>
          <a:p>
            <a:pPr>
              <a:lnSpc>
                <a:spcPct val="134000"/>
              </a:lnSpc>
              <a:spcBef>
                <a:spcPts val="0"/>
              </a:spcBef>
              <a:spcAft>
                <a:spcPts val="0"/>
              </a:spcAft>
            </a:pPr>
            <a:r>
              <a:rPr sz="950" b="0" i="0">
                <a:solidFill>
                  <a:srgbClr val="0E1726"/>
                </a:solidFill>
                <a:latin typeface="Consolas"/>
              </a:rPr>
              <a:t>--------+--------+--------</a:t>
            </a:r>
          </a:p>
          <a:p>
            <a:pPr>
              <a:lnSpc>
                <a:spcPct val="134000"/>
              </a:lnSpc>
              <a:spcBef>
                <a:spcPts val="0"/>
              </a:spcBef>
              <a:spcAft>
                <a:spcPts val="0"/>
              </a:spcAft>
            </a:pPr>
            <a:r>
              <a:rPr sz="950" b="0" i="0">
                <a:solidFill>
                  <a:srgbClr val="0E1726"/>
                </a:solidFill>
                <a:latin typeface="Consolas"/>
              </a:rPr>
              <a:t> north  | q1     |    9.0</a:t>
            </a:r>
          </a:p>
          <a:p>
            <a:pPr>
              <a:lnSpc>
                <a:spcPct val="134000"/>
              </a:lnSpc>
              <a:spcBef>
                <a:spcPts val="0"/>
              </a:spcBef>
              <a:spcAft>
                <a:spcPts val="0"/>
              </a:spcAft>
            </a:pPr>
            <a:r>
              <a:rPr sz="950" b="0" i="0">
                <a:solidFill>
                  <a:srgbClr val="0E1726"/>
                </a:solidFill>
                <a:latin typeface="Consolas"/>
              </a:rPr>
              <a:t> north  | q2     |   18.0</a:t>
            </a:r>
          </a:p>
        </p:txBody>
      </p:sp>
      <p:sp>
        <p:nvSpPr>
          <p:cNvPr id="18" name="TextBox 17"/>
          <p:cNvSpPr txBox="1"/>
          <p:nvPr/>
        </p:nvSpPr>
        <p:spPr>
          <a:xfrm>
            <a:off x="777240" y="3108960"/>
            <a:ext cx="6382329" cy="1371600"/>
          </a:xfrm>
          <a:prstGeom prst="rect">
            <a:avLst/>
          </a:prstGeom>
          <a:noFill/>
        </p:spPr>
        <p:txBody>
          <a:bodyPr wrap="square" lIns="0" rIns="0" tIns="0" bIns="0" anchor="t">
            <a:spAutoFit/>
          </a:bodyPr>
          <a:lstStyle/>
          <a:p>
            <a:pPr algn="l">
              <a:lnSpc>
                <a:spcPct val="126000"/>
              </a:lnSpc>
              <a:spcBef>
                <a:spcPts val="0"/>
              </a:spcBef>
              <a:spcAft>
                <a:spcPts val="800"/>
              </a:spcAft>
            </a:pPr>
            <a:r>
              <a:rPr sz="1100" b="1" i="0">
                <a:solidFill>
                  <a:srgbClr val="1E3A6E"/>
                </a:solidFill>
                <a:latin typeface="Calibri"/>
              </a:rPr>
              <a:t>There is no `region` column in the slice. </a:t>
            </a:r>
            <a:r>
              <a:rPr sz="1100" b="0" i="0">
                <a:solidFill>
                  <a:srgbClr val="444F60"/>
                </a:solidFill>
                <a:latin typeface="Calibri"/>
              </a:rPr>
              <a:t>The axis goes because it no longer distinguishes anything --- every remaining cell carries the same member. Keeping it produces a degenerate axis, and a later roll-up along it silently does nothing.</a:t>
            </a:r>
          </a:p>
          <a:p>
            <a:pPr>
              <a:lnSpc>
                <a:spcPct val="126000"/>
              </a:lnSpc>
              <a:spcBef>
                <a:spcPts val="0"/>
              </a:spcBef>
              <a:spcAft>
                <a:spcPts val="0"/>
              </a:spcAft>
            </a:pPr>
            <a:r>
              <a:rPr sz="1100" b="1" i="0">
                <a:solidFill>
                  <a:srgbClr val="1E3A6E"/>
                </a:solidFill>
                <a:latin typeface="Calibri"/>
              </a:rPr>
              <a:t>Dice keeps every dimension, so a later roll-up still composes. </a:t>
            </a:r>
            <a:r>
              <a:rPr sz="1100" b="0" i="0">
                <a:solidFill>
                  <a:srgbClr val="444F60"/>
                </a:solidFill>
                <a:latin typeface="Calibri"/>
              </a:rPr>
              <a:t>Dice is an option inside `where=` rather than a fourth navigation --- there is no `cube_dice` and no `cube_pivot`. Two navigations are registered, and three documents claimed four or five until somebody counted.</a:t>
            </a:r>
          </a:p>
        </p:txBody>
      </p:sp>
      <p:sp>
        <p:nvSpPr>
          <p:cNvPr id="19" name="Rectangle 18"/>
          <p:cNvSpPr/>
          <p:nvPr/>
        </p:nvSpPr>
        <p:spPr>
          <a:xfrm>
            <a:off x="7478685" y="3108960"/>
            <a:ext cx="3935769" cy="13716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7478685" y="3108960"/>
            <a:ext cx="41148" cy="137160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7716429" y="3227832"/>
            <a:ext cx="3478569" cy="11521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1E3A6E"/>
                </a:solidFill>
                <a:latin typeface="Calibri"/>
              </a:rPr>
              <a:t>Note the pipe. </a:t>
            </a:r>
            <a:r>
              <a:rPr sz="1050" b="0" i="0">
                <a:solidFill>
                  <a:srgbClr val="0E1726"/>
                </a:solidFill>
                <a:latin typeface="Calibri"/>
              </a:rPr>
              <a:t>The options string is itself comma-separated, so a list of dimensions uses `|`. An unknown option is refused rather than defaulted: a misspelled option that quietly takes its default produces a result that is wrong in a way the query text does not reveal.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WORKED · AT SIZE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The same navigation on the whole thousand-row table</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12 · A worked example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39</a:t>
            </a:r>
          </a:p>
        </p:txBody>
      </p:sp>
      <p:sp>
        <p:nvSpPr>
          <p:cNvPr id="10" name="Rectangle 9"/>
          <p:cNvSpPr/>
          <p:nvPr/>
        </p:nvSpPr>
        <p:spPr>
          <a:xfrm>
            <a:off x="777240" y="1353312"/>
            <a:ext cx="6595073" cy="2110800"/>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110800"/>
          </a:xfrm>
          <a:prstGeom prst="rect">
            <a:avLst/>
          </a:prstGeom>
          <a:solidFill>
            <a:srgbClr val="444F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6229313" cy="219456"/>
          </a:xfrm>
          <a:prstGeom prst="rect">
            <a:avLst/>
          </a:prstGeom>
          <a:noFill/>
        </p:spPr>
        <p:txBody>
          <a:bodyPr wrap="square" lIns="0" rIns="0" tIns="0" bIns="0" anchor="t">
            <a:spAutoFit/>
          </a:bodyPr>
          <a:lstStyle/>
          <a:p>
            <a:pPr algn="l">
              <a:spcBef>
                <a:spcPts val="0"/>
              </a:spcBef>
              <a:spcAft>
                <a:spcPts val="0"/>
              </a:spcAft>
            </a:pPr>
            <a:r>
              <a:rPr sz="900" b="1" i="0">
                <a:solidFill>
                  <a:srgbClr val="1E3A6E"/>
                </a:solidFill>
                <a:latin typeface="Calibri"/>
              </a:rPr>
              <a:t>docs/QUICKSTART.md, run against the shipped fixture</a:t>
            </a:r>
          </a:p>
        </p:txBody>
      </p:sp>
      <p:sp>
        <p:nvSpPr>
          <p:cNvPr id="13" name="TextBox 12"/>
          <p:cNvSpPr txBox="1"/>
          <p:nvPr/>
        </p:nvSpPr>
        <p:spPr>
          <a:xfrm>
            <a:off x="978408" y="1746504"/>
            <a:ext cx="6229313" cy="1635312"/>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0E1726"/>
                </a:solidFill>
                <a:latin typeface="Consolas"/>
              </a:rPr>
              <a:t>$ psql ... -c "SELECT region, amount, completeness, withheld,</a:t>
            </a:r>
          </a:p>
          <a:p>
            <a:pPr>
              <a:lnSpc>
                <a:spcPct val="134000"/>
              </a:lnSpc>
              <a:spcBef>
                <a:spcPts val="0"/>
              </a:spcBef>
              <a:spcAft>
                <a:spcPts val="0"/>
              </a:spcAft>
            </a:pPr>
            <a:r>
              <a:rPr sz="900" b="0" i="0">
                <a:solidFill>
                  <a:srgbClr val="0E1726"/>
                </a:solidFill>
                <a:latin typeface="Consolas"/>
              </a:rPr>
              <a:t>                      materialised</a:t>
            </a:r>
          </a:p>
          <a:p>
            <a:pPr>
              <a:lnSpc>
                <a:spcPct val="134000"/>
              </a:lnSpc>
              <a:spcBef>
                <a:spcPts val="0"/>
              </a:spcBef>
              <a:spcAft>
                <a:spcPts val="0"/>
              </a:spcAft>
            </a:pPr>
            <a:r>
              <a:rPr sz="900" b="0" i="0">
                <a:solidFill>
                  <a:srgbClr val="0E1726"/>
                </a:solidFill>
                <a:latin typeface="Consolas"/>
              </a:rPr>
              <a:t>               FROM cube_rollup('sales','amount','by=region');"</a:t>
            </a:r>
          </a:p>
          <a:p>
            <a:pPr>
              <a:lnSpc>
                <a:spcPct val="134000"/>
              </a:lnSpc>
              <a:spcBef>
                <a:spcPts val="0"/>
              </a:spcBef>
              <a:spcAft>
                <a:spcPts val="0"/>
              </a:spcAft>
            </a:pPr>
            <a:r>
              <a:rPr sz="900" b="0" i="0">
                <a:solidFill>
                  <a:srgbClr val="0E1726"/>
                </a:solidFill>
                <a:latin typeface="Consolas"/>
              </a:rPr>
              <a:t> </a:t>
            </a:r>
          </a:p>
          <a:p>
            <a:pPr>
              <a:lnSpc>
                <a:spcPct val="134000"/>
              </a:lnSpc>
              <a:spcBef>
                <a:spcPts val="0"/>
              </a:spcBef>
              <a:spcAft>
                <a:spcPts val="0"/>
              </a:spcAft>
            </a:pPr>
            <a:r>
              <a:rPr sz="900" b="0" i="0">
                <a:solidFill>
                  <a:srgbClr val="0E1726"/>
                </a:solidFill>
                <a:latin typeface="Consolas"/>
              </a:rPr>
              <a:t> region |  amount  | completeness | withheld | materialised</a:t>
            </a:r>
          </a:p>
          <a:p>
            <a:pPr>
              <a:lnSpc>
                <a:spcPct val="134000"/>
              </a:lnSpc>
              <a:spcBef>
                <a:spcPts val="0"/>
              </a:spcBef>
              <a:spcAft>
                <a:spcPts val="0"/>
              </a:spcAft>
            </a:pPr>
            <a:r>
              <a:rPr sz="900" b="0" i="0">
                <a:solidFill>
                  <a:srgbClr val="0E1726"/>
                </a:solidFill>
                <a:latin typeface="Consolas"/>
              </a:rPr>
              <a:t>--------+----------+--------------+----------+--------------</a:t>
            </a:r>
          </a:p>
          <a:p>
            <a:pPr>
              <a:lnSpc>
                <a:spcPct val="134000"/>
              </a:lnSpc>
              <a:spcBef>
                <a:spcPts val="0"/>
              </a:spcBef>
              <a:spcAft>
                <a:spcPts val="0"/>
              </a:spcAft>
            </a:pPr>
            <a:r>
              <a:rPr sz="900" b="0" i="0">
                <a:solidFill>
                  <a:srgbClr val="0E1726"/>
                </a:solidFill>
                <a:latin typeface="Consolas"/>
              </a:rPr>
              <a:t> north  | 250249.5 |        0.667 |      333 | f</a:t>
            </a:r>
          </a:p>
          <a:p>
            <a:pPr>
              <a:lnSpc>
                <a:spcPct val="134000"/>
              </a:lnSpc>
              <a:spcBef>
                <a:spcPts val="0"/>
              </a:spcBef>
              <a:spcAft>
                <a:spcPts val="0"/>
              </a:spcAft>
            </a:pPr>
            <a:r>
              <a:rPr sz="900" b="0" i="0">
                <a:solidFill>
                  <a:srgbClr val="0E1726"/>
                </a:solidFill>
                <a:latin typeface="Consolas"/>
              </a:rPr>
              <a:t> south  | 249250.5 |        0.667 |      333 | f</a:t>
            </a:r>
          </a:p>
        </p:txBody>
      </p:sp>
      <p:sp>
        <p:nvSpPr>
          <p:cNvPr id="14" name="TextBox 13"/>
          <p:cNvSpPr txBox="1"/>
          <p:nvPr/>
        </p:nvSpPr>
        <p:spPr>
          <a:xfrm>
            <a:off x="777240" y="3044952"/>
            <a:ext cx="10637215" cy="2103120"/>
          </a:xfrm>
          <a:prstGeom prst="rect">
            <a:avLst/>
          </a:prstGeom>
          <a:noFill/>
        </p:spPr>
        <p:txBody>
          <a:bodyPr wrap="square" lIns="0" rIns="0" tIns="0" bIns="0" anchor="t">
            <a:spAutoFit/>
          </a:bodyPr>
          <a:lstStyle/>
          <a:p>
            <a:pPr algn="l">
              <a:lnSpc>
                <a:spcPct val="128000"/>
              </a:lnSpc>
              <a:spcBef>
                <a:spcPts val="0"/>
              </a:spcBef>
              <a:spcAft>
                <a:spcPts val="1000"/>
              </a:spcAft>
            </a:pPr>
            <a:r>
              <a:rPr sz="1150" b="1" i="0">
                <a:solidFill>
                  <a:srgbClr val="1E3A6E"/>
                </a:solidFill>
                <a:latin typeface="Calibri"/>
              </a:rPr>
              <a:t>Checkable in closed form. </a:t>
            </a:r>
            <a:r>
              <a:rPr sz="1150" b="0" i="0">
                <a:solidFill>
                  <a:srgbClr val="444F60"/>
                </a:solidFill>
                <a:latin typeface="Calibri"/>
              </a:rPr>
              <a:t>North is the ids divisible by three: 1.5 x 3 x (0+1+...+333) = 4.5 x 55,611 = **250,249.5**. South is the ids congruent to 1 mod 3: 1.5 x 166,167 = **249,250.5**. The grand total 499,500 is exactly `sum(amount) WHERE region IS NOT NULL`, and 333 of 1,000 rows have no region --- so completeness is 0.667 and `withheld` is 333.</a:t>
            </a:r>
          </a:p>
          <a:p>
            <a:pPr>
              <a:lnSpc>
                <a:spcPct val="128000"/>
              </a:lnSpc>
              <a:spcBef>
                <a:spcPts val="0"/>
              </a:spcBef>
              <a:spcAft>
                <a:spcPts val="0"/>
              </a:spcAft>
            </a:pPr>
            <a:r>
              <a:rPr sz="1150" b="1" i="0">
                <a:solidFill>
                  <a:srgbClr val="1E3A6E"/>
                </a:solidFill>
                <a:latin typeface="Calibri"/>
              </a:rPr>
              <a:t>`completeness` and `withheld` come from the point of enforcement, never from the result. </a:t>
            </a:r>
            <a:r>
              <a:rPr sz="1150" b="0" i="0">
                <a:solidFill>
                  <a:srgbClr val="444F60"/>
                </a:solidFill>
                <a:latin typeface="Calibri"/>
              </a:rPr>
              <a:t>A withheld row leaves no trace, so an aggregate counting what arrived and dividing by what arrived reports itself complete however much policy removed. They are computed at hydration, not from the rows that survived a dice.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FOUNDATIONS · ADDITIVITY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Three measures, three answers</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13 · Completeness, and cubes under policy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40</a:t>
            </a:r>
          </a:p>
        </p:txBody>
      </p:sp>
      <p:graphicFrame>
        <p:nvGraphicFramePr>
          <p:cNvPr id="10" name="Table 9"/>
          <p:cNvGraphicFramePr>
            <a:graphicFrameLocks noGrp="1"/>
          </p:cNvGraphicFramePr>
          <p:nvPr/>
        </p:nvGraphicFramePr>
        <p:xfrm>
          <a:off x="777240" y="1353312"/>
          <a:ext cx="10637214" cy="1360690"/>
        </p:xfrm>
        <a:graphic>
          <a:graphicData uri="http://schemas.openxmlformats.org/drawingml/2006/table">
            <a:tbl>
              <a:tblPr firstRow="1">
                <a:tableStyleId>{5C22544A-7EE6-4342-B048-85BDC9FD1C3A}</a:tableStyleId>
              </a:tblPr>
              <a:tblGrid>
                <a:gridCol w="2567603"/>
                <a:gridCol w="3668005"/>
                <a:gridCol w="4401606"/>
              </a:tblGrid>
              <a:tr h="333781">
                <a:tc>
                  <a:txBody>
                    <a:bodyPr wrap="square"/>
                    <a:lstStyle/>
                    <a:p>
                      <a:pPr algn="l"/>
                      <a:r>
                        <a:rPr sz="1100" b="1">
                          <a:solidFill>
                            <a:srgbClr val="FFFFFF"/>
                          </a:solidFill>
                          <a:latin typeface="Calibri"/>
                        </a:rPr>
                        <a:t>Measure</a:t>
                      </a:r>
                    </a:p>
                  </a:txBody>
                  <a:tcPr marL="82296" marR="64008" marT="32004" marB="32004" anchor="ctr">
                    <a:solidFill>
                      <a:srgbClr val="1E3A6E"/>
                    </a:solidFill>
                  </a:tcPr>
                </a:tc>
                <a:tc>
                  <a:txBody>
                    <a:bodyPr wrap="square"/>
                    <a:lstStyle/>
                    <a:p>
                      <a:pPr algn="l"/>
                      <a:r>
                        <a:rPr sz="1100" b="1">
                          <a:solidFill>
                            <a:srgbClr val="FFFFFF"/>
                          </a:solidFill>
                          <a:latin typeface="Calibri"/>
                        </a:rPr>
                        <a:t>Rolls up how</a:t>
                      </a:r>
                    </a:p>
                  </a:txBody>
                  <a:tcPr marL="82296" marR="64008" marT="32004" marB="32004" anchor="ctr">
                    <a:solidFill>
                      <a:srgbClr val="1E3A6E"/>
                    </a:solidFill>
                  </a:tcPr>
                </a:tc>
                <a:tc>
                  <a:txBody>
                    <a:bodyPr wrap="square"/>
                    <a:lstStyle/>
                    <a:p>
                      <a:pPr algn="l"/>
                      <a:r>
                        <a:rPr sz="1100" b="1">
                          <a:solidFill>
                            <a:srgbClr val="FFFFFF"/>
                          </a:solidFill>
                          <a:latin typeface="Calibri"/>
                        </a:rPr>
                        <a:t>Asked to roll up</a:t>
                      </a:r>
                    </a:p>
                  </a:txBody>
                  <a:tcPr marL="82296" marR="64008" marT="32004" marB="32004" anchor="ctr">
                    <a:solidFill>
                      <a:srgbClr val="1E3A6E"/>
                    </a:solidFill>
                  </a:tcPr>
                </a:tc>
              </a:tr>
              <a:tr h="342303">
                <a:tc>
                  <a:txBody>
                    <a:bodyPr wrap="square"/>
                    <a:lstStyle/>
                    <a:p>
                      <a:pPr algn="l"/>
                      <a:r>
                        <a:rPr sz="1150" b="0">
                          <a:solidFill>
                            <a:srgbClr val="0E1726"/>
                          </a:solidFill>
                          <a:latin typeface="Calibri"/>
                        </a:rPr>
                        <a:t>`amount` — a flow</a:t>
                      </a:r>
                    </a:p>
                  </a:txBody>
                  <a:tcPr marL="82296" marR="64008" marT="32004" marB="32004" anchor="ctr">
                    <a:solidFill>
                      <a:srgbClr val="FFFFFF"/>
                    </a:solidFill>
                  </a:tcPr>
                </a:tc>
                <a:tc>
                  <a:txBody>
                    <a:bodyPr wrap="square"/>
                    <a:lstStyle/>
                    <a:p>
                      <a:pPr algn="l"/>
                      <a:r>
                        <a:rPr sz="1150" b="0">
                          <a:solidFill>
                            <a:srgbClr val="0E1726"/>
                          </a:solidFill>
                          <a:latin typeface="Calibri"/>
                        </a:rPr>
                        <a:t>summed</a:t>
                      </a:r>
                    </a:p>
                  </a:txBody>
                  <a:tcPr marL="82296" marR="64008" marT="32004" marB="32004" anchor="ctr">
                    <a:solidFill>
                      <a:srgbClr val="FFFFFF"/>
                    </a:solidFill>
                  </a:tcPr>
                </a:tc>
                <a:tc>
                  <a:txBody>
                    <a:bodyPr wrap="square"/>
                    <a:lstStyle/>
                    <a:p>
                      <a:pPr algn="l"/>
                      <a:r>
                        <a:rPr sz="1150" b="0">
                          <a:solidFill>
                            <a:srgbClr val="0E1726"/>
                          </a:solidFill>
                          <a:latin typeface="Calibri"/>
                        </a:rPr>
                        <a:t>summed, across every dimension</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`balance` — a stock</a:t>
                      </a:r>
                    </a:p>
                  </a:txBody>
                  <a:tcPr marL="82296" marR="64008" marT="32004" marB="32004" anchor="ctr">
                    <a:solidFill>
                      <a:srgbClr val="FBFAF7"/>
                    </a:solidFill>
                  </a:tcPr>
                </a:tc>
                <a:tc>
                  <a:txBody>
                    <a:bodyPr wrap="square"/>
                    <a:lstStyle/>
                    <a:p>
                      <a:pPr algn="l"/>
                      <a:r>
                        <a:rPr sz="1150" b="0">
                          <a:solidFill>
                            <a:srgbClr val="0E1726"/>
                          </a:solidFill>
                          <a:latin typeface="Calibri"/>
                        </a:rPr>
                        <a:t>last, along time; summed elsewhere</a:t>
                      </a:r>
                    </a:p>
                  </a:txBody>
                  <a:tcPr marL="82296" marR="64008" marT="32004" marB="32004" anchor="ctr">
                    <a:solidFill>
                      <a:srgbClr val="FBFAF7"/>
                    </a:solidFill>
                  </a:tcPr>
                </a:tc>
                <a:tc>
                  <a:txBody>
                    <a:bodyPr wrap="square"/>
                    <a:lstStyle/>
                    <a:p>
                      <a:pPr algn="l"/>
                      <a:r>
                        <a:rPr sz="1150" b="0">
                          <a:solidFill>
                            <a:srgbClr val="0E1726"/>
                          </a:solidFill>
                          <a:latin typeface="Calibri"/>
                        </a:rPr>
                        <a:t>the closing balance, not twelve of them added</a:t>
                      </a:r>
                    </a:p>
                  </a:txBody>
                  <a:tcPr marL="82296" marR="64008" marT="32004" marB="32004" anchor="ctr">
                    <a:solidFill>
                      <a:srgbClr val="FBFAF7"/>
                    </a:solidFill>
                  </a:tcPr>
                </a:tc>
              </a:tr>
              <a:tr h="342303">
                <a:tc>
                  <a:txBody>
                    <a:bodyPr wrap="square"/>
                    <a:lstStyle/>
                    <a:p>
                      <a:pPr algn="l"/>
                      <a:r>
                        <a:rPr sz="1150" b="0">
                          <a:solidFill>
                            <a:srgbClr val="0E1726"/>
                          </a:solidFill>
                          <a:latin typeface="Calibri"/>
                        </a:rPr>
                        <a:t>`margin_pct` — a ratio</a:t>
                      </a:r>
                    </a:p>
                  </a:txBody>
                  <a:tcPr marL="82296" marR="64008" marT="32004" marB="32004" anchor="ctr">
                    <a:solidFill>
                      <a:srgbClr val="FFFFFF"/>
                    </a:solidFill>
                  </a:tcPr>
                </a:tc>
                <a:tc>
                  <a:txBody>
                    <a:bodyPr wrap="square"/>
                    <a:lstStyle/>
                    <a:p>
                      <a:pPr algn="l"/>
                      <a:r>
                        <a:rPr sz="1150" b="0">
                          <a:solidFill>
                            <a:srgbClr val="0E1726"/>
                          </a:solidFill>
                          <a:latin typeface="Calibri"/>
                        </a:rPr>
                        <a:t>**it does not**</a:t>
                      </a:r>
                    </a:p>
                  </a:txBody>
                  <a:tcPr marL="82296" marR="64008" marT="32004" marB="32004" anchor="ctr">
                    <a:solidFill>
                      <a:srgbClr val="FFFFFF"/>
                    </a:solidFill>
                  </a:tcPr>
                </a:tc>
                <a:tc>
                  <a:txBody>
                    <a:bodyPr wrap="square"/>
                    <a:lstStyle/>
                    <a:p>
                      <a:pPr algn="l"/>
                      <a:r>
                        <a:rPr sz="1150" b="0">
                          <a:solidFill>
                            <a:srgbClr val="0E1726"/>
                          </a:solidFill>
                          <a:latin typeface="Calibri"/>
                        </a:rPr>
                        <a:t>**refused by name**, with the reason</a:t>
                      </a:r>
                    </a:p>
                  </a:txBody>
                  <a:tcPr marL="82296" marR="64008" marT="32004" marB="32004" anchor="ctr">
                    <a:solidFill>
                      <a:srgbClr val="FFFFFF"/>
                    </a:solidFill>
                  </a:tcPr>
                </a:tc>
              </a:tr>
            </a:tbl>
          </a:graphicData>
        </a:graphic>
      </p:graphicFrame>
      <p:sp>
        <p:nvSpPr>
          <p:cNvPr id="11" name="TextBox 10"/>
          <p:cNvSpPr txBox="1"/>
          <p:nvPr/>
        </p:nvSpPr>
        <p:spPr>
          <a:xfrm>
            <a:off x="777240" y="2951746"/>
            <a:ext cx="10637215" cy="2194560"/>
          </a:xfrm>
          <a:prstGeom prst="rect">
            <a:avLst/>
          </a:prstGeom>
          <a:noFill/>
        </p:spPr>
        <p:txBody>
          <a:bodyPr wrap="square" lIns="0" rIns="0" tIns="0" bIns="0" anchor="t">
            <a:spAutoFit/>
          </a:bodyPr>
          <a:lstStyle/>
          <a:p>
            <a:pPr algn="l"/>
          </a:p>
          <a:p>
            <a:pPr>
              <a:lnSpc>
                <a:spcPct val="130000"/>
              </a:lnSpc>
              <a:spcBef>
                <a:spcPts val="0"/>
              </a:spcBef>
              <a:spcAft>
                <a:spcPts val="1000"/>
              </a:spcAft>
            </a:pPr>
            <a:r>
              <a:rPr sz="1200" b="1" i="0">
                <a:solidFill>
                  <a:srgbClr val="0E1726"/>
                </a:solidFill>
                <a:latin typeface="Calibri"/>
              </a:rPr>
              <a:t>A ratio of sums is not the sum of ratios, and no rule makes it one. </a:t>
            </a:r>
            <a:r>
              <a:rPr sz="1200" b="0" i="0">
                <a:solidFill>
                  <a:srgbClr val="444F60"/>
                </a:solidFill>
                <a:latin typeface="Calibri"/>
              </a:rPr>
              <a:t>So a cube declaring `margin_pct` with no additivity rule does not sum it, does not average it, and does not quietly return the first value. It refuses the roll-up and says which measure and why.</a:t>
            </a:r>
          </a:p>
          <a:p>
            <a:pPr>
              <a:lnSpc>
                <a:spcPct val="130000"/>
              </a:lnSpc>
              <a:spcBef>
                <a:spcPts val="0"/>
              </a:spcBef>
              <a:spcAft>
                <a:spcPts val="600"/>
              </a:spcAft>
            </a:pPr>
            <a:r>
              <a:rPr sz="1200" b="1" i="0">
                <a:solidFill>
                  <a:srgbClr val="1E3A6E"/>
                </a:solidFill>
                <a:latin typeface="Calibri"/>
              </a:rPr>
              <a:t>The alternative is the one every spreadsheet takes: </a:t>
            </a:r>
            <a:r>
              <a:rPr sz="1200" b="0" i="0">
                <a:solidFill>
                  <a:srgbClr val="444F60"/>
                </a:solidFill>
                <a:latin typeface="Calibri"/>
              </a:rPr>
              <a:t>average the percentages. That produces a number, it is wrong by an amount nobody can bound, and nothing about it looks wrong. This is the clearest case in the system of a refusal being worth more than an answer.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FOUNDATIONS · COMPLETENESS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A total that says what it covered</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13 · Completeness, and cubes under policy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41</a:t>
            </a:r>
          </a:p>
        </p:txBody>
      </p:sp>
      <p:sp>
        <p:nvSpPr>
          <p:cNvPr id="10" name="Rectangle 9"/>
          <p:cNvSpPr/>
          <p:nvPr/>
        </p:nvSpPr>
        <p:spPr>
          <a:xfrm>
            <a:off x="777240" y="1353312"/>
            <a:ext cx="5956840" cy="1992866"/>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992866"/>
          </a:xfrm>
          <a:prstGeom prst="rect">
            <a:avLst/>
          </a:prstGeom>
          <a:solidFill>
            <a:srgbClr val="444F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591080" cy="219456"/>
          </a:xfrm>
          <a:prstGeom prst="rect">
            <a:avLst/>
          </a:prstGeom>
          <a:noFill/>
        </p:spPr>
        <p:txBody>
          <a:bodyPr wrap="square" lIns="0" rIns="0" tIns="0" bIns="0" anchor="t">
            <a:spAutoFit/>
          </a:bodyPr>
          <a:lstStyle/>
          <a:p>
            <a:pPr algn="l">
              <a:spcBef>
                <a:spcPts val="0"/>
              </a:spcBef>
              <a:spcAft>
                <a:spcPts val="0"/>
              </a:spcAft>
            </a:pPr>
            <a:r>
              <a:rPr sz="900" b="1" i="0">
                <a:solidFill>
                  <a:srgbClr val="1E3A6E"/>
                </a:solidFill>
                <a:latin typeface="Calibri"/>
              </a:rPr>
              <a:t>a roll-up over a partly-covered grain</a:t>
            </a:r>
          </a:p>
        </p:txBody>
      </p:sp>
      <p:sp>
        <p:nvSpPr>
          <p:cNvPr id="13" name="TextBox 12"/>
          <p:cNvSpPr txBox="1"/>
          <p:nvPr/>
        </p:nvSpPr>
        <p:spPr>
          <a:xfrm>
            <a:off x="978408" y="1746504"/>
            <a:ext cx="5591080" cy="1517378"/>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0E1726"/>
                </a:solidFill>
                <a:latin typeface="Consolas"/>
              </a:rPr>
              <a:t>SELECT * FROM cube_rollup('sales', 'region');</a:t>
            </a:r>
          </a:p>
          <a:p>
            <a:pPr>
              <a:lnSpc>
                <a:spcPct val="134000"/>
              </a:lnSpc>
              <a:spcBef>
                <a:spcPts val="0"/>
              </a:spcBef>
              <a:spcAft>
                <a:spcPts val="0"/>
              </a:spcAft>
            </a:pPr>
            <a:r>
              <a:rPr sz="950" b="0" i="0">
                <a:solidFill>
                  <a:srgbClr val="0E1726"/>
                </a:solidFill>
                <a:latin typeface="Consolas"/>
              </a:rPr>
              <a:t> </a:t>
            </a:r>
          </a:p>
          <a:p>
            <a:pPr>
              <a:lnSpc>
                <a:spcPct val="134000"/>
              </a:lnSpc>
              <a:spcBef>
                <a:spcPts val="0"/>
              </a:spcBef>
              <a:spcAft>
                <a:spcPts val="0"/>
              </a:spcAft>
            </a:pPr>
            <a:r>
              <a:rPr sz="950" b="0" i="0">
                <a:solidFill>
                  <a:srgbClr val="0E1726"/>
                </a:solidFill>
                <a:latin typeface="Consolas"/>
              </a:rPr>
              <a:t> region  |  amount  | completeness | withheld</a:t>
            </a:r>
          </a:p>
          <a:p>
            <a:pPr>
              <a:lnSpc>
                <a:spcPct val="134000"/>
              </a:lnSpc>
              <a:spcBef>
                <a:spcPts val="0"/>
              </a:spcBef>
              <a:spcAft>
                <a:spcPts val="0"/>
              </a:spcAft>
            </a:pPr>
            <a:r>
              <a:rPr sz="950" b="0" i="0">
                <a:solidFill>
                  <a:srgbClr val="0E1726"/>
                </a:solidFill>
                <a:latin typeface="Consolas"/>
              </a:rPr>
              <a:t>---------+----------+--------------+---------</a:t>
            </a:r>
          </a:p>
          <a:p>
            <a:pPr>
              <a:lnSpc>
                <a:spcPct val="134000"/>
              </a:lnSpc>
              <a:spcBef>
                <a:spcPts val="0"/>
              </a:spcBef>
              <a:spcAft>
                <a:spcPts val="0"/>
              </a:spcAft>
            </a:pPr>
            <a:r>
              <a:rPr sz="950" b="0" i="0">
                <a:solidFill>
                  <a:srgbClr val="0E1726"/>
                </a:solidFill>
                <a:latin typeface="Consolas"/>
              </a:rPr>
              <a:t> north   |   412000 |        1.000 |        0</a:t>
            </a:r>
          </a:p>
          <a:p>
            <a:pPr>
              <a:lnSpc>
                <a:spcPct val="134000"/>
              </a:lnSpc>
              <a:spcBef>
                <a:spcPts val="0"/>
              </a:spcBef>
              <a:spcAft>
                <a:spcPts val="0"/>
              </a:spcAft>
            </a:pPr>
            <a:r>
              <a:rPr sz="950" b="0" i="0">
                <a:solidFill>
                  <a:srgbClr val="0E1726"/>
                </a:solidFill>
                <a:latin typeface="Consolas"/>
              </a:rPr>
              <a:t> south   |   380500 |        1.000 |        0</a:t>
            </a:r>
          </a:p>
          <a:p>
            <a:pPr>
              <a:lnSpc>
                <a:spcPct val="134000"/>
              </a:lnSpc>
              <a:spcBef>
                <a:spcPts val="0"/>
              </a:spcBef>
              <a:spcAft>
                <a:spcPts val="0"/>
              </a:spcAft>
            </a:pPr>
            <a:r>
              <a:rPr sz="950" b="0" i="0">
                <a:solidFill>
                  <a:srgbClr val="0E1726"/>
                </a:solidFill>
                <a:latin typeface="Consolas"/>
              </a:rPr>
              <a:t> east    |   201750 |        0.667 |      333</a:t>
            </a:r>
          </a:p>
        </p:txBody>
      </p:sp>
      <p:sp>
        <p:nvSpPr>
          <p:cNvPr id="14" name="TextBox 13"/>
          <p:cNvSpPr txBox="1"/>
          <p:nvPr/>
        </p:nvSpPr>
        <p:spPr>
          <a:xfrm>
            <a:off x="7159569" y="1353312"/>
            <a:ext cx="4254886" cy="2377440"/>
          </a:xfrm>
          <a:prstGeom prst="rect">
            <a:avLst/>
          </a:prstGeom>
          <a:noFill/>
        </p:spPr>
        <p:txBody>
          <a:bodyPr wrap="square" lIns="0" rIns="0" tIns="0" bIns="0" anchor="t">
            <a:spAutoFit/>
          </a:bodyPr>
          <a:lstStyle/>
          <a:p>
            <a:pPr algn="l">
              <a:spcBef>
                <a:spcPts val="0"/>
              </a:spcBef>
              <a:spcAft>
                <a:spcPts val="800"/>
              </a:spcAft>
            </a:pPr>
            <a:r>
              <a:rPr sz="1200" b="1" i="0">
                <a:solidFill>
                  <a:srgbClr val="1E3A6E"/>
                </a:solidFill>
                <a:latin typeface="Calibri"/>
              </a:rPr>
              <a:t>The last row is the point.</a:t>
            </a:r>
          </a:p>
          <a:p>
            <a:pPr>
              <a:lnSpc>
                <a:spcPct val="130000"/>
              </a:lnSpc>
              <a:spcBef>
                <a:spcPts val="0"/>
              </a:spcBef>
              <a:spcAft>
                <a:spcPts val="800"/>
              </a:spcAft>
            </a:pPr>
            <a:r>
              <a:rPr sz="1100" b="0" i="0">
                <a:solidFill>
                  <a:srgbClr val="444F60"/>
                </a:solidFill>
                <a:latin typeface="Calibri"/>
              </a:rPr>
              <a:t>`east` is a total over two of three days. The number is real, and on its own it is indistinguishable from a complete one — so it does not travel on its own.</a:t>
            </a:r>
          </a:p>
          <a:p>
            <a:pPr>
              <a:lnSpc>
                <a:spcPct val="130000"/>
              </a:lnSpc>
              <a:spcBef>
                <a:spcPts val="0"/>
              </a:spcBef>
              <a:spcAft>
                <a:spcPts val="600"/>
              </a:spcAft>
            </a:pPr>
            <a:r>
              <a:rPr sz="1100" b="0" i="0">
                <a:solidFill>
                  <a:srgbClr val="444F60"/>
                </a:solidFill>
                <a:latin typeface="Calibri"/>
              </a:rPr>
              <a:t>`completeness` is the fraction of the grain actually covered; `withheld` is what was not. A consumer can decide; a consumer without them cannot.</a:t>
            </a:r>
          </a:p>
        </p:txBody>
      </p:sp>
      <p:sp>
        <p:nvSpPr>
          <p:cNvPr id="15" name="Rectangle 14"/>
          <p:cNvSpPr/>
          <p:nvPr/>
        </p:nvSpPr>
        <p:spPr>
          <a:xfrm>
            <a:off x="777240" y="3867912"/>
            <a:ext cx="10637215" cy="86868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777240" y="3867912"/>
            <a:ext cx="41148" cy="86868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1014983" y="3986784"/>
            <a:ext cx="10180015" cy="64922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1E3A6E"/>
                </a:solidFill>
                <a:latin typeface="Calibri"/>
              </a:rPr>
              <a:t>Two navigations, not four. </a:t>
            </a:r>
            <a:r>
              <a:rPr sz="1050" b="0" i="0">
                <a:solidFill>
                  <a:srgbClr val="0E1726"/>
                </a:solidFill>
                <a:latin typeface="Calibri"/>
              </a:rPr>
              <a:t>`cube_rollup` and `cube_slice` are registered. Dice is an option inside slice rather than a navigation of its own, and drill-down is not built — three documents claimed four or five until a reviewer counted the registrations.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CUBOIDS · THE KEY IS THE WHOLE STORY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A cache that cannot be stale, because the key says so</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14 · Cuboids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42</a:t>
            </a:r>
          </a:p>
        </p:txBody>
      </p:sp>
      <p:graphicFrame>
        <p:nvGraphicFramePr>
          <p:cNvPr id="10" name="Table 9"/>
          <p:cNvGraphicFramePr>
            <a:graphicFrameLocks noGrp="1"/>
          </p:cNvGraphicFramePr>
          <p:nvPr/>
        </p:nvGraphicFramePr>
        <p:xfrm>
          <a:off x="777240" y="1353312"/>
          <a:ext cx="10637214" cy="2042896"/>
        </p:xfrm>
        <a:graphic>
          <a:graphicData uri="http://schemas.openxmlformats.org/drawingml/2006/table">
            <a:tbl>
              <a:tblPr firstRow="1">
                <a:tableStyleId>{5C22544A-7EE6-4342-B048-85BDC9FD1C3A}</a:tableStyleId>
              </a:tblPr>
              <a:tblGrid>
                <a:gridCol w="2107372"/>
                <a:gridCol w="8529842"/>
              </a:tblGrid>
              <a:tr h="329184">
                <a:tc>
                  <a:txBody>
                    <a:bodyPr wrap="square"/>
                    <a:lstStyle/>
                    <a:p>
                      <a:pPr algn="l"/>
                      <a:r>
                        <a:rPr sz="1000" b="1">
                          <a:solidFill>
                            <a:srgbClr val="FFFFFF"/>
                          </a:solidFill>
                          <a:latin typeface="Calibri"/>
                        </a:rPr>
                        <a:t>The key includes</a:t>
                      </a:r>
                    </a:p>
                  </a:txBody>
                  <a:tcPr marL="82296" marR="64008" marT="32004" marB="32004" anchor="ctr">
                    <a:solidFill>
                      <a:srgbClr val="1E3A6E"/>
                    </a:solidFill>
                  </a:tcPr>
                </a:tc>
                <a:tc>
                  <a:txBody>
                    <a:bodyPr wrap="square"/>
                    <a:lstStyle/>
                    <a:p>
                      <a:pPr algn="l"/>
                      <a:r>
                        <a:rPr sz="1000" b="1">
                          <a:solidFill>
                            <a:srgbClr val="FFFFFF"/>
                          </a:solidFill>
                          <a:latin typeface="Calibri"/>
                        </a:rPr>
                        <a:t>What it defends against</a:t>
                      </a:r>
                    </a:p>
                  </a:txBody>
                  <a:tcPr marL="82296" marR="64008" marT="32004" marB="32004" anchor="ctr">
                    <a:solidFill>
                      <a:srgbClr val="1E3A6E"/>
                    </a:solidFill>
                  </a:tcPr>
                </a:tc>
              </a:tr>
              <a:tr h="310896">
                <a:tc>
                  <a:txBody>
                    <a:bodyPr wrap="square"/>
                    <a:lstStyle/>
                    <a:p>
                      <a:pPr algn="l"/>
                      <a:r>
                        <a:rPr sz="950" b="0">
                          <a:solidFill>
                            <a:srgbClr val="0E1726"/>
                          </a:solidFill>
                          <a:latin typeface="Calibri"/>
                        </a:rPr>
                        <a:t>the **definition**</a:t>
                      </a:r>
                    </a:p>
                  </a:txBody>
                  <a:tcPr marL="82296" marR="64008" marT="32004" marB="32004" anchor="ctr">
                    <a:solidFill>
                      <a:srgbClr val="FFFFFF"/>
                    </a:solidFill>
                  </a:tcPr>
                </a:tc>
                <a:tc>
                  <a:txBody>
                    <a:bodyPr wrap="square"/>
                    <a:lstStyle/>
                    <a:p>
                      <a:pPr algn="l"/>
                      <a:r>
                        <a:rPr sz="950" b="0">
                          <a:solidFill>
                            <a:srgbClr val="0E1726"/>
                          </a:solidFill>
                          <a:latin typeface="Calibri"/>
                        </a:rPr>
                        <a:t>an edited cube. A fingerprint of validated content --- there is no field to forget to bump, and reformatting the file changes nothing</a:t>
                      </a:r>
                    </a:p>
                  </a:txBody>
                  <a:tcPr marL="82296" marR="64008" marT="32004" marB="32004" anchor="ctr">
                    <a:solidFill>
                      <a:srgbClr val="FFFFFF"/>
                    </a:solidFill>
                  </a:tcPr>
                </a:tc>
              </a:tr>
              <a:tr h="310896">
                <a:tc>
                  <a:txBody>
                    <a:bodyPr wrap="square"/>
                    <a:lstStyle/>
                    <a:p>
                      <a:pPr algn="l"/>
                      <a:r>
                        <a:rPr sz="950" b="0">
                          <a:solidFill>
                            <a:srgbClr val="0E1726"/>
                          </a:solidFill>
                          <a:latin typeface="Calibri"/>
                        </a:rPr>
                        <a:t>the **snapshot**</a:t>
                      </a:r>
                    </a:p>
                  </a:txBody>
                  <a:tcPr marL="82296" marR="64008" marT="32004" marB="32004" anchor="ctr">
                    <a:solidFill>
                      <a:srgbClr val="FBFAF7"/>
                    </a:solidFill>
                  </a:tcPr>
                </a:tc>
                <a:tc>
                  <a:txBody>
                    <a:bodyPr wrap="square"/>
                    <a:lstStyle/>
                    <a:p>
                      <a:pPr algn="l"/>
                      <a:r>
                        <a:rPr sz="950" b="0">
                          <a:solidFill>
                            <a:srgbClr val="0E1726"/>
                          </a:solidFill>
                          <a:latin typeface="Calibri"/>
                        </a:rPr>
                        <a:t>a new commit. Files are immutable, so a commit produces a **miss**, never a stale hit</a:t>
                      </a:r>
                    </a:p>
                  </a:txBody>
                  <a:tcPr marL="82296" marR="64008" marT="32004" marB="32004" anchor="ctr">
                    <a:solidFill>
                      <a:srgbClr val="FBFAF7"/>
                    </a:solidFill>
                  </a:tcPr>
                </a:tc>
              </a:tr>
              <a:tr h="310896">
                <a:tc>
                  <a:txBody>
                    <a:bodyPr wrap="square"/>
                    <a:lstStyle/>
                    <a:p>
                      <a:pPr algn="l"/>
                      <a:r>
                        <a:rPr sz="950" b="0">
                          <a:solidFill>
                            <a:srgbClr val="0E1726"/>
                          </a:solidFill>
                          <a:latin typeface="Calibri"/>
                        </a:rPr>
                        <a:t>the **scope**</a:t>
                      </a:r>
                    </a:p>
                  </a:txBody>
                  <a:tcPr marL="82296" marR="64008" marT="32004" marB="32004" anchor="ctr">
                    <a:solidFill>
                      <a:srgbClr val="FFFFFF"/>
                    </a:solidFill>
                  </a:tcPr>
                </a:tc>
                <a:tc>
                  <a:txBody>
                    <a:bodyPr wrap="square"/>
                    <a:lstStyle/>
                    <a:p>
                      <a:pPr algn="l"/>
                      <a:r>
                        <a:rPr sz="950" b="0">
                          <a:solidFill>
                            <a:srgbClr val="0E1726"/>
                          </a:solidFill>
                          <a:latin typeface="Calibri"/>
                        </a:rPr>
                        <a:t>disclosure through arithmetic. Two entitlement sets are two *tables* --- separate files, separate names</a:t>
                      </a:r>
                    </a:p>
                  </a:txBody>
                  <a:tcPr marL="82296" marR="64008" marT="32004" marB="32004" anchor="ctr">
                    <a:solidFill>
                      <a:srgbClr val="FFFFFF"/>
                    </a:solidFill>
                  </a:tcPr>
                </a:tc>
              </a:tr>
              <a:tr h="470128">
                <a:tc>
                  <a:txBody>
                    <a:bodyPr wrap="square"/>
                    <a:lstStyle/>
                    <a:p>
                      <a:pPr algn="l"/>
                      <a:r>
                        <a:rPr sz="950" b="0">
                          <a:solidFill>
                            <a:srgbClr val="0E1726"/>
                          </a:solidFill>
                          <a:latin typeface="Calibri"/>
                        </a:rPr>
                        <a:t>the **measure**</a:t>
                      </a:r>
                    </a:p>
                  </a:txBody>
                  <a:tcPr marL="82296" marR="64008" marT="32004" marB="32004" anchor="ctr">
                    <a:solidFill>
                      <a:srgbClr val="FBFAF7"/>
                    </a:solidFill>
                  </a:tcPr>
                </a:tc>
                <a:tc>
                  <a:txBody>
                    <a:bodyPr wrap="square"/>
                    <a:lstStyle/>
                    <a:p>
                      <a:pPr algn="l"/>
                      <a:r>
                        <a:rPr sz="950" b="0">
                          <a:solidFill>
                            <a:srgbClr val="0E1726"/>
                          </a:solidFill>
                          <a:latin typeface="Calibri"/>
                        </a:rPr>
                        <a:t>one cuboid answering for two measures. Without it the first measure wrote each shape and every later read was labelled with whatever came back</a:t>
                      </a:r>
                    </a:p>
                  </a:txBody>
                  <a:tcPr marL="82296" marR="64008" marT="32004" marB="32004" anchor="ctr">
                    <a:solidFill>
                      <a:srgbClr val="FBFAF7"/>
                    </a:solidFill>
                  </a:tcPr>
                </a:tc>
              </a:tr>
              <a:tr h="310896">
                <a:tc>
                  <a:txBody>
                    <a:bodyPr wrap="square"/>
                    <a:lstStyle/>
                    <a:p>
                      <a:pPr algn="l"/>
                      <a:r>
                        <a:rPr sz="950" b="0">
                          <a:solidFill>
                            <a:srgbClr val="0E1726"/>
                          </a:solidFill>
                          <a:latin typeface="Calibri"/>
                        </a:rPr>
                        <a:t>the **cuboid shape**</a:t>
                      </a:r>
                    </a:p>
                  </a:txBody>
                  <a:tcPr marL="82296" marR="64008" marT="32004" marB="32004" anchor="ctr">
                    <a:solidFill>
                      <a:srgbClr val="FFFFFF"/>
                    </a:solidFill>
                  </a:tcPr>
                </a:tc>
                <a:tc>
                  <a:txBody>
                    <a:bodyPr wrap="square"/>
                    <a:lstStyle/>
                    <a:p>
                      <a:pPr algn="l"/>
                      <a:r>
                        <a:rPr sz="950" b="0">
                          <a:solidFill>
                            <a:srgbClr val="0E1726"/>
                          </a:solidFill>
                          <a:latin typeface="Calibri"/>
                        </a:rPr>
                        <a:t>answering the wrong grain</a:t>
                      </a:r>
                    </a:p>
                  </a:txBody>
                  <a:tcPr marL="82296" marR="64008" marT="32004" marB="32004" anchor="ctr">
                    <a:solidFill>
                      <a:srgbClr val="FFFFFF"/>
                    </a:solidFill>
                  </a:tcPr>
                </a:tc>
              </a:tr>
            </a:tbl>
          </a:graphicData>
        </a:graphic>
      </p:graphicFrame>
      <p:sp>
        <p:nvSpPr>
          <p:cNvPr id="11" name="TextBox 10"/>
          <p:cNvSpPr txBox="1"/>
          <p:nvPr/>
        </p:nvSpPr>
        <p:spPr>
          <a:xfrm>
            <a:off x="777240" y="3615664"/>
            <a:ext cx="10637215" cy="1463040"/>
          </a:xfrm>
          <a:prstGeom prst="rect">
            <a:avLst/>
          </a:prstGeom>
          <a:noFill/>
        </p:spPr>
        <p:txBody>
          <a:bodyPr wrap="square" lIns="0" rIns="0" tIns="0" bIns="0" anchor="t">
            <a:spAutoFit/>
          </a:bodyPr>
          <a:lstStyle/>
          <a:p>
            <a:pPr algn="l">
              <a:lnSpc>
                <a:spcPct val="128000"/>
              </a:lnSpc>
              <a:spcBef>
                <a:spcPts val="0"/>
              </a:spcBef>
              <a:spcAft>
                <a:spcPts val="1000"/>
              </a:spcAft>
            </a:pPr>
            <a:r>
              <a:rPr sz="1150" b="1" i="0">
                <a:solidFill>
                  <a:srgbClr val="1E3A6E"/>
                </a:solidFill>
                <a:latin typeface="Calibri"/>
              </a:rPr>
              <a:t>There is no invalidation protocol, no TTL to tune, and no window in which something old is served. </a:t>
            </a:r>
            <a:r>
              <a:rPr sz="1150" b="0" i="0">
                <a:solidFill>
                  <a:srgbClr val="444F60"/>
                </a:solidFill>
                <a:latin typeface="Calibri"/>
              </a:rPr>
              <a:t>That is what makes automatic selection safe: being wrong about what to cache costs latency, never correctness. A cuboid past its staleness target is not served as though it were fresh --- the answer falls back to live aggregation and says `materialised = false` on the row.</a:t>
            </a:r>
          </a:p>
          <a:p>
            <a:pPr>
              <a:lnSpc>
                <a:spcPct val="128000"/>
              </a:lnSpc>
              <a:spcBef>
                <a:spcPts val="0"/>
              </a:spcBef>
              <a:spcAft>
                <a:spcPts val="0"/>
              </a:spcAft>
            </a:pPr>
            <a:r>
              <a:rPr sz="1150" b="1" i="0">
                <a:solidFill>
                  <a:srgbClr val="1E3A6E"/>
                </a:solidFill>
                <a:latin typeface="Calibri"/>
              </a:rPr>
              <a:t>And a cuboid is an ordinary published table. </a:t>
            </a:r>
            <a:r>
              <a:rPr sz="1150" b="0" i="0">
                <a:solidFill>
                  <a:srgbClr val="444F60"/>
                </a:solidFill>
                <a:latin typeface="Calibri"/>
              </a:rPr>
              <a:t>The fast path gets no exception from the open-format rule --- it is written by maintenance, through the same publish path as everything else, and an external reader can read it.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CUBOIDS · IDENTICAL, NOT CLOSE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The invariant, and what it cost to hold</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14 · Cuboids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43</a:t>
            </a:r>
          </a:p>
        </p:txBody>
      </p:sp>
      <p:sp>
        <p:nvSpPr>
          <p:cNvPr id="10" name="TextBox 9"/>
          <p:cNvSpPr txBox="1"/>
          <p:nvPr/>
        </p:nvSpPr>
        <p:spPr>
          <a:xfrm>
            <a:off x="777240" y="1353312"/>
            <a:ext cx="10637215" cy="1051560"/>
          </a:xfrm>
          <a:prstGeom prst="rect">
            <a:avLst/>
          </a:prstGeom>
          <a:noFill/>
        </p:spPr>
        <p:txBody>
          <a:bodyPr wrap="square" lIns="0" rIns="0" tIns="0" bIns="0" anchor="t">
            <a:spAutoFit/>
          </a:bodyPr>
          <a:lstStyle/>
          <a:p>
            <a:pPr algn="l">
              <a:lnSpc>
                <a:spcPct val="128000"/>
              </a:lnSpc>
              <a:spcBef>
                <a:spcPts val="0"/>
              </a:spcBef>
              <a:spcAft>
                <a:spcPts val="0"/>
              </a:spcAft>
            </a:pPr>
            <a:r>
              <a:rPr sz="1150" b="1" i="0">
                <a:solidFill>
                  <a:srgbClr val="1E3A6E"/>
                </a:solidFill>
                <a:latin typeface="Calibri"/>
              </a:rPr>
              <a:t>Every query returns bit-identical results with materialisation on and off. </a:t>
            </a:r>
            <a:r>
              <a:rPr sz="1150" b="0" i="0">
                <a:solidFill>
                  <a:srgbClr val="444F60"/>
                </a:solidFill>
                <a:latin typeface="Calibri"/>
              </a:rPr>
              <a:t>Not close --- identical. Materialisation changes **where** an answer is computed, never what it is. It was not free: a cube rolls up in stages and every stage rounds, so rounding a sum of rounded partials is not rounding the whole sum. Fixing the summation *order* does nothing about **associativity**, and a stored cuboid is precisely a re-association.</a:t>
            </a:r>
          </a:p>
        </p:txBody>
      </p:sp>
      <p:sp>
        <p:nvSpPr>
          <p:cNvPr id="11" name="Rectangle 10"/>
          <p:cNvSpPr/>
          <p:nvPr/>
        </p:nvSpPr>
        <p:spPr>
          <a:xfrm>
            <a:off x="777240" y="2542032"/>
            <a:ext cx="10637215" cy="91440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2542032"/>
            <a:ext cx="41148" cy="91440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2660904"/>
            <a:ext cx="10180015" cy="6949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1E3A6E"/>
                </a:solidFill>
                <a:latin typeface="Calibri"/>
              </a:rPr>
              <a:t>The measured difference was one unit in the last place. </a:t>
            </a:r>
            <a:r>
              <a:rPr sz="1050" b="0" i="0">
                <a:solidFill>
                  <a:srgbClr val="0E1726"/>
                </a:solidFill>
                <a:latin typeface="Calibri"/>
              </a:rPr>
              <a:t>Which is the worst possible size --- large enough for two reports to disagree by a penny, small enough that nobody can point at a defect. A sum is therefore stored **unrounded**, as an exact expansion, and rounded once when it is read.</a:t>
            </a:r>
          </a:p>
        </p:txBody>
      </p:sp>
      <p:graphicFrame>
        <p:nvGraphicFramePr>
          <p:cNvPr id="14" name="Table 13"/>
          <p:cNvGraphicFramePr>
            <a:graphicFrameLocks noGrp="1"/>
          </p:cNvGraphicFramePr>
          <p:nvPr/>
        </p:nvGraphicFramePr>
        <p:xfrm>
          <a:off x="777240" y="3593592"/>
          <a:ext cx="10637214" cy="1404061"/>
        </p:xfrm>
        <a:graphic>
          <a:graphicData uri="http://schemas.openxmlformats.org/drawingml/2006/table">
            <a:tbl>
              <a:tblPr firstRow="1">
                <a:tableStyleId>{5C22544A-7EE6-4342-B048-85BDC9FD1C3A}</a:tableStyleId>
              </a:tblPr>
              <a:tblGrid>
                <a:gridCol w="4515798"/>
                <a:gridCol w="6121416"/>
              </a:tblGrid>
              <a:tr h="329184">
                <a:tc>
                  <a:txBody>
                    <a:bodyPr wrap="square"/>
                    <a:lstStyle/>
                    <a:p>
                      <a:pPr algn="l"/>
                      <a:r>
                        <a:rPr sz="950" b="1">
                          <a:solidFill>
                            <a:srgbClr val="FFFFFF"/>
                          </a:solidFill>
                          <a:latin typeface="Calibri"/>
                        </a:rPr>
                        <a:t>The test</a:t>
                      </a:r>
                    </a:p>
                  </a:txBody>
                  <a:tcPr marL="82296" marR="64008" marT="32004" marB="32004" anchor="ctr">
                    <a:solidFill>
                      <a:srgbClr val="1E3A6E"/>
                    </a:solidFill>
                  </a:tcPr>
                </a:tc>
                <a:tc>
                  <a:txBody>
                    <a:bodyPr wrap="square"/>
                    <a:lstStyle/>
                    <a:p>
                      <a:pPr algn="l"/>
                      <a:r>
                        <a:rPr sz="950" b="1">
                          <a:solidFill>
                            <a:srgbClr val="FFFFFF"/>
                          </a:solidFill>
                          <a:latin typeface="Calibri"/>
                        </a:rPr>
                        <a:t>What it pins</a:t>
                      </a:r>
                    </a:p>
                  </a:txBody>
                  <a:tcPr marL="82296" marR="64008" marT="32004" marB="32004" anchor="ctr">
                    <a:solidFill>
                      <a:srgbClr val="1E3A6E"/>
                    </a:solidFill>
                  </a:tcPr>
                </a:tc>
              </a:tr>
              <a:tr h="310896">
                <a:tc>
                  <a:txBody>
                    <a:bodyPr wrap="square"/>
                    <a:lstStyle/>
                    <a:p>
                      <a:pPr algn="l"/>
                      <a:r>
                        <a:rPr sz="900" b="0">
                          <a:solidFill>
                            <a:srgbClr val="0E1726"/>
                          </a:solidFill>
                          <a:latin typeface="Calibri"/>
                        </a:rPr>
                        <a:t>`a_session_may_ask_for_the_base_data_and_get_the_same_answer`</a:t>
                      </a:r>
                    </a:p>
                  </a:txBody>
                  <a:tcPr marL="82296" marR="64008" marT="32004" marB="32004" anchor="ctr">
                    <a:solidFill>
                      <a:srgbClr val="FFFFFF"/>
                    </a:solidFill>
                  </a:tcPr>
                </a:tc>
                <a:tc>
                  <a:txBody>
                    <a:bodyPr wrap="square"/>
                    <a:lstStyle/>
                    <a:p>
                      <a:pPr algn="l"/>
                      <a:r>
                        <a:rPr sz="900" b="0">
                          <a:solidFill>
                            <a:srgbClr val="0E1726"/>
                          </a:solidFill>
                          <a:latin typeface="Calibri"/>
                        </a:rPr>
                        <a:t>the invariant itself --- it compares the raw bits of the two paths</a:t>
                      </a:r>
                    </a:p>
                  </a:txBody>
                  <a:tcPr marL="82296" marR="64008" marT="32004" marB="32004" anchor="ctr">
                    <a:solidFill>
                      <a:srgbClr val="FFFFFF"/>
                    </a:solidFill>
                  </a:tcPr>
                </a:tc>
              </a:tr>
              <a:tr h="453085">
                <a:tc>
                  <a:txBody>
                    <a:bodyPr wrap="square"/>
                    <a:lstStyle/>
                    <a:p>
                      <a:pPr algn="l"/>
                      <a:r>
                        <a:rPr sz="900" b="0">
                          <a:solidFill>
                            <a:srgbClr val="0E1726"/>
                          </a:solidFill>
                          <a:latin typeface="Calibri"/>
                        </a:rPr>
                        <a:t>`a_session_that_asks_for_the_base_data_is_not_served_a_cuboid`</a:t>
                      </a:r>
                    </a:p>
                  </a:txBody>
                  <a:tcPr marL="82296" marR="64008" marT="32004" marB="32004" anchor="ctr">
                    <a:solidFill>
                      <a:srgbClr val="FBFAF7"/>
                    </a:solidFill>
                  </a:tcPr>
                </a:tc>
                <a:tc>
                  <a:txBody>
                    <a:bodyPr wrap="square"/>
                    <a:lstStyle/>
                    <a:p>
                      <a:pPr algn="l"/>
                      <a:r>
                        <a:rPr sz="900" b="0">
                          <a:solidFill>
                            <a:srgbClr val="0E1726"/>
                          </a:solidFill>
                          <a:latin typeface="Calibri"/>
                        </a:rPr>
                        <a:t>that the test above is not trivial: it deletes the fact files, so the base path must **fail** rather than be quietly handed the cuboid</a:t>
                      </a:r>
                    </a:p>
                  </a:txBody>
                  <a:tcPr marL="82296" marR="64008" marT="32004" marB="32004" anchor="ctr">
                    <a:solidFill>
                      <a:srgbClr val="FBFAF7"/>
                    </a:solidFill>
                  </a:tcPr>
                </a:tc>
              </a:tr>
              <a:tr h="310896">
                <a:tc>
                  <a:txBody>
                    <a:bodyPr wrap="square"/>
                    <a:lstStyle/>
                    <a:p>
                      <a:pPr algn="l"/>
                      <a:r>
                        <a:rPr sz="900" b="0">
                          <a:solidFill>
                            <a:srgbClr val="0E1726"/>
                          </a:solidFill>
                          <a:latin typeface="Calibri"/>
                        </a:rPr>
                        <a:t>`a_maintained_measure_answers_its_rule_and_not_the_sum`</a:t>
                      </a:r>
                    </a:p>
                  </a:txBody>
                  <a:tcPr marL="82296" marR="64008" marT="32004" marB="32004" anchor="ctr">
                    <a:solidFill>
                      <a:srgbClr val="FFFFFF"/>
                    </a:solidFill>
                  </a:tcPr>
                </a:tc>
                <a:tc>
                  <a:txBody>
                    <a:bodyPr wrap="square"/>
                    <a:lstStyle/>
                    <a:p>
                      <a:pPr algn="l"/>
                      <a:r>
                        <a:rPr sz="900" b="0">
                          <a:solidFill>
                            <a:srgbClr val="0E1726"/>
                          </a:solidFill>
                          <a:latin typeface="Calibri"/>
                        </a:rPr>
                        <a:t>the same cube declared both ways, compared for MAX, MIN and MEAN</a:t>
                      </a:r>
                    </a:p>
                  </a:txBody>
                  <a:tcPr marL="82296" marR="64008" marT="32004" marB="32004" anchor="ctr">
                    <a:solidFill>
                      <a:srgbClr val="FFFFFF"/>
                    </a:solidFill>
                  </a:tcPr>
                </a:tc>
              </a:tr>
            </a:tbl>
          </a:graphicData>
        </a:graphic>
      </p:graphicFrame>
      <p:sp>
        <p:nvSpPr>
          <p:cNvPr id="15" name="TextBox 14"/>
          <p:cNvSpPr txBox="1"/>
          <p:nvPr/>
        </p:nvSpPr>
        <p:spPr>
          <a:xfrm>
            <a:off x="777240" y="5180533"/>
            <a:ext cx="10637215" cy="548640"/>
          </a:xfrm>
          <a:prstGeom prst="rect">
            <a:avLst/>
          </a:prstGeom>
          <a:noFill/>
        </p:spPr>
        <p:txBody>
          <a:bodyPr wrap="square" lIns="0" rIns="0" tIns="0" bIns="0" anchor="t">
            <a:spAutoFit/>
          </a:bodyPr>
          <a:lstStyle/>
          <a:p>
            <a:pPr algn="l">
              <a:lnSpc>
                <a:spcPct val="126000"/>
              </a:lnSpc>
              <a:spcBef>
                <a:spcPts val="0"/>
              </a:spcBef>
              <a:spcAft>
                <a:spcPts val="0"/>
              </a:spcAft>
            </a:pPr>
            <a:r>
              <a:rPr sz="1100" b="1" i="0">
                <a:solidFill>
                  <a:srgbClr val="1E3A6E"/>
                </a:solidFill>
                <a:latin typeface="Calibri"/>
              </a:rPr>
              <a:t>The habit to teach: </a:t>
            </a:r>
            <a:r>
              <a:rPr sz="1100" b="0" i="0">
                <a:solidFill>
                  <a:srgbClr val="444F60"/>
                </a:solidFill>
                <a:latin typeface="Calibri"/>
              </a:rPr>
              <a:t>run any figure you are going to defend twice, once with materialisation off. If they differ you have found a defect, not a tuning question.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EXTENSION · THE SURFACE</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A merge function of your own, behind a boundary built first</a:t>
            </a:r>
          </a:p>
        </p:txBody>
      </p:sp>
      <p:sp>
        <p:nvSpPr>
          <p:cNvPr id="6" name="Rectangle 5"/>
          <p:cNvSpPr/>
          <p:nvPr/>
        </p:nvSpPr>
        <p:spPr>
          <a:xfrm>
            <a:off x="777240" y="161848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15 · Cubes you define yourself</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44</a:t>
            </a:r>
          </a:p>
        </p:txBody>
      </p:sp>
      <p:sp>
        <p:nvSpPr>
          <p:cNvPr id="10" name="Rectangle 9"/>
          <p:cNvSpPr/>
          <p:nvPr/>
        </p:nvSpPr>
        <p:spPr>
          <a:xfrm>
            <a:off x="777240" y="1764792"/>
            <a:ext cx="5531351" cy="2496769"/>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764792"/>
            <a:ext cx="41148" cy="2496769"/>
          </a:xfrm>
          <a:prstGeom prst="rect">
            <a:avLst/>
          </a:prstGeom>
          <a:solidFill>
            <a:srgbClr val="444F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856231"/>
            <a:ext cx="5165591" cy="219456"/>
          </a:xfrm>
          <a:prstGeom prst="rect">
            <a:avLst/>
          </a:prstGeom>
          <a:noFill/>
        </p:spPr>
        <p:txBody>
          <a:bodyPr wrap="square" lIns="0" rIns="0" tIns="0" bIns="0" anchor="t">
            <a:spAutoFit/>
          </a:bodyPr>
          <a:lstStyle/>
          <a:p>
            <a:pPr algn="l">
              <a:spcBef>
                <a:spcPts val="0"/>
              </a:spcBef>
              <a:spcAft>
                <a:spcPts val="0"/>
              </a:spcAft>
            </a:pPr>
            <a:r>
              <a:rPr sz="900" b="1" i="0">
                <a:solidFill>
                  <a:srgbClr val="1E3A6E"/>
                </a:solidFill>
                <a:latin typeface="Calibri"/>
              </a:rPr>
              <a:t>a measure whose rule along one dimension is yours</a:t>
            </a:r>
          </a:p>
        </p:txBody>
      </p:sp>
      <p:sp>
        <p:nvSpPr>
          <p:cNvPr id="13" name="TextBox 12"/>
          <p:cNvSpPr txBox="1"/>
          <p:nvPr/>
        </p:nvSpPr>
        <p:spPr>
          <a:xfrm>
            <a:off x="978408" y="2157984"/>
            <a:ext cx="5165591" cy="2021281"/>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0E1726"/>
                </a:solidFill>
                <a:latin typeface="Consolas"/>
              </a:rPr>
              <a:t>CREATE AGGREGATION rms LANGUAGE PYTHON AS $$</a:t>
            </a:r>
          </a:p>
          <a:p>
            <a:pPr>
              <a:lnSpc>
                <a:spcPct val="134000"/>
              </a:lnSpc>
              <a:spcBef>
                <a:spcPts val="0"/>
              </a:spcBef>
              <a:spcAft>
                <a:spcPts val="0"/>
              </a:spcAft>
            </a:pPr>
            <a:r>
              <a:rPr sz="900" b="0" i="0">
                <a:solidFill>
                  <a:srgbClr val="0E1726"/>
                </a:solidFill>
                <a:latin typeface="Consolas"/>
              </a:rPr>
              <a:t>def merge(partials):</a:t>
            </a:r>
          </a:p>
          <a:p>
            <a:pPr>
              <a:lnSpc>
                <a:spcPct val="134000"/>
              </a:lnSpc>
              <a:spcBef>
                <a:spcPts val="0"/>
              </a:spcBef>
              <a:spcAft>
                <a:spcPts val="0"/>
              </a:spcAft>
            </a:pPr>
            <a:r>
              <a:rPr sz="900" b="0" i="0">
                <a:solidFill>
                  <a:srgbClr val="0E1726"/>
                </a:solidFill>
                <a:latin typeface="Consolas"/>
              </a:rPr>
              <a:t>    total = sum(p * p for p in partials)</a:t>
            </a:r>
          </a:p>
          <a:p>
            <a:pPr>
              <a:lnSpc>
                <a:spcPct val="134000"/>
              </a:lnSpc>
              <a:spcBef>
                <a:spcPts val="0"/>
              </a:spcBef>
              <a:spcAft>
                <a:spcPts val="0"/>
              </a:spcAft>
            </a:pPr>
            <a:r>
              <a:rPr sz="900" b="0" i="0">
                <a:solidFill>
                  <a:srgbClr val="0E1726"/>
                </a:solidFill>
                <a:latin typeface="Consolas"/>
              </a:rPr>
              <a:t>    return (total / len(partials)) ** 0.5</a:t>
            </a:r>
          </a:p>
          <a:p>
            <a:pPr>
              <a:lnSpc>
                <a:spcPct val="134000"/>
              </a:lnSpc>
              <a:spcBef>
                <a:spcPts val="0"/>
              </a:spcBef>
              <a:spcAft>
                <a:spcPts val="0"/>
              </a:spcAft>
            </a:pPr>
            <a:r>
              <a:rPr sz="900" b="0" i="0">
                <a:solidFill>
                  <a:srgbClr val="0E1726"/>
                </a:solidFill>
                <a:latin typeface="Consolas"/>
              </a:rPr>
              <a:t>$$;</a:t>
            </a:r>
          </a:p>
          <a:p>
            <a:pPr>
              <a:lnSpc>
                <a:spcPct val="134000"/>
              </a:lnSpc>
              <a:spcBef>
                <a:spcPts val="0"/>
              </a:spcBef>
              <a:spcAft>
                <a:spcPts val="0"/>
              </a:spcAft>
            </a:pPr>
            <a:r>
              <a:rPr sz="900" b="0" i="0">
                <a:solidFill>
                  <a:srgbClr val="0E1726"/>
                </a:solidFill>
                <a:latin typeface="Consolas"/>
              </a:rPr>
              <a:t> </a:t>
            </a:r>
          </a:p>
          <a:p>
            <a:pPr>
              <a:lnSpc>
                <a:spcPct val="134000"/>
              </a:lnSpc>
              <a:spcBef>
                <a:spcPts val="0"/>
              </a:spcBef>
              <a:spcAft>
                <a:spcPts val="0"/>
              </a:spcAft>
            </a:pPr>
            <a:r>
              <a:rPr sz="900" b="0" i="0">
                <a:solidFill>
                  <a:srgbClr val="0E1726"/>
                </a:solidFill>
                <a:latin typeface="Consolas"/>
              </a:rPr>
              <a:t>CREATE CUBE risk_q FROM risk.positions</a:t>
            </a:r>
          </a:p>
          <a:p>
            <a:pPr>
              <a:lnSpc>
                <a:spcPct val="134000"/>
              </a:lnSpc>
              <a:spcBef>
                <a:spcPts val="0"/>
              </a:spcBef>
              <a:spcAft>
                <a:spcPts val="0"/>
              </a:spcAft>
            </a:pPr>
            <a:r>
              <a:rPr sz="900" b="0" i="0">
                <a:solidFill>
                  <a:srgbClr val="0E1726"/>
                </a:solidFill>
                <a:latin typeface="Consolas"/>
              </a:rPr>
              <a:t>  DIMENSION book FROM risk.positions ON book</a:t>
            </a:r>
          </a:p>
          <a:p>
            <a:pPr>
              <a:lnSpc>
                <a:spcPct val="134000"/>
              </a:lnSpc>
              <a:spcBef>
                <a:spcPts val="0"/>
              </a:spcBef>
              <a:spcAft>
                <a:spcPts val="0"/>
              </a:spcAft>
            </a:pPr>
            <a:r>
              <a:rPr sz="900" b="0" i="0">
                <a:solidFill>
                  <a:srgbClr val="0E1726"/>
                </a:solidFill>
                <a:latin typeface="Consolas"/>
              </a:rPr>
              <a:t>            (LEVEL desk = book)</a:t>
            </a:r>
          </a:p>
          <a:p>
            <a:pPr>
              <a:lnSpc>
                <a:spcPct val="134000"/>
              </a:lnSpc>
              <a:spcBef>
                <a:spcPts val="0"/>
              </a:spcBef>
              <a:spcAft>
                <a:spcPts val="0"/>
              </a:spcAft>
            </a:pPr>
            <a:r>
              <a:rPr sz="900" b="0" i="0">
                <a:solidFill>
                  <a:srgbClr val="0E1726"/>
                </a:solidFill>
                <a:latin typeface="Consolas"/>
              </a:rPr>
              <a:t>  MEASURE exposure (AGGREGATION rms ALONG book);</a:t>
            </a:r>
          </a:p>
        </p:txBody>
      </p:sp>
      <p:sp>
        <p:nvSpPr>
          <p:cNvPr id="14" name="TextBox 13"/>
          <p:cNvSpPr txBox="1"/>
          <p:nvPr/>
        </p:nvSpPr>
        <p:spPr>
          <a:xfrm>
            <a:off x="6734080" y="1764792"/>
            <a:ext cx="4680374" cy="3108960"/>
          </a:xfrm>
          <a:prstGeom prst="rect">
            <a:avLst/>
          </a:prstGeom>
          <a:noFill/>
        </p:spPr>
        <p:txBody>
          <a:bodyPr wrap="square" lIns="0" rIns="0" tIns="0" bIns="0" anchor="t">
            <a:spAutoFit/>
          </a:bodyPr>
          <a:lstStyle/>
          <a:p>
            <a:pPr algn="l">
              <a:spcBef>
                <a:spcPts val="0"/>
              </a:spcBef>
              <a:spcAft>
                <a:spcPts val="800"/>
              </a:spcAft>
            </a:pPr>
            <a:r>
              <a:rPr sz="1200" b="1" i="0">
                <a:solidFill>
                  <a:srgbClr val="1E3A6E"/>
                </a:solidFill>
                <a:latin typeface="Calibri"/>
              </a:rPr>
              <a:t>The order the work was done in is the point.</a:t>
            </a:r>
          </a:p>
          <a:p>
            <a:pPr>
              <a:spcBef>
                <a:spcPts val="0"/>
              </a:spcBef>
              <a:spcAft>
                <a:spcPts val="700"/>
              </a:spcAft>
            </a:pPr>
            <a:r>
              <a:rPr sz="1000" b="1">
                <a:solidFill>
                  <a:srgbClr val="1E3A6E"/>
                </a:solidFill>
                <a:latin typeface="Calibri"/>
              </a:rPr>
              <a:t>▪  </a:t>
            </a:r>
            <a:r>
              <a:rPr sz="1000">
                <a:solidFill>
                  <a:srgbClr val="0E1726"/>
                </a:solidFill>
                <a:latin typeface="Calibri"/>
              </a:rPr>
              <a:t>The sandbox a user-supplied function runs in was **decided and built before** the surface that uses it --- namespaces, mounts and resource limits applied between fork and exec.</a:t>
            </a:r>
          </a:p>
          <a:p>
            <a:pPr>
              <a:spcBef>
                <a:spcPts val="0"/>
              </a:spcBef>
              <a:spcAft>
                <a:spcPts val="700"/>
              </a:spcAft>
            </a:pPr>
            <a:r>
              <a:rPr sz="1000" b="1">
                <a:solidFill>
                  <a:srgbClr val="1E3A6E"/>
                </a:solidFill>
                <a:latin typeface="Calibri"/>
              </a:rPr>
              <a:t>▪  </a:t>
            </a:r>
            <a:r>
              <a:rPr sz="1000">
                <a:solidFill>
                  <a:srgbClr val="0E1726"/>
                </a:solidFill>
                <a:latin typeface="Calibri"/>
              </a:rPr>
              <a:t>Accepting such a statement is off unless an operator turns it on. The safe posture is the one you get by not thinking.</a:t>
            </a:r>
          </a:p>
          <a:p>
            <a:pPr>
              <a:spcBef>
                <a:spcPts val="0"/>
              </a:spcBef>
              <a:spcAft>
                <a:spcPts val="700"/>
              </a:spcAft>
            </a:pPr>
            <a:r>
              <a:rPr sz="1000" b="1">
                <a:solidFill>
                  <a:srgbClr val="1E3A6E"/>
                </a:solidFill>
                <a:latin typeface="Calibri"/>
              </a:rPr>
              <a:t>▪  </a:t>
            </a:r>
            <a:r>
              <a:rPr sz="1000">
                <a:solidFill>
                  <a:srgbClr val="0E1726"/>
                </a:solidFill>
                <a:latin typeface="Calibri"/>
              </a:rPr>
              <a:t>A named aggregation must exist on **this** server at the moment the cube is declared --- a cube referring to a function nobody has loaded is refused at declaration rather than at the first query.</a:t>
            </a:r>
          </a:p>
          <a:p>
            <a:pPr>
              <a:spcBef>
                <a:spcPts val="0"/>
              </a:spcBef>
              <a:spcAft>
                <a:spcPts val="700"/>
              </a:spcAft>
            </a:pPr>
            <a:r>
              <a:rPr sz="1000" b="1">
                <a:solidFill>
                  <a:srgbClr val="1E3A6E"/>
                </a:solidFill>
                <a:latin typeface="Calibri"/>
              </a:rPr>
              <a:t>▪  </a:t>
            </a:r>
            <a:r>
              <a:rPr sz="1000">
                <a:solidFill>
                  <a:srgbClr val="0E1726"/>
                </a:solidFill>
                <a:latin typeface="Calibri"/>
              </a:rPr>
              <a:t>A rule with no reduction from partials is **not materialised at all**, rather than written as a zero. Materialisation must not turn a refusal into a number.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2191695" cy="9144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417320"/>
            <a:ext cx="10637215" cy="457200"/>
          </a:xfrm>
          <a:prstGeom prst="rect">
            <a:avLst/>
          </a:prstGeom>
          <a:noFill/>
        </p:spPr>
        <p:txBody>
          <a:bodyPr wrap="square" lIns="0" rIns="0" tIns="0" bIns="0" anchor="t">
            <a:spAutoFit/>
          </a:bodyPr>
          <a:lstStyle/>
          <a:p>
            <a:pPr algn="l">
              <a:spcBef>
                <a:spcPts val="0"/>
              </a:spcBef>
              <a:spcAft>
                <a:spcPts val="0"/>
              </a:spcAft>
            </a:pPr>
            <a:r>
              <a:rPr sz="1300" b="1" i="0">
                <a:solidFill>
                  <a:srgbClr val="1E3A6E"/>
                </a:solidFill>
                <a:latin typeface="Calibri"/>
              </a:rPr>
              <a:t>PART IV</a:t>
            </a:r>
          </a:p>
        </p:txBody>
      </p:sp>
      <p:sp>
        <p:nvSpPr>
          <p:cNvPr id="5" name="TextBox 4"/>
          <p:cNvSpPr txBox="1"/>
          <p:nvPr/>
        </p:nvSpPr>
        <p:spPr>
          <a:xfrm>
            <a:off x="1005840" y="1965960"/>
            <a:ext cx="6807817" cy="1280160"/>
          </a:xfrm>
          <a:prstGeom prst="rect">
            <a:avLst/>
          </a:prstGeom>
          <a:noFill/>
        </p:spPr>
        <p:txBody>
          <a:bodyPr wrap="square" lIns="0" rIns="0" tIns="0" bIns="0" anchor="t">
            <a:spAutoFit/>
          </a:bodyPr>
          <a:lstStyle/>
          <a:p>
            <a:pPr algn="l">
              <a:spcBef>
                <a:spcPts val="0"/>
              </a:spcBef>
              <a:spcAft>
                <a:spcPts val="0"/>
              </a:spcAft>
            </a:pPr>
            <a:r>
              <a:rPr sz="4600" b="0" i="0">
                <a:solidFill>
                  <a:srgbClr val="FFFFFF"/>
                </a:solidFill>
                <a:latin typeface="Georgia"/>
              </a:rPr>
              <a:t>Versions and copies</a:t>
            </a:r>
          </a:p>
        </p:txBody>
      </p:sp>
      <p:sp>
        <p:nvSpPr>
          <p:cNvPr id="6" name="Rectangle 5"/>
          <p:cNvSpPr/>
          <p:nvPr/>
        </p:nvSpPr>
        <p:spPr>
          <a:xfrm>
            <a:off x="1005840" y="3429000"/>
            <a:ext cx="1645920" cy="36576"/>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703320"/>
            <a:ext cx="6382329" cy="1005840"/>
          </a:xfrm>
          <a:prstGeom prst="rect">
            <a:avLst/>
          </a:prstGeom>
          <a:noFill/>
        </p:spPr>
        <p:txBody>
          <a:bodyPr wrap="square" lIns="0" rIns="0" tIns="0" bIns="0" anchor="t">
            <a:spAutoFit/>
          </a:bodyPr>
          <a:lstStyle/>
          <a:p>
            <a:pPr algn="l">
              <a:lnSpc>
                <a:spcPct val="130000"/>
              </a:lnSpc>
              <a:spcBef>
                <a:spcPts val="0"/>
              </a:spcBef>
              <a:spcAft>
                <a:spcPts val="0"/>
              </a:spcAft>
            </a:pPr>
            <a:r>
              <a:rPr sz="1600" b="0" i="1">
                <a:solidFill>
                  <a:srgbClr val="C8C2BA"/>
                </a:solidFill>
                <a:latin typeface="Calibri"/>
              </a:rPr>
              <a:t>time travel, snapshots, and a clone that costs nothing</a:t>
            </a:r>
          </a:p>
        </p:txBody>
      </p:sp>
      <p:sp>
        <p:nvSpPr>
          <p:cNvPr id="8" name="TextBox 7"/>
          <p:cNvSpPr txBox="1"/>
          <p:nvPr/>
        </p:nvSpPr>
        <p:spPr>
          <a:xfrm>
            <a:off x="8010546" y="1463040"/>
            <a:ext cx="3403908" cy="4206240"/>
          </a:xfrm>
          <a:prstGeom prst="rect">
            <a:avLst/>
          </a:prstGeom>
          <a:noFill/>
        </p:spPr>
        <p:txBody>
          <a:bodyPr wrap="square" lIns="0" rIns="0" tIns="0" bIns="0" anchor="t">
            <a:spAutoFit/>
          </a:bodyPr>
          <a:lstStyle/>
          <a:p>
            <a:pPr algn="l">
              <a:spcBef>
                <a:spcPts val="0"/>
              </a:spcBef>
              <a:spcAft>
                <a:spcPts val="1200"/>
              </a:spcAft>
            </a:pPr>
            <a:r>
              <a:rPr sz="950" b="1" i="0">
                <a:solidFill>
                  <a:srgbClr val="1E3A6E"/>
                </a:solidFill>
                <a:latin typeface="Calibri"/>
              </a:rPr>
              <a:t>CHAPTERS</a:t>
            </a:r>
          </a:p>
          <a:p>
            <a:pPr>
              <a:lnSpc>
                <a:spcPct val="115000"/>
              </a:lnSpc>
              <a:spcBef>
                <a:spcPts val="0"/>
              </a:spcBef>
              <a:spcAft>
                <a:spcPts val="800"/>
              </a:spcAft>
            </a:pPr>
            <a:r>
              <a:rPr sz="1150" b="0" i="0">
                <a:solidFill>
                  <a:srgbClr val="E4DED6"/>
                </a:solidFill>
                <a:latin typeface="Calibri"/>
              </a:rPr>
              <a:t>16 · Time travel and named snapshots</a:t>
            </a:r>
          </a:p>
          <a:p>
            <a:pPr>
              <a:lnSpc>
                <a:spcPct val="115000"/>
              </a:lnSpc>
              <a:spcBef>
                <a:spcPts val="0"/>
              </a:spcBef>
              <a:spcAft>
                <a:spcPts val="800"/>
              </a:spcAft>
            </a:pPr>
            <a:r>
              <a:rPr sz="1150" b="0" i="0">
                <a:solidFill>
                  <a:srgbClr val="E4DED6"/>
                </a:solidFill>
                <a:latin typeface="Calibri"/>
              </a:rPr>
              <a:t>17 · Zero-copy clone, and the premise it breaks</a:t>
            </a:r>
          </a:p>
          <a:p>
            <a:pPr>
              <a:lnSpc>
                <a:spcPct val="115000"/>
              </a:lnSpc>
              <a:spcBef>
                <a:spcPts val="0"/>
              </a:spcBef>
              <a:spcAft>
                <a:spcPts val="800"/>
              </a:spcAft>
            </a:pPr>
            <a:r>
              <a:rPr sz="1150" b="0" i="0">
                <a:solidFill>
                  <a:srgbClr val="E4DED6"/>
                </a:solidFill>
                <a:latin typeface="Calibri"/>
              </a:rPr>
              <a:t>18 · Lineage, dependents and diffs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VERSIONS · TIME TRAVEL</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A position, on one table and across many</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16 · Time travel and named snapshots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46</a:t>
            </a:r>
          </a:p>
        </p:txBody>
      </p:sp>
      <p:sp>
        <p:nvSpPr>
          <p:cNvPr id="10" name="Rectangle 9"/>
          <p:cNvSpPr/>
          <p:nvPr/>
        </p:nvSpPr>
        <p:spPr>
          <a:xfrm>
            <a:off x="777240" y="1353312"/>
            <a:ext cx="4999491" cy="240027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400277"/>
          </a:xfrm>
          <a:prstGeom prst="rect">
            <a:avLst/>
          </a:prstGeom>
          <a:solidFill>
            <a:srgbClr val="444F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4633731" cy="219456"/>
          </a:xfrm>
          <a:prstGeom prst="rect">
            <a:avLst/>
          </a:prstGeom>
          <a:noFill/>
        </p:spPr>
        <p:txBody>
          <a:bodyPr wrap="square" lIns="0" rIns="0" tIns="0" bIns="0" anchor="t">
            <a:spAutoFit/>
          </a:bodyPr>
          <a:lstStyle/>
          <a:p>
            <a:pPr algn="l">
              <a:spcBef>
                <a:spcPts val="0"/>
              </a:spcBef>
              <a:spcAft>
                <a:spcPts val="0"/>
              </a:spcAft>
            </a:pPr>
            <a:r>
              <a:rPr sz="900" b="1" i="0">
                <a:solidFill>
                  <a:srgbClr val="1E3A6E"/>
                </a:solidFill>
                <a:latin typeface="Calibri"/>
              </a:rPr>
              <a:t>two scopes, one idea</a:t>
            </a:r>
          </a:p>
        </p:txBody>
      </p:sp>
      <p:sp>
        <p:nvSpPr>
          <p:cNvPr id="13" name="TextBox 12"/>
          <p:cNvSpPr txBox="1"/>
          <p:nvPr/>
        </p:nvSpPr>
        <p:spPr>
          <a:xfrm>
            <a:off x="978408" y="1746504"/>
            <a:ext cx="4633731" cy="1924789"/>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0E1726"/>
                </a:solidFill>
                <a:latin typeface="Consolas"/>
              </a:rPr>
              <a:t>-- one table, one position</a:t>
            </a:r>
          </a:p>
          <a:p>
            <a:pPr>
              <a:lnSpc>
                <a:spcPct val="134000"/>
              </a:lnSpc>
              <a:spcBef>
                <a:spcPts val="0"/>
              </a:spcBef>
              <a:spcAft>
                <a:spcPts val="0"/>
              </a:spcAft>
            </a:pPr>
            <a:r>
              <a:rPr sz="950" b="0" i="0">
                <a:solidFill>
                  <a:srgbClr val="0E1726"/>
                </a:solidFill>
                <a:latin typeface="Consolas"/>
              </a:rPr>
              <a:t>SET VERSION OF sales.orders = 4;</a:t>
            </a:r>
          </a:p>
          <a:p>
            <a:pPr>
              <a:lnSpc>
                <a:spcPct val="134000"/>
              </a:lnSpc>
              <a:spcBef>
                <a:spcPts val="0"/>
              </a:spcBef>
              <a:spcAft>
                <a:spcPts val="0"/>
              </a:spcAft>
            </a:pPr>
            <a:r>
              <a:rPr sz="950" b="0" i="0">
                <a:solidFill>
                  <a:srgbClr val="0E1726"/>
                </a:solidFill>
                <a:latin typeface="Consolas"/>
              </a:rPr>
              <a:t>SHOW HISTORY OF sales.orders;</a:t>
            </a:r>
          </a:p>
          <a:p>
            <a:pPr>
              <a:lnSpc>
                <a:spcPct val="134000"/>
              </a:lnSpc>
              <a:spcBef>
                <a:spcPts val="0"/>
              </a:spcBef>
              <a:spcAft>
                <a:spcPts val="0"/>
              </a:spcAft>
            </a:pPr>
            <a:r>
              <a:rPr sz="950" b="0" i="0">
                <a:solidFill>
                  <a:srgbClr val="0E1726"/>
                </a:solidFill>
                <a:latin typeface="Consolas"/>
              </a:rPr>
              <a:t> </a:t>
            </a:r>
          </a:p>
          <a:p>
            <a:pPr>
              <a:lnSpc>
                <a:spcPct val="134000"/>
              </a:lnSpc>
              <a:spcBef>
                <a:spcPts val="0"/>
              </a:spcBef>
              <a:spcAft>
                <a:spcPts val="0"/>
              </a:spcAft>
            </a:pPr>
            <a:r>
              <a:rPr sz="950" b="0" i="0">
                <a:solidFill>
                  <a:srgbClr val="0E1726"/>
                </a:solidFill>
                <a:latin typeface="Consolas"/>
              </a:rPr>
              <a:t>-- one position across many tables,</a:t>
            </a:r>
          </a:p>
          <a:p>
            <a:pPr>
              <a:lnSpc>
                <a:spcPct val="134000"/>
              </a:lnSpc>
              <a:spcBef>
                <a:spcPts val="0"/>
              </a:spcBef>
              <a:spcAft>
                <a:spcPts val="0"/>
              </a:spcAft>
            </a:pPr>
            <a:r>
              <a:rPr sz="950" b="0" i="0">
                <a:solidFill>
                  <a:srgbClr val="0E1726"/>
                </a:solidFill>
                <a:latin typeface="Consolas"/>
              </a:rPr>
              <a:t>-- durable across restart</a:t>
            </a:r>
          </a:p>
          <a:p>
            <a:pPr>
              <a:lnSpc>
                <a:spcPct val="134000"/>
              </a:lnSpc>
              <a:spcBef>
                <a:spcPts val="0"/>
              </a:spcBef>
              <a:spcAft>
                <a:spcPts val="0"/>
              </a:spcAft>
            </a:pPr>
            <a:r>
              <a:rPr sz="950" b="0" i="0">
                <a:solidFill>
                  <a:srgbClr val="0E1726"/>
                </a:solidFill>
                <a:latin typeface="Consolas"/>
              </a:rPr>
              <a:t>CREATE SNAPSHOT month_end</a:t>
            </a:r>
          </a:p>
          <a:p>
            <a:pPr>
              <a:lnSpc>
                <a:spcPct val="134000"/>
              </a:lnSpc>
              <a:spcBef>
                <a:spcPts val="0"/>
              </a:spcBef>
              <a:spcAft>
                <a:spcPts val="0"/>
              </a:spcAft>
            </a:pPr>
            <a:r>
              <a:rPr sz="950" b="0" i="0">
                <a:solidFill>
                  <a:srgbClr val="0E1726"/>
                </a:solidFill>
                <a:latin typeface="Consolas"/>
              </a:rPr>
              <a:t>  OF sales.orders, sales.regions, risk.positions</a:t>
            </a:r>
          </a:p>
          <a:p>
            <a:pPr>
              <a:lnSpc>
                <a:spcPct val="134000"/>
              </a:lnSpc>
              <a:spcBef>
                <a:spcPts val="0"/>
              </a:spcBef>
              <a:spcAft>
                <a:spcPts val="0"/>
              </a:spcAft>
            </a:pPr>
            <a:r>
              <a:rPr sz="950" b="0" i="0">
                <a:solidFill>
                  <a:srgbClr val="0E1726"/>
                </a:solidFill>
                <a:latin typeface="Consolas"/>
              </a:rPr>
              <a:t>  EXPIRE AFTER 90 DAYS;</a:t>
            </a:r>
          </a:p>
        </p:txBody>
      </p:sp>
      <p:sp>
        <p:nvSpPr>
          <p:cNvPr id="14" name="TextBox 13"/>
          <p:cNvSpPr txBox="1"/>
          <p:nvPr/>
        </p:nvSpPr>
        <p:spPr>
          <a:xfrm>
            <a:off x="6202219" y="1353312"/>
            <a:ext cx="5212235" cy="3108960"/>
          </a:xfrm>
          <a:prstGeom prst="rect">
            <a:avLst/>
          </a:prstGeom>
          <a:noFill/>
        </p:spPr>
        <p:txBody>
          <a:bodyPr wrap="square" lIns="0" rIns="0" tIns="0" bIns="0" anchor="t">
            <a:spAutoFit/>
          </a:bodyPr>
          <a:lstStyle/>
          <a:p>
            <a:pPr algn="l">
              <a:spcBef>
                <a:spcPts val="0"/>
              </a:spcBef>
              <a:spcAft>
                <a:spcPts val="800"/>
              </a:spcAft>
            </a:pPr>
            <a:r>
              <a:rPr sz="1200" b="1" i="0">
                <a:solidFill>
                  <a:srgbClr val="1E3A6E"/>
                </a:solidFill>
                <a:latin typeface="Calibri"/>
              </a:rPr>
              <a:t>A snapshot is a position, not a table.</a:t>
            </a:r>
          </a:p>
          <a:p>
            <a:pPr>
              <a:spcBef>
                <a:spcPts val="0"/>
              </a:spcBef>
              <a:spcAft>
                <a:spcPts val="700"/>
              </a:spcAft>
            </a:pPr>
            <a:r>
              <a:rPr sz="1050" b="1">
                <a:solidFill>
                  <a:srgbClr val="1E3A6E"/>
                </a:solidFill>
                <a:latin typeface="Calibri"/>
              </a:rPr>
              <a:t>▪  </a:t>
            </a:r>
            <a:r>
              <a:rPr sz="1050">
                <a:solidFill>
                  <a:srgbClr val="0E1726"/>
                </a:solidFill>
                <a:latin typeface="Calibri"/>
              </a:rPr>
              <a:t>A market-risk run reads trades, rates, curves and hierarchy **as of one moment** --- or the reconciliation problem this system exists to remove reappears inside a single query.</a:t>
            </a:r>
          </a:p>
          <a:p>
            <a:pPr>
              <a:spcBef>
                <a:spcPts val="0"/>
              </a:spcBef>
              <a:spcAft>
                <a:spcPts val="700"/>
              </a:spcAft>
            </a:pPr>
            <a:r>
              <a:rPr sz="1050" b="1">
                <a:solidFill>
                  <a:srgbClr val="1E3A6E"/>
                </a:solidFill>
                <a:latin typeface="Calibri"/>
              </a:rPr>
              <a:t>▪  </a:t>
            </a:r>
            <a:r>
              <a:rPr sz="1050">
                <a:solidFill>
                  <a:srgbClr val="0E1726"/>
                </a:solidFill>
                <a:latin typeface="Calibri"/>
              </a:rPr>
              <a:t>A table the snapshot does not name is **refused**, not answered from the present. A partly-as-of answer is the worst available shape.</a:t>
            </a:r>
          </a:p>
          <a:p>
            <a:pPr>
              <a:spcBef>
                <a:spcPts val="0"/>
              </a:spcBef>
              <a:spcAft>
                <a:spcPts val="700"/>
              </a:spcAft>
            </a:pPr>
            <a:r>
              <a:rPr sz="1050" b="1">
                <a:solidFill>
                  <a:srgbClr val="1E3A6E"/>
                </a:solidFill>
                <a:latin typeface="Calibri"/>
              </a:rPr>
              <a:t>▪  </a:t>
            </a:r>
            <a:r>
              <a:rPr sz="1050">
                <a:solidFill>
                  <a:srgbClr val="0E1726"/>
                </a:solidFill>
                <a:latin typeface="Calibri"/>
              </a:rPr>
              <a:t>Taking one is a two-pass confirmation rather than a loop: read every version, read them all again, accept only if identical --- five attempts, then a serialization failure.</a:t>
            </a:r>
          </a:p>
          <a:p>
            <a:pPr>
              <a:spcBef>
                <a:spcPts val="0"/>
              </a:spcBef>
              <a:spcAft>
                <a:spcPts val="700"/>
              </a:spcAft>
            </a:pPr>
            <a:r>
              <a:rPr sz="1050" b="1">
                <a:solidFill>
                  <a:srgbClr val="1E3A6E"/>
                </a:solidFill>
                <a:latin typeface="Calibri"/>
              </a:rPr>
              <a:t>▪  </a:t>
            </a:r>
            <a:r>
              <a:rPr sz="1050">
                <a:solidFill>
                  <a:srgbClr val="0E1726"/>
                </a:solidFill>
                <a:latin typeface="Calibri"/>
              </a:rPr>
              <a:t>Expiry is bounded at 730 days, because it governs how far ahead one person may commit storage somebody else will pay for.</a:t>
            </a:r>
          </a:p>
        </p:txBody>
      </p:sp>
      <p:sp>
        <p:nvSpPr>
          <p:cNvPr id="15" name="Rectangle 14"/>
          <p:cNvSpPr/>
          <p:nvPr/>
        </p:nvSpPr>
        <p:spPr>
          <a:xfrm>
            <a:off x="777240" y="4599431"/>
            <a:ext cx="10637215" cy="82296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777240" y="4599431"/>
            <a:ext cx="41148" cy="82296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1014983" y="4718303"/>
            <a:ext cx="10180015" cy="60350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1E3A6E"/>
                </a:solidFill>
                <a:latin typeface="Calibri"/>
              </a:rPr>
              <a:t>Travel by version, not by timestamp. </a:t>
            </a:r>
            <a:r>
              <a:rPr sz="1050" b="0" i="0">
                <a:solidFill>
                  <a:srgbClr val="0E1726"/>
                </a:solidFill>
                <a:latin typeface="Calibri"/>
              </a:rPr>
              <a:t>`AS OF TIMESTAMP` does not exist, and could not be bolted on cheaply: this writer's commit records carry no clock at all --- they are a truncation seal, not a timestamp. The one time the system does report is derived from file modification times, and is deliberately absent for a metadata-only commit, because reporting zero would be a date in 1970 presented as a fact.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CLONE · WHAT IT WRITES</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A copy that costs the same at a thousand rows and a billion</a:t>
            </a:r>
          </a:p>
        </p:txBody>
      </p:sp>
      <p:sp>
        <p:nvSpPr>
          <p:cNvPr id="6" name="Rectangle 5"/>
          <p:cNvSpPr/>
          <p:nvPr/>
        </p:nvSpPr>
        <p:spPr>
          <a:xfrm>
            <a:off x="777240" y="161848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17 · Zero-copy clone, and the premise it breaks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47</a:t>
            </a:r>
          </a:p>
        </p:txBody>
      </p:sp>
      <p:sp>
        <p:nvSpPr>
          <p:cNvPr id="10" name="Rectangle 9"/>
          <p:cNvSpPr/>
          <p:nvPr/>
        </p:nvSpPr>
        <p:spPr>
          <a:xfrm>
            <a:off x="777240" y="1764792"/>
            <a:ext cx="4893118" cy="240027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764792"/>
            <a:ext cx="41148" cy="2400277"/>
          </a:xfrm>
          <a:prstGeom prst="rect">
            <a:avLst/>
          </a:prstGeom>
          <a:solidFill>
            <a:srgbClr val="444F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856231"/>
            <a:ext cx="4527358" cy="219456"/>
          </a:xfrm>
          <a:prstGeom prst="rect">
            <a:avLst/>
          </a:prstGeom>
          <a:noFill/>
        </p:spPr>
        <p:txBody>
          <a:bodyPr wrap="square" lIns="0" rIns="0" tIns="0" bIns="0" anchor="t">
            <a:spAutoFit/>
          </a:bodyPr>
          <a:lstStyle/>
          <a:p>
            <a:pPr algn="l">
              <a:spcBef>
                <a:spcPts val="0"/>
              </a:spcBef>
              <a:spcAft>
                <a:spcPts val="0"/>
              </a:spcAft>
            </a:pPr>
            <a:r>
              <a:rPr sz="900" b="1" i="0">
                <a:solidFill>
                  <a:srgbClr val="1E3A6E"/>
                </a:solidFill>
                <a:latin typeface="Calibri"/>
              </a:rPr>
              <a:t>constant time, constant space</a:t>
            </a:r>
          </a:p>
        </p:txBody>
      </p:sp>
      <p:sp>
        <p:nvSpPr>
          <p:cNvPr id="13" name="TextBox 12"/>
          <p:cNvSpPr txBox="1"/>
          <p:nvPr/>
        </p:nvSpPr>
        <p:spPr>
          <a:xfrm>
            <a:off x="978408" y="2157984"/>
            <a:ext cx="4527358" cy="1924789"/>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0E1726"/>
                </a:solidFill>
                <a:latin typeface="Consolas"/>
              </a:rPr>
              <a:t>CREATE TABLE sales.orders_wip</a:t>
            </a:r>
          </a:p>
          <a:p>
            <a:pPr>
              <a:lnSpc>
                <a:spcPct val="134000"/>
              </a:lnSpc>
              <a:spcBef>
                <a:spcPts val="0"/>
              </a:spcBef>
              <a:spcAft>
                <a:spcPts val="0"/>
              </a:spcAft>
            </a:pPr>
            <a:r>
              <a:rPr sz="950" b="0" i="0">
                <a:solidFill>
                  <a:srgbClr val="0E1726"/>
                </a:solidFill>
                <a:latin typeface="Consolas"/>
              </a:rPr>
              <a:t>  CLONE sales.orders AT VERSION 4;</a:t>
            </a:r>
          </a:p>
          <a:p>
            <a:pPr>
              <a:lnSpc>
                <a:spcPct val="134000"/>
              </a:lnSpc>
              <a:spcBef>
                <a:spcPts val="0"/>
              </a:spcBef>
              <a:spcAft>
                <a:spcPts val="0"/>
              </a:spcAft>
            </a:pPr>
            <a:r>
              <a:rPr sz="950" b="0" i="0">
                <a:solidFill>
                  <a:srgbClr val="0E1726"/>
                </a:solidFill>
                <a:latin typeface="Consolas"/>
              </a:rPr>
              <a:t> </a:t>
            </a:r>
          </a:p>
          <a:p>
            <a:pPr>
              <a:lnSpc>
                <a:spcPct val="134000"/>
              </a:lnSpc>
              <a:spcBef>
                <a:spcPts val="0"/>
              </a:spcBef>
              <a:spcAft>
                <a:spcPts val="0"/>
              </a:spcAft>
            </a:pPr>
            <a:r>
              <a:rPr sz="950" b="0" i="0">
                <a:solidFill>
                  <a:srgbClr val="0E1726"/>
                </a:solidFill>
                <a:latin typeface="Consolas"/>
              </a:rPr>
              <a:t>$ find warehouse/sales/orders_wip -type f</a:t>
            </a:r>
          </a:p>
          <a:p>
            <a:pPr>
              <a:lnSpc>
                <a:spcPct val="134000"/>
              </a:lnSpc>
              <a:spcBef>
                <a:spcPts val="0"/>
              </a:spcBef>
              <a:spcAft>
                <a:spcPts val="0"/>
              </a:spcAft>
            </a:pPr>
            <a:r>
              <a:rPr sz="950" b="0" i="0">
                <a:solidFill>
                  <a:srgbClr val="0E1726"/>
                </a:solidFill>
                <a:latin typeface="Consolas"/>
              </a:rPr>
              <a:t>warehouse/sales/orders_wip/_delta_log/</a:t>
            </a:r>
          </a:p>
          <a:p>
            <a:pPr>
              <a:lnSpc>
                <a:spcPct val="134000"/>
              </a:lnSpc>
              <a:spcBef>
                <a:spcPts val="0"/>
              </a:spcBef>
              <a:spcAft>
                <a:spcPts val="0"/>
              </a:spcAft>
            </a:pPr>
            <a:r>
              <a:rPr sz="950" b="0" i="0">
                <a:solidFill>
                  <a:srgbClr val="0E1726"/>
                </a:solidFill>
                <a:latin typeface="Consolas"/>
              </a:rPr>
              <a:t>        00000000000000000000.json</a:t>
            </a:r>
          </a:p>
          <a:p>
            <a:pPr>
              <a:lnSpc>
                <a:spcPct val="134000"/>
              </a:lnSpc>
              <a:spcBef>
                <a:spcPts val="0"/>
              </a:spcBef>
              <a:spcAft>
                <a:spcPts val="0"/>
              </a:spcAft>
            </a:pPr>
            <a:r>
              <a:rPr sz="950" b="0" i="0">
                <a:solidFill>
                  <a:srgbClr val="0E1726"/>
                </a:solidFill>
                <a:latin typeface="Consolas"/>
              </a:rPr>
              <a:t> </a:t>
            </a:r>
          </a:p>
          <a:p>
            <a:pPr>
              <a:lnSpc>
                <a:spcPct val="134000"/>
              </a:lnSpc>
              <a:spcBef>
                <a:spcPts val="0"/>
              </a:spcBef>
              <a:spcAft>
                <a:spcPts val="0"/>
              </a:spcAft>
            </a:pPr>
            <a:r>
              <a:rPr sz="950" b="0" i="0">
                <a:solidFill>
                  <a:srgbClr val="788395"/>
                </a:solidFill>
                <a:latin typeface="Consolas"/>
              </a:rPr>
              <a:t># three NDJSON lines. no Parquet.</a:t>
            </a:r>
          </a:p>
          <a:p>
            <a:pPr>
              <a:lnSpc>
                <a:spcPct val="134000"/>
              </a:lnSpc>
              <a:spcBef>
                <a:spcPts val="0"/>
              </a:spcBef>
              <a:spcAft>
                <a:spcPts val="0"/>
              </a:spcAft>
            </a:pPr>
            <a:r>
              <a:rPr sz="950" b="0" i="0">
                <a:solidFill>
                  <a:srgbClr val="788395"/>
                </a:solidFill>
                <a:latin typeface="Consolas"/>
              </a:rPr>
              <a:t># protocol, metadata, lineage.</a:t>
            </a:r>
          </a:p>
        </p:txBody>
      </p:sp>
      <p:sp>
        <p:nvSpPr>
          <p:cNvPr id="14" name="TextBox 13"/>
          <p:cNvSpPr txBox="1"/>
          <p:nvPr/>
        </p:nvSpPr>
        <p:spPr>
          <a:xfrm>
            <a:off x="6095847" y="1764792"/>
            <a:ext cx="5318607" cy="3200400"/>
          </a:xfrm>
          <a:prstGeom prst="rect">
            <a:avLst/>
          </a:prstGeom>
          <a:noFill/>
        </p:spPr>
        <p:txBody>
          <a:bodyPr wrap="square" lIns="0" rIns="0" tIns="0" bIns="0" anchor="t">
            <a:spAutoFit/>
          </a:bodyPr>
          <a:lstStyle/>
          <a:p>
            <a:pPr algn="l">
              <a:spcBef>
                <a:spcPts val="0"/>
              </a:spcBef>
              <a:spcAft>
                <a:spcPts val="800"/>
              </a:spcAft>
            </a:pPr>
            <a:r>
              <a:rPr sz="1200" b="1" i="0">
                <a:solidFill>
                  <a:srgbClr val="1E3A6E"/>
                </a:solidFill>
                <a:latin typeface="Calibri"/>
              </a:rPr>
              <a:t>The clone's log names none of the origin's files.</a:t>
            </a:r>
          </a:p>
          <a:p>
            <a:pPr>
              <a:spcBef>
                <a:spcPts val="0"/>
              </a:spcBef>
              <a:spcAft>
                <a:spcPts val="700"/>
              </a:spcAft>
            </a:pPr>
            <a:r>
              <a:rPr sz="1050" b="1">
                <a:solidFill>
                  <a:srgbClr val="1E3A6E"/>
                </a:solidFill>
                <a:latin typeface="Calibri"/>
              </a:rPr>
              <a:t>▪  </a:t>
            </a:r>
            <a:r>
              <a:rPr sz="1050">
                <a:solidFill>
                  <a:srgbClr val="0E1726"/>
                </a:solidFill>
                <a:latin typeface="Calibri"/>
              </a:rPr>
              <a:t>Not by omission. An absolute URI breaks restore-to-a-different-path; a `../` path bets on resolution the format does not define. So the clone records **what it inherits from**, and the reader composes.</a:t>
            </a:r>
          </a:p>
          <a:p>
            <a:pPr>
              <a:spcBef>
                <a:spcPts val="0"/>
              </a:spcBef>
              <a:spcAft>
                <a:spcPts val="700"/>
              </a:spcAft>
            </a:pPr>
            <a:r>
              <a:rPr sz="1050" b="1">
                <a:solidFill>
                  <a:srgbClr val="1E3A6E"/>
                </a:solidFill>
                <a:latin typeface="Calibri"/>
              </a:rPr>
              <a:t>▪  </a:t>
            </a:r>
            <a:r>
              <a:rPr sz="1050">
                <a:solidFill>
                  <a:srgbClr val="0E1726"/>
                </a:solidFill>
                <a:latin typeface="Calibri"/>
              </a:rPr>
              <a:t>A read resolves the origin's live set **at the pinned version**, then the clone's own log. Two logs, one answer.</a:t>
            </a:r>
          </a:p>
          <a:p>
            <a:pPr>
              <a:spcBef>
                <a:spcPts val="0"/>
              </a:spcBef>
              <a:spcAft>
                <a:spcPts val="700"/>
              </a:spcAft>
            </a:pPr>
            <a:r>
              <a:rPr sz="1050" b="1">
                <a:solidFill>
                  <a:srgbClr val="1E3A6E"/>
                </a:solidFill>
                <a:latin typeface="Calibri"/>
              </a:rPr>
              <a:t>▪  </a:t>
            </a:r>
            <a:r>
              <a:rPr sz="1050">
                <a:solidFill>
                  <a:srgbClr val="0E1726"/>
                </a:solidFill>
                <a:latin typeface="Calibri"/>
              </a:rPr>
              <a:t>The origin committing afterwards changes nothing the clone sees --- the pin is a version, and files are immutable.</a:t>
            </a:r>
          </a:p>
          <a:p>
            <a:pPr>
              <a:spcBef>
                <a:spcPts val="0"/>
              </a:spcBef>
              <a:spcAft>
                <a:spcPts val="700"/>
              </a:spcAft>
            </a:pPr>
            <a:r>
              <a:rPr sz="1050" b="1">
                <a:solidFill>
                  <a:srgbClr val="1E3A6E"/>
                </a:solidFill>
                <a:latin typeface="Calibri"/>
              </a:rPr>
              <a:t>▪  </a:t>
            </a:r>
            <a:r>
              <a:rPr sz="1050">
                <a:solidFill>
                  <a:srgbClr val="0E1726"/>
                </a:solidFill>
                <a:latin typeface="Calibri"/>
              </a:rPr>
              <a:t>A clone of a clone would splice against a log naming nothing, so the walk flattens the chain to the first ancestor that holds files, bounded at 64 against a hand-edited cycle.</a:t>
            </a:r>
          </a:p>
        </p:txBody>
      </p:sp>
      <p:sp>
        <p:nvSpPr>
          <p:cNvPr id="15" name="Rectangle 14"/>
          <p:cNvSpPr/>
          <p:nvPr/>
        </p:nvSpPr>
        <p:spPr>
          <a:xfrm>
            <a:off x="777240" y="5074920"/>
            <a:ext cx="10637215" cy="77724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777240" y="5074920"/>
            <a:ext cx="41148" cy="77724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1014983" y="5193792"/>
            <a:ext cx="10180015" cy="5577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1E3A6E"/>
                </a:solidFill>
                <a:latin typeface="Calibri"/>
              </a:rPr>
              <a:t>The guard worth showing. </a:t>
            </a:r>
            <a:r>
              <a:rPr sz="1050" b="0" i="0">
                <a:solidFill>
                  <a:srgbClr val="0E1726"/>
                </a:solidFill>
                <a:latin typeface="Calibri"/>
              </a:rPr>
              <a:t>An empty file set is indistinguishable from version zero of a real table, and version zero is legitimately empty --- so the presence of a **log** is the signal, not the presence of files. A missing origin is refused by name rather than treated as an empty one, because that would answer with the clone's own writes and nothing else: a short answer wearing the shape of a whole one.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CLONE · THE PREMISE IT BREAKS</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A file belongs to exactly one table. Under cloning that is false</a:t>
            </a:r>
          </a:p>
        </p:txBody>
      </p:sp>
      <p:sp>
        <p:nvSpPr>
          <p:cNvPr id="6" name="Rectangle 5"/>
          <p:cNvSpPr/>
          <p:nvPr/>
        </p:nvSpPr>
        <p:spPr>
          <a:xfrm>
            <a:off x="777240" y="161848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17 · Zero-copy clone, and the premise it breaks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48</a:t>
            </a:r>
          </a:p>
        </p:txBody>
      </p:sp>
      <p:sp>
        <p:nvSpPr>
          <p:cNvPr id="10" name="TextBox 9"/>
          <p:cNvSpPr txBox="1"/>
          <p:nvPr/>
        </p:nvSpPr>
        <p:spPr>
          <a:xfrm>
            <a:off x="777240" y="1764792"/>
            <a:ext cx="10637215" cy="594360"/>
          </a:xfrm>
          <a:prstGeom prst="rect">
            <a:avLst/>
          </a:prstGeom>
          <a:noFill/>
        </p:spPr>
        <p:txBody>
          <a:bodyPr wrap="square" lIns="0" rIns="0" tIns="0" bIns="0" anchor="t">
            <a:spAutoFit/>
          </a:bodyPr>
          <a:lstStyle/>
          <a:p>
            <a:pPr algn="l">
              <a:lnSpc>
                <a:spcPct val="126000"/>
              </a:lnSpc>
              <a:spcBef>
                <a:spcPts val="0"/>
              </a:spcBef>
              <a:spcAft>
                <a:spcPts val="0"/>
              </a:spcAft>
            </a:pPr>
            <a:r>
              <a:rPr sz="1150" b="1" i="0">
                <a:solidFill>
                  <a:srgbClr val="1E3A6E"/>
                </a:solidFill>
                <a:latin typeface="Calibri"/>
              </a:rPr>
              <a:t>Three reclamation mechanisms were written against that premise, </a:t>
            </a:r>
            <a:r>
              <a:rPr sz="1150" b="0" i="0">
                <a:solidFill>
                  <a:srgbClr val="444F60"/>
                </a:solidFill>
                <a:latin typeface="Calibri"/>
              </a:rPr>
              <a:t>and each becomes a way to delete data a clone is the only remaining reader of. The orphan sweep is the clearest: every step is correct, and the outcome is data loss in a table nobody was touching.</a:t>
            </a:r>
          </a:p>
        </p:txBody>
      </p:sp>
      <p:sp>
        <p:nvSpPr>
          <p:cNvPr id="11" name="Rectangle 10"/>
          <p:cNvSpPr/>
          <p:nvPr/>
        </p:nvSpPr>
        <p:spPr>
          <a:xfrm>
            <a:off x="777240" y="2423160"/>
            <a:ext cx="1981139" cy="1417320"/>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2423160"/>
            <a:ext cx="1981139" cy="4572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23544" y="2569464"/>
            <a:ext cx="1688531" cy="1143000"/>
          </a:xfrm>
          <a:prstGeom prst="rect">
            <a:avLst/>
          </a:prstGeom>
          <a:noFill/>
        </p:spPr>
        <p:txBody>
          <a:bodyPr wrap="square" lIns="0" rIns="0" tIns="0" bIns="0" anchor="t">
            <a:spAutoFit/>
          </a:bodyPr>
          <a:lstStyle/>
          <a:p>
            <a:pPr algn="l">
              <a:spcBef>
                <a:spcPts val="0"/>
              </a:spcBef>
              <a:spcAft>
                <a:spcPts val="200"/>
              </a:spcAft>
            </a:pPr>
            <a:r>
              <a:rPr sz="1400" b="1" i="0">
                <a:solidFill>
                  <a:srgbClr val="1E3A6E"/>
                </a:solidFill>
                <a:latin typeface="Georgia"/>
              </a:rPr>
              <a:t>1</a:t>
            </a:r>
          </a:p>
          <a:p>
            <a:pPr>
              <a:spcBef>
                <a:spcPts val="0"/>
              </a:spcBef>
              <a:spcAft>
                <a:spcPts val="400"/>
              </a:spcAft>
            </a:pPr>
            <a:r>
              <a:rPr sz="1100" b="1" i="0">
                <a:solidFill>
                  <a:srgbClr val="0E1726"/>
                </a:solidFill>
                <a:latin typeface="Calibri"/>
              </a:rPr>
              <a:t>Listed</a:t>
            </a:r>
          </a:p>
          <a:p>
            <a:pPr>
              <a:lnSpc>
                <a:spcPct val="115000"/>
              </a:lnSpc>
              <a:spcBef>
                <a:spcPts val="0"/>
              </a:spcBef>
              <a:spcAft>
                <a:spcPts val="600"/>
              </a:spcAft>
            </a:pPr>
            <a:r>
              <a:rPr sz="850" b="0" i="0">
                <a:solidFill>
                  <a:srgbClr val="444F60"/>
                </a:solidFill>
                <a:latin typeface="Calibri"/>
              </a:rPr>
              <a:t>The sweeper lists every file under the origin's directory.</a:t>
            </a:r>
          </a:p>
        </p:txBody>
      </p:sp>
      <p:sp>
        <p:nvSpPr>
          <p:cNvPr id="14" name="Rectangle 13"/>
          <p:cNvSpPr/>
          <p:nvPr/>
        </p:nvSpPr>
        <p:spPr>
          <a:xfrm>
            <a:off x="2941259" y="2423160"/>
            <a:ext cx="1981139" cy="1417320"/>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2941259" y="2423160"/>
            <a:ext cx="1981139" cy="4572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3087563" y="2569464"/>
            <a:ext cx="1688531" cy="1143000"/>
          </a:xfrm>
          <a:prstGeom prst="rect">
            <a:avLst/>
          </a:prstGeom>
          <a:noFill/>
        </p:spPr>
        <p:txBody>
          <a:bodyPr wrap="square" lIns="0" rIns="0" tIns="0" bIns="0" anchor="t">
            <a:spAutoFit/>
          </a:bodyPr>
          <a:lstStyle/>
          <a:p>
            <a:pPr algn="l">
              <a:spcBef>
                <a:spcPts val="0"/>
              </a:spcBef>
              <a:spcAft>
                <a:spcPts val="200"/>
              </a:spcAft>
            </a:pPr>
            <a:r>
              <a:rPr sz="1400" b="1" i="0">
                <a:solidFill>
                  <a:srgbClr val="1E3A6E"/>
                </a:solidFill>
                <a:latin typeface="Georgia"/>
              </a:rPr>
              <a:t>2</a:t>
            </a:r>
          </a:p>
          <a:p>
            <a:pPr>
              <a:spcBef>
                <a:spcPts val="0"/>
              </a:spcBef>
              <a:spcAft>
                <a:spcPts val="400"/>
              </a:spcAft>
            </a:pPr>
            <a:r>
              <a:rPr sz="1100" b="1" i="0">
                <a:solidFill>
                  <a:srgbClr val="0E1726"/>
                </a:solidFill>
                <a:latin typeface="Calibri"/>
              </a:rPr>
              <a:t>Not named</a:t>
            </a:r>
          </a:p>
          <a:p>
            <a:pPr>
              <a:lnSpc>
                <a:spcPct val="115000"/>
              </a:lnSpc>
              <a:spcBef>
                <a:spcPts val="0"/>
              </a:spcBef>
              <a:spcAft>
                <a:spcPts val="600"/>
              </a:spcAft>
            </a:pPr>
            <a:r>
              <a:rPr sz="850" b="0" i="0">
                <a:solidFill>
                  <a:srgbClr val="444F60"/>
                </a:solidFill>
                <a:latin typeface="Calibri"/>
              </a:rPr>
              <a:t>The origin's log no longer names this one --- it was compacted away.</a:t>
            </a:r>
          </a:p>
        </p:txBody>
      </p:sp>
      <p:sp>
        <p:nvSpPr>
          <p:cNvPr id="17" name="Rectangle 16"/>
          <p:cNvSpPr/>
          <p:nvPr/>
        </p:nvSpPr>
        <p:spPr>
          <a:xfrm>
            <a:off x="5105278" y="2423160"/>
            <a:ext cx="1981139" cy="1417320"/>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Rectangle 17"/>
          <p:cNvSpPr/>
          <p:nvPr/>
        </p:nvSpPr>
        <p:spPr>
          <a:xfrm>
            <a:off x="5105278" y="2423160"/>
            <a:ext cx="1981139" cy="4572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TextBox 18"/>
          <p:cNvSpPr txBox="1"/>
          <p:nvPr/>
        </p:nvSpPr>
        <p:spPr>
          <a:xfrm>
            <a:off x="5251582" y="2569464"/>
            <a:ext cx="1688531" cy="1143000"/>
          </a:xfrm>
          <a:prstGeom prst="rect">
            <a:avLst/>
          </a:prstGeom>
          <a:noFill/>
        </p:spPr>
        <p:txBody>
          <a:bodyPr wrap="square" lIns="0" rIns="0" tIns="0" bIns="0" anchor="t">
            <a:spAutoFit/>
          </a:bodyPr>
          <a:lstStyle/>
          <a:p>
            <a:pPr algn="l">
              <a:spcBef>
                <a:spcPts val="0"/>
              </a:spcBef>
              <a:spcAft>
                <a:spcPts val="200"/>
              </a:spcAft>
            </a:pPr>
            <a:r>
              <a:rPr sz="1400" b="1" i="0">
                <a:solidFill>
                  <a:srgbClr val="1E3A6E"/>
                </a:solidFill>
                <a:latin typeface="Georgia"/>
              </a:rPr>
              <a:t>3</a:t>
            </a:r>
          </a:p>
          <a:p>
            <a:pPr>
              <a:spcBef>
                <a:spcPts val="0"/>
              </a:spcBef>
              <a:spcAft>
                <a:spcPts val="400"/>
              </a:spcAft>
            </a:pPr>
            <a:r>
              <a:rPr sz="1100" b="1" i="0">
                <a:solidFill>
                  <a:srgbClr val="0E1726"/>
                </a:solidFill>
                <a:latin typeface="Calibri"/>
              </a:rPr>
              <a:t>Not reachable</a:t>
            </a:r>
          </a:p>
          <a:p>
            <a:pPr>
              <a:lnSpc>
                <a:spcPct val="115000"/>
              </a:lnSpc>
              <a:spcBef>
                <a:spcPts val="0"/>
              </a:spcBef>
              <a:spcAft>
                <a:spcPts val="600"/>
              </a:spcAft>
            </a:pPr>
            <a:r>
              <a:rPr sz="850" b="0" i="0">
                <a:solidFill>
                  <a:srgbClr val="444F60"/>
                </a:solidFill>
                <a:latin typeface="Calibri"/>
              </a:rPr>
              <a:t>Nothing in the origin's history reaches it.</a:t>
            </a:r>
          </a:p>
        </p:txBody>
      </p:sp>
      <p:sp>
        <p:nvSpPr>
          <p:cNvPr id="20" name="Rectangle 19"/>
          <p:cNvSpPr/>
          <p:nvPr/>
        </p:nvSpPr>
        <p:spPr>
          <a:xfrm>
            <a:off x="7269297" y="2423160"/>
            <a:ext cx="1981139" cy="1417320"/>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7269297" y="2423160"/>
            <a:ext cx="1981139" cy="4572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7415601" y="2569464"/>
            <a:ext cx="1688531" cy="1143000"/>
          </a:xfrm>
          <a:prstGeom prst="rect">
            <a:avLst/>
          </a:prstGeom>
          <a:noFill/>
        </p:spPr>
        <p:txBody>
          <a:bodyPr wrap="square" lIns="0" rIns="0" tIns="0" bIns="0" anchor="t">
            <a:spAutoFit/>
          </a:bodyPr>
          <a:lstStyle/>
          <a:p>
            <a:pPr algn="l">
              <a:spcBef>
                <a:spcPts val="0"/>
              </a:spcBef>
              <a:spcAft>
                <a:spcPts val="200"/>
              </a:spcAft>
            </a:pPr>
            <a:r>
              <a:rPr sz="1400" b="1" i="0">
                <a:solidFill>
                  <a:srgbClr val="1E3A6E"/>
                </a:solidFill>
                <a:latin typeface="Georgia"/>
              </a:rPr>
              <a:t>4</a:t>
            </a:r>
          </a:p>
          <a:p>
            <a:pPr>
              <a:spcBef>
                <a:spcPts val="0"/>
              </a:spcBef>
              <a:spcAft>
                <a:spcPts val="400"/>
              </a:spcAft>
            </a:pPr>
            <a:r>
              <a:rPr sz="1100" b="1" i="0">
                <a:solidFill>
                  <a:srgbClr val="0E1726"/>
                </a:solidFill>
                <a:latin typeface="Calibri"/>
              </a:rPr>
              <a:t>Old enough</a:t>
            </a:r>
          </a:p>
          <a:p>
            <a:pPr>
              <a:lnSpc>
                <a:spcPct val="115000"/>
              </a:lnSpc>
              <a:spcBef>
                <a:spcPts val="0"/>
              </a:spcBef>
              <a:spcAft>
                <a:spcPts val="600"/>
              </a:spcAft>
            </a:pPr>
            <a:r>
              <a:rPr sz="850" b="0" i="0">
                <a:solidFill>
                  <a:srgbClr val="444F60"/>
                </a:solidFill>
                <a:latin typeface="Calibri"/>
              </a:rPr>
              <a:t>It is past the age threshold. Every check has passed.</a:t>
            </a:r>
          </a:p>
        </p:txBody>
      </p:sp>
      <p:sp>
        <p:nvSpPr>
          <p:cNvPr id="23" name="Rectangle 22"/>
          <p:cNvSpPr/>
          <p:nvPr/>
        </p:nvSpPr>
        <p:spPr>
          <a:xfrm>
            <a:off x="9433316" y="2423160"/>
            <a:ext cx="1981139" cy="1417320"/>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4" name="Rectangle 23"/>
          <p:cNvSpPr/>
          <p:nvPr/>
        </p:nvSpPr>
        <p:spPr>
          <a:xfrm>
            <a:off x="9433316" y="2423160"/>
            <a:ext cx="1981139" cy="4572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5" name="TextBox 24"/>
          <p:cNvSpPr txBox="1"/>
          <p:nvPr/>
        </p:nvSpPr>
        <p:spPr>
          <a:xfrm>
            <a:off x="9579620" y="2569464"/>
            <a:ext cx="1688531" cy="1143000"/>
          </a:xfrm>
          <a:prstGeom prst="rect">
            <a:avLst/>
          </a:prstGeom>
          <a:noFill/>
        </p:spPr>
        <p:txBody>
          <a:bodyPr wrap="square" lIns="0" rIns="0" tIns="0" bIns="0" anchor="t">
            <a:spAutoFit/>
          </a:bodyPr>
          <a:lstStyle/>
          <a:p>
            <a:pPr algn="l">
              <a:spcBef>
                <a:spcPts val="0"/>
              </a:spcBef>
              <a:spcAft>
                <a:spcPts val="200"/>
              </a:spcAft>
            </a:pPr>
            <a:r>
              <a:rPr sz="1400" b="1" i="0">
                <a:solidFill>
                  <a:srgbClr val="1E3A6E"/>
                </a:solidFill>
                <a:latin typeface="Georgia"/>
              </a:rPr>
              <a:t>5</a:t>
            </a:r>
          </a:p>
          <a:p>
            <a:pPr>
              <a:spcBef>
                <a:spcPts val="0"/>
              </a:spcBef>
              <a:spcAft>
                <a:spcPts val="400"/>
              </a:spcAft>
            </a:pPr>
            <a:r>
              <a:rPr sz="1100" b="1" i="0">
                <a:solidFill>
                  <a:srgbClr val="0E1726"/>
                </a:solidFill>
                <a:latin typeface="Calibri"/>
              </a:rPr>
              <a:t>Removed</a:t>
            </a:r>
          </a:p>
          <a:p>
            <a:pPr>
              <a:lnSpc>
                <a:spcPct val="115000"/>
              </a:lnSpc>
              <a:spcBef>
                <a:spcPts val="0"/>
              </a:spcBef>
              <a:spcAft>
                <a:spcPts val="600"/>
              </a:spcAft>
            </a:pPr>
            <a:r>
              <a:rPr sz="850" b="0" i="0">
                <a:solidFill>
                  <a:srgbClr val="444F60"/>
                </a:solidFill>
                <a:latin typeface="Calibri"/>
              </a:rPr>
              <a:t>And it was the clone's. Nothing failed, nothing logged, nothing noticed.</a:t>
            </a:r>
          </a:p>
        </p:txBody>
      </p:sp>
      <p:sp>
        <p:nvSpPr>
          <p:cNvPr id="26" name="TextBox 25"/>
          <p:cNvSpPr txBox="1"/>
          <p:nvPr/>
        </p:nvSpPr>
        <p:spPr>
          <a:xfrm>
            <a:off x="777240" y="4005072"/>
            <a:ext cx="5105863" cy="1828800"/>
          </a:xfrm>
          <a:prstGeom prst="rect">
            <a:avLst/>
          </a:prstGeom>
          <a:noFill/>
        </p:spPr>
        <p:txBody>
          <a:bodyPr wrap="square" lIns="0" rIns="0" tIns="0" bIns="0" anchor="t">
            <a:spAutoFit/>
          </a:bodyPr>
          <a:lstStyle/>
          <a:p>
            <a:pPr algn="l">
              <a:spcBef>
                <a:spcPts val="0"/>
              </a:spcBef>
              <a:spcAft>
                <a:spcPts val="700"/>
              </a:spcAft>
            </a:pPr>
            <a:r>
              <a:rPr sz="1200" b="1" i="0">
                <a:solidFill>
                  <a:srgbClr val="1E3A6E"/>
                </a:solidFill>
                <a:latin typeface="Calibri"/>
              </a:rPr>
              <a:t>The fix: clone-family reachability.</a:t>
            </a:r>
          </a:p>
          <a:p>
            <a:pPr>
              <a:lnSpc>
                <a:spcPct val="128000"/>
              </a:lnSpc>
              <a:spcBef>
                <a:spcPts val="0"/>
              </a:spcBef>
              <a:spcAft>
                <a:spcPts val="0"/>
              </a:spcAft>
            </a:pPr>
            <a:r>
              <a:rPr sz="1050" b="0" i="0">
                <a:solidFill>
                  <a:srgbClr val="444F60"/>
                </a:solidFill>
                <a:latin typeface="Calibri"/>
              </a:rPr>
              <a:t>A file is reclaimable when no table in the clone family reaches it --- the origin, its clones, their clones. The family is the unit, not the table, because the table was never the unit once a clone existed.</a:t>
            </a:r>
          </a:p>
        </p:txBody>
      </p:sp>
      <p:sp>
        <p:nvSpPr>
          <p:cNvPr id="27" name="Rectangle 26"/>
          <p:cNvSpPr/>
          <p:nvPr/>
        </p:nvSpPr>
        <p:spPr>
          <a:xfrm>
            <a:off x="6308591" y="4005072"/>
            <a:ext cx="5105863" cy="1581912"/>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Rectangle 27"/>
          <p:cNvSpPr/>
          <p:nvPr/>
        </p:nvSpPr>
        <p:spPr>
          <a:xfrm>
            <a:off x="6308591" y="4005072"/>
            <a:ext cx="5105863" cy="4572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9" name="TextBox 28"/>
          <p:cNvSpPr txBox="1"/>
          <p:nvPr/>
        </p:nvSpPr>
        <p:spPr>
          <a:xfrm>
            <a:off x="6436607" y="4123944"/>
            <a:ext cx="4849831" cy="237744"/>
          </a:xfrm>
          <a:prstGeom prst="rect">
            <a:avLst/>
          </a:prstGeom>
          <a:noFill/>
        </p:spPr>
        <p:txBody>
          <a:bodyPr wrap="square" lIns="0" rIns="0" tIns="0" bIns="0" anchor="t">
            <a:spAutoFit/>
          </a:bodyPr>
          <a:lstStyle/>
          <a:p>
            <a:pPr algn="l">
              <a:spcBef>
                <a:spcPts val="0"/>
              </a:spcBef>
              <a:spcAft>
                <a:spcPts val="0"/>
              </a:spcAft>
            </a:pPr>
            <a:r>
              <a:rPr sz="1100" b="1" i="0">
                <a:solidFill>
                  <a:srgbClr val="0E1726"/>
                </a:solidFill>
                <a:latin typeface="Georgia"/>
              </a:rPr>
              <a:t>Two mechanisms refused, and why</a:t>
            </a:r>
          </a:p>
        </p:txBody>
      </p:sp>
      <p:sp>
        <p:nvSpPr>
          <p:cNvPr id="30" name="TextBox 29"/>
          <p:cNvSpPr txBox="1"/>
          <p:nvPr/>
        </p:nvSpPr>
        <p:spPr>
          <a:xfrm>
            <a:off x="6436607" y="4370832"/>
            <a:ext cx="4849831" cy="196596"/>
          </a:xfrm>
          <a:prstGeom prst="rect">
            <a:avLst/>
          </a:prstGeom>
          <a:noFill/>
        </p:spPr>
        <p:txBody>
          <a:bodyPr wrap="square" lIns="0" rIns="0" tIns="0" bIns="0" anchor="t">
            <a:spAutoFit/>
          </a:bodyPr>
          <a:lstStyle/>
          <a:p>
            <a:pPr algn="l">
              <a:spcBef>
                <a:spcPts val="0"/>
              </a:spcBef>
              <a:spcAft>
                <a:spcPts val="0"/>
              </a:spcAft>
            </a:pPr>
            <a:r>
              <a:rPr sz="880" b="0" i="0">
                <a:solidFill>
                  <a:srgbClr val="444F60"/>
                </a:solidFill>
                <a:latin typeface="Calibri"/>
              </a:rPr>
              <a:t>Reference counting --- a count that drifts **low** deletes a file a clone still</a:t>
            </a:r>
          </a:p>
        </p:txBody>
      </p:sp>
      <p:sp>
        <p:nvSpPr>
          <p:cNvPr id="31" name="TextBox 30"/>
          <p:cNvSpPr txBox="1"/>
          <p:nvPr/>
        </p:nvSpPr>
        <p:spPr>
          <a:xfrm>
            <a:off x="6436607" y="4567428"/>
            <a:ext cx="4849831" cy="196596"/>
          </a:xfrm>
          <a:prstGeom prst="rect">
            <a:avLst/>
          </a:prstGeom>
          <a:noFill/>
        </p:spPr>
        <p:txBody>
          <a:bodyPr wrap="square" lIns="0" rIns="0" tIns="0" bIns="0" anchor="t">
            <a:spAutoFit/>
          </a:bodyPr>
          <a:lstStyle/>
          <a:p>
            <a:pPr algn="l">
              <a:spcBef>
                <a:spcPts val="0"/>
              </a:spcBef>
              <a:spcAft>
                <a:spcPts val="0"/>
              </a:spcAft>
            </a:pPr>
            <a:r>
              <a:rPr sz="880" b="0" i="0">
                <a:solidFill>
                  <a:srgbClr val="444F60"/>
                </a:solidFill>
                <a:latin typeface="Calibri"/>
              </a:rPr>
              <a:t>reads, silently, in a table nobody was touching. There is no operation that</a:t>
            </a:r>
          </a:p>
        </p:txBody>
      </p:sp>
      <p:sp>
        <p:nvSpPr>
          <p:cNvPr id="32" name="TextBox 31"/>
          <p:cNvSpPr txBox="1"/>
          <p:nvPr/>
        </p:nvSpPr>
        <p:spPr>
          <a:xfrm>
            <a:off x="6436607" y="4764024"/>
            <a:ext cx="4849831" cy="196596"/>
          </a:xfrm>
          <a:prstGeom prst="rect">
            <a:avLst/>
          </a:prstGeom>
          <a:noFill/>
        </p:spPr>
        <p:txBody>
          <a:bodyPr wrap="square" lIns="0" rIns="0" tIns="0" bIns="0" anchor="t">
            <a:spAutoFit/>
          </a:bodyPr>
          <a:lstStyle/>
          <a:p>
            <a:pPr algn="l">
              <a:spcBef>
                <a:spcPts val="0"/>
              </a:spcBef>
              <a:spcAft>
                <a:spcPts val="0"/>
              </a:spcAft>
            </a:pPr>
            <a:r>
              <a:rPr sz="880" b="0" i="0">
                <a:solidFill>
                  <a:srgbClr val="444F60"/>
                </a:solidFill>
                <a:latin typeface="Calibri"/>
              </a:rPr>
              <a:t>would notice, and no repair that does not require reading every log.</a:t>
            </a:r>
          </a:p>
        </p:txBody>
      </p:sp>
      <p:sp>
        <p:nvSpPr>
          <p:cNvPr id="33" name="TextBox 32"/>
          <p:cNvSpPr txBox="1"/>
          <p:nvPr/>
        </p:nvSpPr>
        <p:spPr>
          <a:xfrm>
            <a:off x="6436607" y="4960620"/>
            <a:ext cx="4849831" cy="196596"/>
          </a:xfrm>
          <a:prstGeom prst="rect">
            <a:avLst/>
          </a:prstGeom>
          <a:noFill/>
        </p:spPr>
        <p:txBody>
          <a:bodyPr wrap="square" lIns="0" rIns="0" tIns="0" bIns="0" anchor="t">
            <a:spAutoFit/>
          </a:bodyPr>
          <a:lstStyle/>
          <a:p>
            <a:pPr algn="l">
              <a:spcBef>
                <a:spcPts val="0"/>
              </a:spcBef>
              <a:spcAft>
                <a:spcPts val="0"/>
              </a:spcAft>
            </a:pPr>
            <a:r>
              <a:rPr sz="880" b="0" i="0">
                <a:solidFill>
                  <a:srgbClr val="444F60"/>
                </a:solidFill>
                <a:latin typeface="Calibri"/>
              </a:rPr>
              <a:t/>
            </a:r>
          </a:p>
        </p:txBody>
      </p:sp>
      <p:sp>
        <p:nvSpPr>
          <p:cNvPr id="34" name="TextBox 33"/>
          <p:cNvSpPr txBox="1"/>
          <p:nvPr/>
        </p:nvSpPr>
        <p:spPr>
          <a:xfrm>
            <a:off x="6436607" y="5157216"/>
            <a:ext cx="4849831" cy="196596"/>
          </a:xfrm>
          <a:prstGeom prst="rect">
            <a:avLst/>
          </a:prstGeom>
          <a:noFill/>
        </p:spPr>
        <p:txBody>
          <a:bodyPr wrap="square" lIns="0" rIns="0" tIns="0" bIns="0" anchor="t">
            <a:spAutoFit/>
          </a:bodyPr>
          <a:lstStyle/>
          <a:p>
            <a:pPr algn="l">
              <a:spcBef>
                <a:spcPts val="0"/>
              </a:spcBef>
              <a:spcAft>
                <a:spcPts val="0"/>
              </a:spcAft>
            </a:pPr>
            <a:r>
              <a:rPr sz="880" b="0" i="0">
                <a:solidFill>
                  <a:srgbClr val="444F60"/>
                </a:solidFill>
                <a:latin typeface="Calibri"/>
              </a:rPr>
              <a:t>Copy-on-maintenance --- correct, and it makes a zero-copy clone cost a copy</a:t>
            </a:r>
          </a:p>
        </p:txBody>
      </p:sp>
      <p:sp>
        <p:nvSpPr>
          <p:cNvPr id="35" name="TextBox 34"/>
          <p:cNvSpPr txBox="1"/>
          <p:nvPr/>
        </p:nvSpPr>
        <p:spPr>
          <a:xfrm>
            <a:off x="6436607" y="5353812"/>
            <a:ext cx="4849831" cy="196596"/>
          </a:xfrm>
          <a:prstGeom prst="rect">
            <a:avLst/>
          </a:prstGeom>
          <a:noFill/>
        </p:spPr>
        <p:txBody>
          <a:bodyPr wrap="square" lIns="0" rIns="0" tIns="0" bIns="0" anchor="t">
            <a:spAutoFit/>
          </a:bodyPr>
          <a:lstStyle/>
          <a:p>
            <a:pPr algn="l">
              <a:spcBef>
                <a:spcPts val="0"/>
              </a:spcBef>
              <a:spcAft>
                <a:spcPts val="0"/>
              </a:spcAft>
            </a:pPr>
            <a:r>
              <a:rPr sz="880" b="0" i="0">
                <a:solidFill>
                  <a:srgbClr val="444F60"/>
                </a:solidFill>
                <a:latin typeface="Calibri"/>
              </a:rPr>
              <a:t>at the first compaction. That is the feature, deferred by one tick.</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CLONE · THE PRICE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What it cost, stated plainly</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17 · Zero-copy clone, and the premise it breaks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49</a:t>
            </a:r>
          </a:p>
        </p:txBody>
      </p:sp>
      <p:sp>
        <p:nvSpPr>
          <p:cNvPr id="10" name="Rectangle 9"/>
          <p:cNvSpPr/>
          <p:nvPr/>
        </p:nvSpPr>
        <p:spPr>
          <a:xfrm>
            <a:off x="777240" y="1353312"/>
            <a:ext cx="10637215" cy="1133856"/>
          </a:xfrm>
          <a:prstGeom prst="rect">
            <a:avLst/>
          </a:prstGeom>
          <a:solidFill>
            <a:srgbClr val="FFFFFF"/>
          </a:solidFill>
          <a:ln w="1143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10637215"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572768"/>
            <a:ext cx="10198303" cy="237744"/>
          </a:xfrm>
          <a:prstGeom prst="rect">
            <a:avLst/>
          </a:prstGeom>
          <a:noFill/>
        </p:spPr>
        <p:txBody>
          <a:bodyPr wrap="square" lIns="0" rIns="0" tIns="0" bIns="0" anchor="t">
            <a:spAutoFit/>
          </a:bodyPr>
          <a:lstStyle/>
          <a:p>
            <a:pPr algn="l">
              <a:spcBef>
                <a:spcPts val="0"/>
              </a:spcBef>
              <a:spcAft>
                <a:spcPts val="0"/>
              </a:spcAft>
            </a:pPr>
            <a:r>
              <a:rPr sz="1000" b="1" i="0">
                <a:solidFill>
                  <a:srgbClr val="1E3A6E"/>
                </a:solidFill>
                <a:latin typeface="Calibri"/>
              </a:rPr>
              <a:t>01</a:t>
            </a:r>
          </a:p>
        </p:txBody>
      </p:sp>
      <p:sp>
        <p:nvSpPr>
          <p:cNvPr id="13" name="TextBox 12"/>
          <p:cNvSpPr txBox="1"/>
          <p:nvPr/>
        </p:nvSpPr>
        <p:spPr>
          <a:xfrm>
            <a:off x="996695" y="1847088"/>
            <a:ext cx="10198303"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1726"/>
                </a:solidFill>
                <a:latin typeface="Georgia"/>
              </a:rPr>
              <a:t>The open-storage claim holds for ordinary tables and not for clones.</a:t>
            </a:r>
          </a:p>
        </p:txBody>
      </p:sp>
      <p:sp>
        <p:nvSpPr>
          <p:cNvPr id="14" name="TextBox 13"/>
          <p:cNvSpPr txBox="1"/>
          <p:nvPr/>
        </p:nvSpPr>
        <p:spPr>
          <a:xfrm>
            <a:off x="996695" y="2157984"/>
            <a:ext cx="10198303" cy="146303"/>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44F60"/>
                </a:solidFill>
                <a:latin typeface="Calibri"/>
              </a:rPr>
              <a:t>A foreign reader pointed at a clone's directory sees only what the clone wrote. The inherited rows are in the origin's directory and the clone's log does not name them. This is the one place the format's openness stops, and it is a consequence of Decision 1a rather than an oversight.</a:t>
            </a:r>
          </a:p>
        </p:txBody>
      </p:sp>
      <p:sp>
        <p:nvSpPr>
          <p:cNvPr id="15" name="Rectangle 14"/>
          <p:cNvSpPr/>
          <p:nvPr/>
        </p:nvSpPr>
        <p:spPr>
          <a:xfrm>
            <a:off x="777240" y="2560320"/>
            <a:ext cx="10637215" cy="1133856"/>
          </a:xfrm>
          <a:prstGeom prst="rect">
            <a:avLst/>
          </a:prstGeom>
          <a:solidFill>
            <a:srgbClr val="FFFFFF"/>
          </a:solidFill>
          <a:ln w="1143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777240" y="2560320"/>
            <a:ext cx="10637215"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996695" y="2779776"/>
            <a:ext cx="10198303" cy="237744"/>
          </a:xfrm>
          <a:prstGeom prst="rect">
            <a:avLst/>
          </a:prstGeom>
          <a:noFill/>
        </p:spPr>
        <p:txBody>
          <a:bodyPr wrap="square" lIns="0" rIns="0" tIns="0" bIns="0" anchor="t">
            <a:spAutoFit/>
          </a:bodyPr>
          <a:lstStyle/>
          <a:p>
            <a:pPr algn="l">
              <a:spcBef>
                <a:spcPts val="0"/>
              </a:spcBef>
              <a:spcAft>
                <a:spcPts val="0"/>
              </a:spcAft>
            </a:pPr>
            <a:r>
              <a:rPr sz="1000" b="1" i="0">
                <a:solidFill>
                  <a:srgbClr val="1E3A6E"/>
                </a:solidFill>
                <a:latin typeface="Calibri"/>
              </a:rPr>
              <a:t>02</a:t>
            </a:r>
          </a:p>
        </p:txBody>
      </p:sp>
      <p:sp>
        <p:nvSpPr>
          <p:cNvPr id="18" name="TextBox 17"/>
          <p:cNvSpPr txBox="1"/>
          <p:nvPr/>
        </p:nvSpPr>
        <p:spPr>
          <a:xfrm>
            <a:off x="996695" y="3054096"/>
            <a:ext cx="10198303"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1726"/>
                </a:solidFill>
                <a:latin typeface="Georgia"/>
              </a:rPr>
              <a:t>The decision cost a read path, and the ADR did not say so.</a:t>
            </a:r>
          </a:p>
        </p:txBody>
      </p:sp>
      <p:sp>
        <p:nvSpPr>
          <p:cNvPr id="19" name="TextBox 18"/>
          <p:cNvSpPr txBox="1"/>
          <p:nvPr/>
        </p:nvSpPr>
        <p:spPr>
          <a:xfrm>
            <a:off x="996695" y="3364991"/>
            <a:ext cx="10198303" cy="146304"/>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44F60"/>
                </a:solidFill>
                <a:latin typeface="Calibri"/>
              </a:rPr>
              <a:t>Until the composing reader existed, a clone read as **empty** --- and the statement that created it succeeded. `SHOW LINEAGE` saw the clone, re-issuing the create refused it as already there, and every `SELECT` answered *table not found* until the next restart.</a:t>
            </a:r>
          </a:p>
        </p:txBody>
      </p:sp>
      <p:sp>
        <p:nvSpPr>
          <p:cNvPr id="20" name="Rectangle 19"/>
          <p:cNvSpPr/>
          <p:nvPr/>
        </p:nvSpPr>
        <p:spPr>
          <a:xfrm>
            <a:off x="777240" y="3767328"/>
            <a:ext cx="10637215" cy="1133856"/>
          </a:xfrm>
          <a:prstGeom prst="rect">
            <a:avLst/>
          </a:prstGeom>
          <a:solidFill>
            <a:srgbClr val="FFFFFF"/>
          </a:solidFill>
          <a:ln w="1143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777240" y="3767328"/>
            <a:ext cx="10637215"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996695" y="3986784"/>
            <a:ext cx="10198303" cy="237744"/>
          </a:xfrm>
          <a:prstGeom prst="rect">
            <a:avLst/>
          </a:prstGeom>
          <a:noFill/>
        </p:spPr>
        <p:txBody>
          <a:bodyPr wrap="square" lIns="0" rIns="0" tIns="0" bIns="0" anchor="t">
            <a:spAutoFit/>
          </a:bodyPr>
          <a:lstStyle/>
          <a:p>
            <a:pPr algn="l">
              <a:spcBef>
                <a:spcPts val="0"/>
              </a:spcBef>
              <a:spcAft>
                <a:spcPts val="0"/>
              </a:spcAft>
            </a:pPr>
            <a:r>
              <a:rPr sz="1000" b="1" i="0">
                <a:solidFill>
                  <a:srgbClr val="1E3A6E"/>
                </a:solidFill>
                <a:latin typeface="Calibri"/>
              </a:rPr>
              <a:t>03</a:t>
            </a:r>
          </a:p>
        </p:txBody>
      </p:sp>
      <p:sp>
        <p:nvSpPr>
          <p:cNvPr id="23" name="TextBox 22"/>
          <p:cNvSpPr txBox="1"/>
          <p:nvPr/>
        </p:nvSpPr>
        <p:spPr>
          <a:xfrm>
            <a:off x="996695" y="4261104"/>
            <a:ext cx="10198303"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1726"/>
                </a:solidFill>
                <a:latin typeface="Georgia"/>
              </a:rPr>
              <a:t>Nothing in the server writes into a clone today.</a:t>
            </a:r>
          </a:p>
        </p:txBody>
      </p:sp>
      <p:sp>
        <p:nvSpPr>
          <p:cNvPr id="24" name="TextBox 23"/>
          <p:cNvSpPr txBox="1"/>
          <p:nvPr/>
        </p:nvSpPr>
        <p:spPr>
          <a:xfrm>
            <a:off x="996695" y="4572000"/>
            <a:ext cx="10198303" cy="146304"/>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44F60"/>
                </a:solidFill>
                <a:latin typeface="Calibri"/>
              </a:rPr>
              <a:t>The library composes a clone's own writes correctly --- 300 inherited rows plus 100 of its own, with the origin still seeing 300. But no SQL statement writes into one, and the ancestor flattening is only correct **because** that is true.</a:t>
            </a:r>
          </a:p>
        </p:txBody>
      </p:sp>
      <p:sp>
        <p:nvSpPr>
          <p:cNvPr id="25" name="Rectangle 24"/>
          <p:cNvSpPr/>
          <p:nvPr/>
        </p:nvSpPr>
        <p:spPr>
          <a:xfrm>
            <a:off x="777240" y="4974336"/>
            <a:ext cx="10637215" cy="1133856"/>
          </a:xfrm>
          <a:prstGeom prst="rect">
            <a:avLst/>
          </a:prstGeom>
          <a:solidFill>
            <a:srgbClr val="FFFFFF"/>
          </a:solidFill>
          <a:ln w="1143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777240" y="4974336"/>
            <a:ext cx="10637215"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996695" y="5193792"/>
            <a:ext cx="10198303" cy="237744"/>
          </a:xfrm>
          <a:prstGeom prst="rect">
            <a:avLst/>
          </a:prstGeom>
          <a:noFill/>
        </p:spPr>
        <p:txBody>
          <a:bodyPr wrap="square" lIns="0" rIns="0" tIns="0" bIns="0" anchor="t">
            <a:spAutoFit/>
          </a:bodyPr>
          <a:lstStyle/>
          <a:p>
            <a:pPr algn="l">
              <a:spcBef>
                <a:spcPts val="0"/>
              </a:spcBef>
              <a:spcAft>
                <a:spcPts val="0"/>
              </a:spcAft>
            </a:pPr>
            <a:r>
              <a:rPr sz="1000" b="1" i="0">
                <a:solidFill>
                  <a:srgbClr val="1E3A6E"/>
                </a:solidFill>
                <a:latin typeface="Calibri"/>
              </a:rPr>
              <a:t>04</a:t>
            </a:r>
          </a:p>
        </p:txBody>
      </p:sp>
      <p:sp>
        <p:nvSpPr>
          <p:cNvPr id="28" name="TextBox 27"/>
          <p:cNvSpPr txBox="1"/>
          <p:nvPr/>
        </p:nvSpPr>
        <p:spPr>
          <a:xfrm>
            <a:off x="996695" y="5468112"/>
            <a:ext cx="10198303"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1726"/>
                </a:solidFill>
                <a:latin typeface="Georgia"/>
              </a:rPr>
              <a:t>One refusal is built and unwired.</a:t>
            </a:r>
          </a:p>
        </p:txBody>
      </p:sp>
      <p:sp>
        <p:nvSpPr>
          <p:cNvPr id="29" name="TextBox 28"/>
          <p:cNvSpPr txBox="1"/>
          <p:nvPr/>
        </p:nvSpPr>
        <p:spPr>
          <a:xfrm>
            <a:off x="996695" y="5779008"/>
            <a:ext cx="10198303" cy="146304"/>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44F60"/>
                </a:solidFill>
                <a:latin typeface="Calibri"/>
              </a:rPr>
              <a:t>Reading a clone as of a moment **before** it was taken is refused by a function with no production caller. The plan document says time travel is refused there; the function exists, the tests exercise it, and nothing in the server calls it.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VERSIONS · THE CLIENT-FACING HALF</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Asking what still reads a table, before a drop refuses</a:t>
            </a:r>
          </a:p>
        </p:txBody>
      </p:sp>
      <p:sp>
        <p:nvSpPr>
          <p:cNvPr id="6" name="Rectangle 5"/>
          <p:cNvSpPr/>
          <p:nvPr/>
        </p:nvSpPr>
        <p:spPr>
          <a:xfrm>
            <a:off x="777240" y="161848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18 · Lineage, dependents and diffs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50</a:t>
            </a:r>
          </a:p>
        </p:txBody>
      </p:sp>
      <p:sp>
        <p:nvSpPr>
          <p:cNvPr id="10" name="Rectangle 9"/>
          <p:cNvSpPr/>
          <p:nvPr/>
        </p:nvSpPr>
        <p:spPr>
          <a:xfrm>
            <a:off x="777240" y="1764792"/>
            <a:ext cx="5212235" cy="288273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764792"/>
            <a:ext cx="41148" cy="2882737"/>
          </a:xfrm>
          <a:prstGeom prst="rect">
            <a:avLst/>
          </a:prstGeom>
          <a:solidFill>
            <a:srgbClr val="444F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856231"/>
            <a:ext cx="4846475" cy="219456"/>
          </a:xfrm>
          <a:prstGeom prst="rect">
            <a:avLst/>
          </a:prstGeom>
          <a:noFill/>
        </p:spPr>
        <p:txBody>
          <a:bodyPr wrap="square" lIns="0" rIns="0" tIns="0" bIns="0" anchor="t">
            <a:spAutoFit/>
          </a:bodyPr>
          <a:lstStyle/>
          <a:p>
            <a:pPr algn="l">
              <a:spcBef>
                <a:spcPts val="0"/>
              </a:spcBef>
              <a:spcAft>
                <a:spcPts val="0"/>
              </a:spcAft>
            </a:pPr>
            <a:r>
              <a:rPr sz="900" b="1" i="0">
                <a:solidFill>
                  <a:srgbClr val="1E3A6E"/>
                </a:solidFill>
                <a:latin typeface="Calibri"/>
              </a:rPr>
              <a:t>every number read from the log, none of it estimated</a:t>
            </a:r>
          </a:p>
        </p:txBody>
      </p:sp>
      <p:sp>
        <p:nvSpPr>
          <p:cNvPr id="13" name="TextBox 12"/>
          <p:cNvSpPr txBox="1"/>
          <p:nvPr/>
        </p:nvSpPr>
        <p:spPr>
          <a:xfrm>
            <a:off x="978408" y="2157984"/>
            <a:ext cx="4846475" cy="2407249"/>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0E1726"/>
                </a:solidFill>
                <a:latin typeface="Consolas"/>
              </a:rPr>
              <a:t>SHOW LINEAGE OF sales.orders_wip;</a:t>
            </a:r>
          </a:p>
          <a:p>
            <a:pPr>
              <a:lnSpc>
                <a:spcPct val="134000"/>
              </a:lnSpc>
              <a:spcBef>
                <a:spcPts val="0"/>
              </a:spcBef>
              <a:spcAft>
                <a:spcPts val="0"/>
              </a:spcAft>
            </a:pPr>
            <a:r>
              <a:rPr sz="900" b="0" i="0">
                <a:solidFill>
                  <a:srgbClr val="0E1726"/>
                </a:solidFill>
                <a:latin typeface="Consolas"/>
              </a:rPr>
              <a:t>SHOW DEPENDENTS OF sales.orders;</a:t>
            </a:r>
          </a:p>
          <a:p>
            <a:pPr>
              <a:lnSpc>
                <a:spcPct val="134000"/>
              </a:lnSpc>
              <a:spcBef>
                <a:spcPts val="0"/>
              </a:spcBef>
              <a:spcAft>
                <a:spcPts val="0"/>
              </a:spcAft>
            </a:pPr>
            <a:r>
              <a:rPr sz="900" b="0" i="0">
                <a:solidFill>
                  <a:srgbClr val="0E1726"/>
                </a:solidFill>
                <a:latin typeface="Consolas"/>
              </a:rPr>
              <a:t> </a:t>
            </a:r>
          </a:p>
          <a:p>
            <a:pPr>
              <a:lnSpc>
                <a:spcPct val="134000"/>
              </a:lnSpc>
              <a:spcBef>
                <a:spcPts val="0"/>
              </a:spcBef>
              <a:spcAft>
                <a:spcPts val="0"/>
              </a:spcAft>
            </a:pPr>
            <a:r>
              <a:rPr sz="900" b="0" i="0">
                <a:solidFill>
                  <a:srgbClr val="0E1726"/>
                </a:solidFill>
                <a:latin typeface="Consolas"/>
              </a:rPr>
              <a:t>SHOW CHANGES BETWEEN 4 AND 9 OF sales.orders;</a:t>
            </a:r>
          </a:p>
          <a:p>
            <a:pPr>
              <a:lnSpc>
                <a:spcPct val="134000"/>
              </a:lnSpc>
              <a:spcBef>
                <a:spcPts val="0"/>
              </a:spcBef>
              <a:spcAft>
                <a:spcPts val="0"/>
              </a:spcAft>
            </a:pPr>
            <a:r>
              <a:rPr sz="900" b="0" i="0">
                <a:solidFill>
                  <a:srgbClr val="0E1726"/>
                </a:solidFill>
                <a:latin typeface="Consolas"/>
              </a:rPr>
              <a:t> </a:t>
            </a:r>
          </a:p>
          <a:p>
            <a:pPr>
              <a:lnSpc>
                <a:spcPct val="134000"/>
              </a:lnSpc>
              <a:spcBef>
                <a:spcPts val="0"/>
              </a:spcBef>
              <a:spcAft>
                <a:spcPts val="0"/>
              </a:spcAft>
            </a:pPr>
            <a:r>
              <a:rPr sz="900" b="0" i="0">
                <a:solidFill>
                  <a:srgbClr val="0E1726"/>
                </a:solidFill>
                <a:latin typeface="Consolas"/>
              </a:rPr>
              <a:t> commits | rows_added | rows_removed</a:t>
            </a:r>
          </a:p>
          <a:p>
            <a:pPr>
              <a:lnSpc>
                <a:spcPct val="134000"/>
              </a:lnSpc>
              <a:spcBef>
                <a:spcPts val="0"/>
              </a:spcBef>
              <a:spcAft>
                <a:spcPts val="0"/>
              </a:spcAft>
            </a:pPr>
            <a:r>
              <a:rPr sz="900" b="0" i="0">
                <a:solidFill>
                  <a:srgbClr val="0E1726"/>
                </a:solidFill>
                <a:latin typeface="Consolas"/>
              </a:rPr>
              <a:t>---------+------------+--------------</a:t>
            </a:r>
          </a:p>
          <a:p>
            <a:pPr>
              <a:lnSpc>
                <a:spcPct val="134000"/>
              </a:lnSpc>
              <a:spcBef>
                <a:spcPts val="0"/>
              </a:spcBef>
              <a:spcAft>
                <a:spcPts val="0"/>
              </a:spcAft>
            </a:pPr>
            <a:r>
              <a:rPr sz="900" b="0" i="0">
                <a:solidFill>
                  <a:srgbClr val="0E1726"/>
                </a:solidFill>
                <a:latin typeface="Consolas"/>
              </a:rPr>
              <a:t>       5 |      12400 |          380</a:t>
            </a:r>
          </a:p>
          <a:p>
            <a:pPr>
              <a:lnSpc>
                <a:spcPct val="134000"/>
              </a:lnSpc>
              <a:spcBef>
                <a:spcPts val="0"/>
              </a:spcBef>
              <a:spcAft>
                <a:spcPts val="0"/>
              </a:spcAft>
            </a:pPr>
            <a:r>
              <a:rPr sz="900" b="0" i="0">
                <a:solidFill>
                  <a:srgbClr val="0E1726"/>
                </a:solidFill>
                <a:latin typeface="Consolas"/>
              </a:rPr>
              <a:t> </a:t>
            </a:r>
          </a:p>
          <a:p>
            <a:pPr>
              <a:lnSpc>
                <a:spcPct val="134000"/>
              </a:lnSpc>
              <a:spcBef>
                <a:spcPts val="0"/>
              </a:spcBef>
              <a:spcAft>
                <a:spcPts val="0"/>
              </a:spcAft>
            </a:pPr>
            <a:r>
              <a:rPr sz="900" b="0" i="0">
                <a:solidFill>
                  <a:srgbClr val="0E1726"/>
                </a:solidFill>
                <a:latin typeface="Consolas"/>
              </a:rPr>
              <a:t> files_added | files_removed | compactions</a:t>
            </a:r>
          </a:p>
          <a:p>
            <a:pPr>
              <a:lnSpc>
                <a:spcPct val="134000"/>
              </a:lnSpc>
              <a:spcBef>
                <a:spcPts val="0"/>
              </a:spcBef>
              <a:spcAft>
                <a:spcPts val="0"/>
              </a:spcAft>
            </a:pPr>
            <a:r>
              <a:rPr sz="900" b="0" i="0">
                <a:solidFill>
                  <a:srgbClr val="0E1726"/>
                </a:solidFill>
                <a:latin typeface="Consolas"/>
              </a:rPr>
              <a:t>-------------+---------------+-------------</a:t>
            </a:r>
          </a:p>
          <a:p>
            <a:pPr>
              <a:lnSpc>
                <a:spcPct val="134000"/>
              </a:lnSpc>
              <a:spcBef>
                <a:spcPts val="0"/>
              </a:spcBef>
              <a:spcAft>
                <a:spcPts val="0"/>
              </a:spcAft>
            </a:pPr>
            <a:r>
              <a:rPr sz="900" b="0" i="0">
                <a:solidFill>
                  <a:srgbClr val="0E1726"/>
                </a:solidFill>
                <a:latin typeface="Consolas"/>
              </a:rPr>
              <a:t>           7 |             3 |           1</a:t>
            </a:r>
          </a:p>
        </p:txBody>
      </p:sp>
      <p:sp>
        <p:nvSpPr>
          <p:cNvPr id="14" name="TextBox 13"/>
          <p:cNvSpPr txBox="1"/>
          <p:nvPr/>
        </p:nvSpPr>
        <p:spPr>
          <a:xfrm>
            <a:off x="6414964" y="1764792"/>
            <a:ext cx="4999491" cy="3291840"/>
          </a:xfrm>
          <a:prstGeom prst="rect">
            <a:avLst/>
          </a:prstGeom>
          <a:noFill/>
        </p:spPr>
        <p:txBody>
          <a:bodyPr wrap="square" lIns="0" rIns="0" tIns="0" bIns="0" anchor="t">
            <a:spAutoFit/>
          </a:bodyPr>
          <a:lstStyle/>
          <a:p>
            <a:pPr algn="l">
              <a:spcBef>
                <a:spcPts val="0"/>
              </a:spcBef>
              <a:spcAft>
                <a:spcPts val="800"/>
              </a:spcAft>
            </a:pPr>
            <a:r>
              <a:rPr sz="1200" b="1" i="0">
                <a:solidFill>
                  <a:srgbClr val="1E3A6E"/>
                </a:solidFill>
                <a:latin typeface="Calibri"/>
              </a:rPr>
              <a:t>Compactions are counted separately, and that is the whole design.</a:t>
            </a:r>
          </a:p>
          <a:p>
            <a:pPr>
              <a:spcBef>
                <a:spcPts val="0"/>
              </a:spcBef>
              <a:spcAft>
                <a:spcPts val="800"/>
              </a:spcAft>
            </a:pPr>
            <a:r>
              <a:rPr sz="1050" b="1">
                <a:solidFill>
                  <a:srgbClr val="1E3A6E"/>
                </a:solidFill>
                <a:latin typeface="Calibri"/>
              </a:rPr>
              <a:t>▪  </a:t>
            </a:r>
            <a:r>
              <a:rPr sz="1050">
                <a:solidFill>
                  <a:srgbClr val="0E1726"/>
                </a:solidFill>
                <a:latin typeface="Calibri"/>
              </a:rPr>
              <a:t>A compaction adds files and removes files and changes **no rows**. Folding it into `files_added` would make a quiet warehouse look busy and a busy one look quiet.</a:t>
            </a:r>
          </a:p>
          <a:p>
            <a:pPr>
              <a:spcBef>
                <a:spcPts val="0"/>
              </a:spcBef>
              <a:spcAft>
                <a:spcPts val="800"/>
              </a:spcAft>
            </a:pPr>
            <a:r>
              <a:rPr sz="1050" b="1">
                <a:solidFill>
                  <a:srgbClr val="1E3A6E"/>
                </a:solidFill>
                <a:latin typeface="Calibri"/>
              </a:rPr>
              <a:t>▪  </a:t>
            </a:r>
            <a:r>
              <a:rPr sz="1050">
                <a:solidFill>
                  <a:srgbClr val="0E1726"/>
                </a:solidFill>
                <a:latin typeface="Calibri"/>
              </a:rPr>
              <a:t>A drop that would break a clone refuses --- and `SHOW DEPENDENTS` is how you find that out **before** you type it, rather than by reading the refusal.</a:t>
            </a:r>
          </a:p>
          <a:p>
            <a:pPr>
              <a:spcBef>
                <a:spcPts val="0"/>
              </a:spcBef>
              <a:spcAft>
                <a:spcPts val="800"/>
              </a:spcAft>
            </a:pPr>
            <a:r>
              <a:rPr sz="1050" b="1">
                <a:solidFill>
                  <a:srgbClr val="1E3A6E"/>
                </a:solidFill>
                <a:latin typeface="Calibri"/>
              </a:rPr>
              <a:t>▪  </a:t>
            </a:r>
            <a:r>
              <a:rPr sz="1050">
                <a:solidFill>
                  <a:srgbClr val="0E1726"/>
                </a:solidFill>
                <a:latin typeface="Calibri"/>
              </a:rPr>
              <a:t>A lineage that cannot be read takes opposite branches in two places: the sweeper treats it as a clone of nothing, keeping reclamation conservative; the read path treats it as not a clone and serves the table empty. That is an inconsistency, and it is written down rather than smoothed over.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2191695" cy="9144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417320"/>
            <a:ext cx="10637215" cy="457200"/>
          </a:xfrm>
          <a:prstGeom prst="rect">
            <a:avLst/>
          </a:prstGeom>
          <a:noFill/>
        </p:spPr>
        <p:txBody>
          <a:bodyPr wrap="square" lIns="0" rIns="0" tIns="0" bIns="0" anchor="t">
            <a:spAutoFit/>
          </a:bodyPr>
          <a:lstStyle/>
          <a:p>
            <a:pPr algn="l">
              <a:spcBef>
                <a:spcPts val="0"/>
              </a:spcBef>
              <a:spcAft>
                <a:spcPts val="0"/>
              </a:spcAft>
            </a:pPr>
            <a:r>
              <a:rPr sz="1300" b="1" i="0">
                <a:solidFill>
                  <a:srgbClr val="1E3A6E"/>
                </a:solidFill>
                <a:latin typeface="Calibri"/>
              </a:rPr>
              <a:t>PART V</a:t>
            </a:r>
          </a:p>
        </p:txBody>
      </p:sp>
      <p:sp>
        <p:nvSpPr>
          <p:cNvPr id="5" name="TextBox 4"/>
          <p:cNvSpPr txBox="1"/>
          <p:nvPr/>
        </p:nvSpPr>
        <p:spPr>
          <a:xfrm>
            <a:off x="1005840" y="1965960"/>
            <a:ext cx="6807817" cy="1280160"/>
          </a:xfrm>
          <a:prstGeom prst="rect">
            <a:avLst/>
          </a:prstGeom>
          <a:noFill/>
        </p:spPr>
        <p:txBody>
          <a:bodyPr wrap="square" lIns="0" rIns="0" tIns="0" bIns="0" anchor="t">
            <a:spAutoFit/>
          </a:bodyPr>
          <a:lstStyle/>
          <a:p>
            <a:pPr algn="l">
              <a:spcBef>
                <a:spcPts val="0"/>
              </a:spcBef>
              <a:spcAft>
                <a:spcPts val="0"/>
              </a:spcAft>
            </a:pPr>
            <a:r>
              <a:rPr sz="4200" b="0" i="0">
                <a:solidFill>
                  <a:srgbClr val="FFFFFF"/>
                </a:solidFill>
                <a:latin typeface="Georgia"/>
              </a:rPr>
              <a:t>The other two engines</a:t>
            </a:r>
          </a:p>
        </p:txBody>
      </p:sp>
      <p:sp>
        <p:nvSpPr>
          <p:cNvPr id="6" name="Rectangle 5"/>
          <p:cNvSpPr/>
          <p:nvPr/>
        </p:nvSpPr>
        <p:spPr>
          <a:xfrm>
            <a:off x="1005840" y="3429000"/>
            <a:ext cx="1645920" cy="36576"/>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703320"/>
            <a:ext cx="6382329" cy="1005840"/>
          </a:xfrm>
          <a:prstGeom prst="rect">
            <a:avLst/>
          </a:prstGeom>
          <a:noFill/>
        </p:spPr>
        <p:txBody>
          <a:bodyPr wrap="square" lIns="0" rIns="0" tIns="0" bIns="0" anchor="t">
            <a:spAutoFit/>
          </a:bodyPr>
          <a:lstStyle/>
          <a:p>
            <a:pPr algn="l">
              <a:lnSpc>
                <a:spcPct val="130000"/>
              </a:lnSpc>
              <a:spcBef>
                <a:spcPts val="0"/>
              </a:spcBef>
              <a:spcAft>
                <a:spcPts val="0"/>
              </a:spcAft>
            </a:pPr>
            <a:r>
              <a:rPr sz="1600" b="0" i="1">
                <a:solidFill>
                  <a:srgbClr val="C8C2BA"/>
                </a:solidFill>
                <a:latin typeface="Calibri"/>
              </a:rPr>
              <a:t>the graph tier, the transactional tier, one catalogue on every path</a:t>
            </a:r>
          </a:p>
        </p:txBody>
      </p:sp>
      <p:sp>
        <p:nvSpPr>
          <p:cNvPr id="8" name="TextBox 7"/>
          <p:cNvSpPr txBox="1"/>
          <p:nvPr/>
        </p:nvSpPr>
        <p:spPr>
          <a:xfrm>
            <a:off x="8010546" y="1463040"/>
            <a:ext cx="3403908" cy="4206240"/>
          </a:xfrm>
          <a:prstGeom prst="rect">
            <a:avLst/>
          </a:prstGeom>
          <a:noFill/>
        </p:spPr>
        <p:txBody>
          <a:bodyPr wrap="square" lIns="0" rIns="0" tIns="0" bIns="0" anchor="t">
            <a:spAutoFit/>
          </a:bodyPr>
          <a:lstStyle/>
          <a:p>
            <a:pPr algn="l">
              <a:spcBef>
                <a:spcPts val="0"/>
              </a:spcBef>
              <a:spcAft>
                <a:spcPts val="1200"/>
              </a:spcAft>
            </a:pPr>
            <a:r>
              <a:rPr sz="950" b="1" i="0">
                <a:solidFill>
                  <a:srgbClr val="1E3A6E"/>
                </a:solidFill>
                <a:latin typeface="Calibri"/>
              </a:rPr>
              <a:t>CHAPTERS</a:t>
            </a:r>
          </a:p>
          <a:p>
            <a:pPr>
              <a:lnSpc>
                <a:spcPct val="115000"/>
              </a:lnSpc>
              <a:spcBef>
                <a:spcPts val="0"/>
              </a:spcBef>
              <a:spcAft>
                <a:spcPts val="800"/>
              </a:spcAft>
            </a:pPr>
            <a:r>
              <a:rPr sz="1150" b="0" i="0">
                <a:solidFill>
                  <a:srgbClr val="E4DED6"/>
                </a:solidFill>
                <a:latin typeface="Calibri"/>
              </a:rPr>
              <a:t>20 · The graph engine</a:t>
            </a:r>
          </a:p>
          <a:p>
            <a:pPr>
              <a:lnSpc>
                <a:spcPct val="115000"/>
              </a:lnSpc>
              <a:spcBef>
                <a:spcPts val="0"/>
              </a:spcBef>
              <a:spcAft>
                <a:spcPts val="800"/>
              </a:spcAft>
            </a:pPr>
            <a:r>
              <a:rPr sz="1150" b="0" i="0">
                <a:solidFill>
                  <a:srgbClr val="E4DED6"/>
                </a:solidFill>
                <a:latin typeface="Calibri"/>
              </a:rPr>
              <a:t>21 · The transactional tier and the capture bridge</a:t>
            </a:r>
          </a:p>
          <a:p>
            <a:pPr>
              <a:lnSpc>
                <a:spcPct val="115000"/>
              </a:lnSpc>
              <a:spcBef>
                <a:spcPts val="0"/>
              </a:spcBef>
              <a:spcAft>
                <a:spcPts val="800"/>
              </a:spcAft>
            </a:pPr>
            <a:r>
              <a:rPr sz="1150" b="0" i="0">
                <a:solidFill>
                  <a:srgbClr val="E4DED6"/>
                </a:solidFill>
                <a:latin typeface="Calibri"/>
              </a:rPr>
              <a:t>22 · One catalogue, on every path</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GRAPH · THE SHAPE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There is no graph write path, and that is the design</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20 · The graph engine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52</a:t>
            </a:r>
          </a:p>
        </p:txBody>
      </p:sp>
      <p:sp>
        <p:nvSpPr>
          <p:cNvPr id="10" name="TextBox 9"/>
          <p:cNvSpPr txBox="1"/>
          <p:nvPr/>
        </p:nvSpPr>
        <p:spPr>
          <a:xfrm>
            <a:off x="777240" y="1353312"/>
            <a:ext cx="10637215" cy="566928"/>
          </a:xfrm>
          <a:prstGeom prst="rect">
            <a:avLst/>
          </a:prstGeom>
          <a:noFill/>
        </p:spPr>
        <p:txBody>
          <a:bodyPr wrap="square" lIns="0" rIns="0" tIns="0" bIns="0" anchor="t">
            <a:spAutoFit/>
          </a:bodyPr>
          <a:lstStyle/>
          <a:p>
            <a:pPr algn="l">
              <a:lnSpc>
                <a:spcPct val="126000"/>
              </a:lnSpc>
              <a:spcBef>
                <a:spcPts val="0"/>
              </a:spcBef>
              <a:spcAft>
                <a:spcPts val="0"/>
              </a:spcAft>
            </a:pPr>
            <a:r>
              <a:rPr sz="1150" b="1" i="0">
                <a:solidFill>
                  <a:srgbClr val="1E3A6E"/>
                </a:solidFill>
                <a:latin typeface="Calibri"/>
              </a:rPr>
              <a:t>An epoch is hydrated by scanning published tables, and records the snapshot it was built from. </a:t>
            </a:r>
            <a:r>
              <a:rPr sz="1150" b="0" i="0">
                <a:solidFill>
                  <a:srgbClr val="444F60"/>
                </a:solidFill>
                <a:latin typeface="Calibri"/>
              </a:rPr>
              <a:t>No separate store, no write path, no durability of its own --- and four consequences, each answering a question a graph database has to keep answering.</a:t>
            </a:r>
          </a:p>
        </p:txBody>
      </p:sp>
      <p:sp>
        <p:nvSpPr>
          <p:cNvPr id="11" name="Rectangle 10"/>
          <p:cNvSpPr/>
          <p:nvPr/>
        </p:nvSpPr>
        <p:spPr>
          <a:xfrm>
            <a:off x="777240" y="1993391"/>
            <a:ext cx="2522143" cy="1371600"/>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1993391"/>
            <a:ext cx="2522143" cy="4572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23544" y="2139696"/>
            <a:ext cx="2229535" cy="1097280"/>
          </a:xfrm>
          <a:prstGeom prst="rect">
            <a:avLst/>
          </a:prstGeom>
          <a:noFill/>
        </p:spPr>
        <p:txBody>
          <a:bodyPr wrap="square" lIns="0" rIns="0" tIns="0" bIns="0" anchor="t">
            <a:spAutoFit/>
          </a:bodyPr>
          <a:lstStyle/>
          <a:p>
            <a:pPr algn="l">
              <a:spcBef>
                <a:spcPts val="0"/>
              </a:spcBef>
              <a:spcAft>
                <a:spcPts val="200"/>
              </a:spcAft>
            </a:pPr>
            <a:r>
              <a:rPr sz="1400" b="1" i="0">
                <a:solidFill>
                  <a:srgbClr val="1E3A6E"/>
                </a:solidFill>
                <a:latin typeface="Georgia"/>
              </a:rPr>
              <a:t>01</a:t>
            </a:r>
          </a:p>
          <a:p>
            <a:pPr>
              <a:spcBef>
                <a:spcPts val="0"/>
              </a:spcBef>
              <a:spcAft>
                <a:spcPts val="400"/>
              </a:spcAft>
            </a:pPr>
            <a:r>
              <a:rPr sz="1100" b="1" i="0">
                <a:solidFill>
                  <a:srgbClr val="0E1726"/>
                </a:solidFill>
                <a:latin typeface="Calibri"/>
              </a:rPr>
              <a:t>No dual write</a:t>
            </a:r>
          </a:p>
          <a:p>
            <a:pPr>
              <a:lnSpc>
                <a:spcPct val="115000"/>
              </a:lnSpc>
              <a:spcBef>
                <a:spcPts val="0"/>
              </a:spcBef>
              <a:spcAft>
                <a:spcPts val="600"/>
              </a:spcAft>
            </a:pPr>
            <a:r>
              <a:rPr sz="850" b="0" i="0">
                <a:solidFill>
                  <a:srgbClr val="444F60"/>
                </a:solidFill>
                <a:latin typeface="Calibri"/>
              </a:rPr>
              <a:t>The graph cannot disagree with the tables, because it *is* the tables.</a:t>
            </a:r>
          </a:p>
        </p:txBody>
      </p:sp>
      <p:sp>
        <p:nvSpPr>
          <p:cNvPr id="14" name="Rectangle 13"/>
          <p:cNvSpPr/>
          <p:nvPr/>
        </p:nvSpPr>
        <p:spPr>
          <a:xfrm>
            <a:off x="3482263" y="1993391"/>
            <a:ext cx="2522143" cy="1371600"/>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3482263" y="1993391"/>
            <a:ext cx="2522143" cy="4572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3628567" y="2139696"/>
            <a:ext cx="2229535" cy="1097280"/>
          </a:xfrm>
          <a:prstGeom prst="rect">
            <a:avLst/>
          </a:prstGeom>
          <a:noFill/>
        </p:spPr>
        <p:txBody>
          <a:bodyPr wrap="square" lIns="0" rIns="0" tIns="0" bIns="0" anchor="t">
            <a:spAutoFit/>
          </a:bodyPr>
          <a:lstStyle/>
          <a:p>
            <a:pPr algn="l">
              <a:spcBef>
                <a:spcPts val="0"/>
              </a:spcBef>
              <a:spcAft>
                <a:spcPts val="200"/>
              </a:spcAft>
            </a:pPr>
            <a:r>
              <a:rPr sz="1400" b="1" i="0">
                <a:solidFill>
                  <a:srgbClr val="1E3A6E"/>
                </a:solidFill>
                <a:latin typeface="Georgia"/>
              </a:rPr>
              <a:t>02</a:t>
            </a:r>
          </a:p>
          <a:p>
            <a:pPr>
              <a:spcBef>
                <a:spcPts val="0"/>
              </a:spcBef>
              <a:spcAft>
                <a:spcPts val="400"/>
              </a:spcAft>
            </a:pPr>
            <a:r>
              <a:rPr sz="1100" b="1" i="0">
                <a:solidFill>
                  <a:srgbClr val="0E1726"/>
                </a:solidFill>
                <a:latin typeface="Calibri"/>
              </a:rPr>
              <a:t>No reindex</a:t>
            </a:r>
          </a:p>
          <a:p>
            <a:pPr>
              <a:lnSpc>
                <a:spcPct val="115000"/>
              </a:lnSpc>
              <a:spcBef>
                <a:spcPts val="0"/>
              </a:spcBef>
              <a:spcAft>
                <a:spcPts val="600"/>
              </a:spcAft>
            </a:pPr>
            <a:r>
              <a:rPr sz="850" b="0" i="0">
                <a:solidFill>
                  <a:srgbClr val="444F60"/>
                </a:solidFill>
                <a:latin typeface="Calibri"/>
              </a:rPr>
              <a:t>A stale epoch is replaced, never repaired. Rebuilding is the only operation.</a:t>
            </a:r>
          </a:p>
        </p:txBody>
      </p:sp>
      <p:sp>
        <p:nvSpPr>
          <p:cNvPr id="17" name="Rectangle 16"/>
          <p:cNvSpPr/>
          <p:nvPr/>
        </p:nvSpPr>
        <p:spPr>
          <a:xfrm>
            <a:off x="6187287" y="1993391"/>
            <a:ext cx="2522143" cy="1371600"/>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Rectangle 17"/>
          <p:cNvSpPr/>
          <p:nvPr/>
        </p:nvSpPr>
        <p:spPr>
          <a:xfrm>
            <a:off x="6187287" y="1993391"/>
            <a:ext cx="2522143" cy="4572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TextBox 18"/>
          <p:cNvSpPr txBox="1"/>
          <p:nvPr/>
        </p:nvSpPr>
        <p:spPr>
          <a:xfrm>
            <a:off x="6333591" y="2139696"/>
            <a:ext cx="2229535" cy="1097280"/>
          </a:xfrm>
          <a:prstGeom prst="rect">
            <a:avLst/>
          </a:prstGeom>
          <a:noFill/>
        </p:spPr>
        <p:txBody>
          <a:bodyPr wrap="square" lIns="0" rIns="0" tIns="0" bIns="0" anchor="t">
            <a:spAutoFit/>
          </a:bodyPr>
          <a:lstStyle/>
          <a:p>
            <a:pPr algn="l">
              <a:spcBef>
                <a:spcPts val="0"/>
              </a:spcBef>
              <a:spcAft>
                <a:spcPts val="200"/>
              </a:spcAft>
            </a:pPr>
            <a:r>
              <a:rPr sz="1400" b="1" i="0">
                <a:solidFill>
                  <a:srgbClr val="1E3A6E"/>
                </a:solidFill>
                <a:latin typeface="Georgia"/>
              </a:rPr>
              <a:t>03</a:t>
            </a:r>
          </a:p>
          <a:p>
            <a:pPr>
              <a:spcBef>
                <a:spcPts val="0"/>
              </a:spcBef>
              <a:spcAft>
                <a:spcPts val="400"/>
              </a:spcAft>
            </a:pPr>
            <a:r>
              <a:rPr sz="1100" b="1" i="0">
                <a:solidFill>
                  <a:srgbClr val="0E1726"/>
                </a:solidFill>
                <a:latin typeface="Calibri"/>
              </a:rPr>
              <a:t>As-of is free</a:t>
            </a:r>
          </a:p>
          <a:p>
            <a:pPr>
              <a:lnSpc>
                <a:spcPct val="115000"/>
              </a:lnSpc>
              <a:spcBef>
                <a:spcPts val="0"/>
              </a:spcBef>
              <a:spcAft>
                <a:spcPts val="600"/>
              </a:spcAft>
            </a:pPr>
            <a:r>
              <a:rPr sz="850" b="0" i="0">
                <a:solidFill>
                  <a:srgbClr val="444F60"/>
                </a:solidFill>
                <a:latin typeface="Calibri"/>
              </a:rPr>
              <a:t>An epoch names its snapshot, so a historical traversal is a different epoch.</a:t>
            </a:r>
          </a:p>
        </p:txBody>
      </p:sp>
      <p:sp>
        <p:nvSpPr>
          <p:cNvPr id="20" name="Rectangle 19"/>
          <p:cNvSpPr/>
          <p:nvPr/>
        </p:nvSpPr>
        <p:spPr>
          <a:xfrm>
            <a:off x="8892311" y="1993391"/>
            <a:ext cx="2522143" cy="1371600"/>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8892311" y="1993391"/>
            <a:ext cx="2522143" cy="4572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9038615" y="2139696"/>
            <a:ext cx="2229535" cy="1097280"/>
          </a:xfrm>
          <a:prstGeom prst="rect">
            <a:avLst/>
          </a:prstGeom>
          <a:noFill/>
        </p:spPr>
        <p:txBody>
          <a:bodyPr wrap="square" lIns="0" rIns="0" tIns="0" bIns="0" anchor="t">
            <a:spAutoFit/>
          </a:bodyPr>
          <a:lstStyle/>
          <a:p>
            <a:pPr algn="l">
              <a:spcBef>
                <a:spcPts val="0"/>
              </a:spcBef>
              <a:spcAft>
                <a:spcPts val="200"/>
              </a:spcAft>
            </a:pPr>
            <a:r>
              <a:rPr sz="1400" b="1" i="0">
                <a:solidFill>
                  <a:srgbClr val="1E3A6E"/>
                </a:solidFill>
                <a:latin typeface="Georgia"/>
              </a:rPr>
              <a:t>04</a:t>
            </a:r>
          </a:p>
          <a:p>
            <a:pPr>
              <a:spcBef>
                <a:spcPts val="0"/>
              </a:spcBef>
              <a:spcAft>
                <a:spcPts val="400"/>
              </a:spcAft>
            </a:pPr>
            <a:r>
              <a:rPr sz="1100" b="1" i="0">
                <a:solidFill>
                  <a:srgbClr val="0E1726"/>
                </a:solidFill>
                <a:latin typeface="Calibri"/>
              </a:rPr>
              <a:t>No graph backup</a:t>
            </a:r>
          </a:p>
          <a:p>
            <a:pPr>
              <a:lnSpc>
                <a:spcPct val="115000"/>
              </a:lnSpc>
              <a:spcBef>
                <a:spcPts val="0"/>
              </a:spcBef>
              <a:spcAft>
                <a:spcPts val="600"/>
              </a:spcAft>
            </a:pPr>
            <a:r>
              <a:rPr sz="850" b="0" i="0">
                <a:solidFill>
                  <a:srgbClr val="444F60"/>
                </a:solidFill>
                <a:latin typeface="Calibri"/>
              </a:rPr>
              <a:t>Backing up the tables backs up the graph. There is nothing else to lose.</a:t>
            </a:r>
          </a:p>
        </p:txBody>
      </p:sp>
      <p:sp>
        <p:nvSpPr>
          <p:cNvPr id="23" name="TextBox 22"/>
          <p:cNvSpPr txBox="1"/>
          <p:nvPr/>
        </p:nvSpPr>
        <p:spPr>
          <a:xfrm>
            <a:off x="777240" y="3511296"/>
            <a:ext cx="5212235" cy="1920240"/>
          </a:xfrm>
          <a:prstGeom prst="rect">
            <a:avLst/>
          </a:prstGeom>
          <a:noFill/>
        </p:spPr>
        <p:txBody>
          <a:bodyPr wrap="square" lIns="0" rIns="0" tIns="0" bIns="0" anchor="t">
            <a:spAutoFit/>
          </a:bodyPr>
          <a:lstStyle/>
          <a:p>
            <a:pPr algn="l">
              <a:spcBef>
                <a:spcPts val="0"/>
              </a:spcBef>
              <a:spcAft>
                <a:spcPts val="700"/>
              </a:spcAft>
            </a:pPr>
            <a:r>
              <a:rPr sz="1150" b="1" i="0">
                <a:solidFill>
                  <a:srgbClr val="1E3A6E"/>
                </a:solidFill>
                <a:latin typeface="Calibri"/>
              </a:rPr>
              <a:t>The adjacency, and why the traversal is cheap.</a:t>
            </a:r>
          </a:p>
          <a:p>
            <a:pPr>
              <a:lnSpc>
                <a:spcPct val="130000"/>
              </a:lnSpc>
              <a:spcBef>
                <a:spcPts val="0"/>
              </a:spcBef>
              <a:spcAft>
                <a:spcPts val="0"/>
              </a:spcAft>
            </a:pPr>
            <a:r>
              <a:rPr sz="1050" b="0" i="0">
                <a:solidFill>
                  <a:srgbClr val="444F60"/>
                </a:solidFill>
                <a:latin typeface="Calibri"/>
              </a:rPr>
              <a:t>Typed vertices, typed edges, per-edge-type adjacency **in both directions**, half-open validity intervals sorted by source and by time. So *the edges of this vertex as of time t* is a binary search and a slice --- not a scan, and not an index to maintain.</a:t>
            </a:r>
          </a:p>
        </p:txBody>
      </p:sp>
      <p:sp>
        <p:nvSpPr>
          <p:cNvPr id="24" name="TextBox 23"/>
          <p:cNvSpPr txBox="1"/>
          <p:nvPr/>
        </p:nvSpPr>
        <p:spPr>
          <a:xfrm>
            <a:off x="6414964" y="3511296"/>
            <a:ext cx="4999491" cy="1920240"/>
          </a:xfrm>
          <a:prstGeom prst="rect">
            <a:avLst/>
          </a:prstGeom>
          <a:noFill/>
        </p:spPr>
        <p:txBody>
          <a:bodyPr wrap="square" lIns="0" rIns="0" tIns="0" bIns="0" anchor="t">
            <a:spAutoFit/>
          </a:bodyPr>
          <a:lstStyle/>
          <a:p>
            <a:pPr algn="l">
              <a:spcBef>
                <a:spcPts val="0"/>
              </a:spcBef>
              <a:spcAft>
                <a:spcPts val="700"/>
              </a:spcAft>
            </a:pPr>
            <a:r>
              <a:rPr sz="1150" b="1" i="0">
                <a:solidFill>
                  <a:srgbClr val="1E3A6E"/>
                </a:solidFill>
                <a:latin typeface="Calibri"/>
              </a:rPr>
              <a:t>Time-respecting traversal is a function, not a flag.</a:t>
            </a:r>
          </a:p>
          <a:p>
            <a:pPr>
              <a:lnSpc>
                <a:spcPct val="130000"/>
              </a:lnSpc>
              <a:spcBef>
                <a:spcPts val="0"/>
              </a:spcBef>
              <a:spcAft>
                <a:spcPts val="0"/>
              </a:spcAft>
            </a:pPr>
            <a:r>
              <a:rPr sz="1050" b="0" i="0">
                <a:solidFill>
                  <a:srgbClr val="444F60"/>
                </a:solidFill>
                <a:latin typeface="Calibri"/>
              </a:rPr>
              <a:t>Static reachability over-reports --- always in that direction --- because it will happily use an edge that closed before the one leading to it opened. **The optimistic answer looks exactly like the correct one.** A flag on a function makes the wrong answer the default for anybody who does not know to set it, so it is a separate name.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GRAPH · WHAT RUNS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Complete, correct, bounded --- and structurally empty</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20 · The graph engine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53</a:t>
            </a:r>
          </a:p>
        </p:txBody>
      </p:sp>
      <p:graphicFrame>
        <p:nvGraphicFramePr>
          <p:cNvPr id="10" name="Table 9"/>
          <p:cNvGraphicFramePr>
            <a:graphicFrameLocks noGrp="1"/>
          </p:cNvGraphicFramePr>
          <p:nvPr/>
        </p:nvGraphicFramePr>
        <p:xfrm>
          <a:off x="777240" y="1353312"/>
          <a:ext cx="5531351" cy="2836848"/>
        </p:xfrm>
        <a:graphic>
          <a:graphicData uri="http://schemas.openxmlformats.org/drawingml/2006/table">
            <a:tbl>
              <a:tblPr firstRow="1">
                <a:tableStyleId>{5C22544A-7EE6-4342-B048-85BDC9FD1C3A}</a:tableStyleId>
              </a:tblPr>
              <a:tblGrid>
                <a:gridCol w="3555869"/>
                <a:gridCol w="1975482"/>
              </a:tblGrid>
              <a:tr h="329184">
                <a:tc>
                  <a:txBody>
                    <a:bodyPr wrap="square"/>
                    <a:lstStyle/>
                    <a:p>
                      <a:pPr algn="l"/>
                      <a:r>
                        <a:rPr sz="1000" b="1">
                          <a:solidFill>
                            <a:srgbClr val="FFFFFF"/>
                          </a:solidFill>
                          <a:latin typeface="Calibri"/>
                        </a:rPr>
                        <a:t>What is built</a:t>
                      </a:r>
                    </a:p>
                  </a:txBody>
                  <a:tcPr marL="82296" marR="64008" marT="32004" marB="32004" anchor="ctr">
                    <a:solidFill>
                      <a:srgbClr val="1E3A6E"/>
                    </a:solidFill>
                  </a:tcPr>
                </a:tc>
                <a:tc>
                  <a:txBody>
                    <a:bodyPr wrap="square"/>
                    <a:lstStyle/>
                    <a:p>
                      <a:pPr algn="l"/>
                      <a:r>
                        <a:rPr sz="1000" b="1">
                          <a:solidFill>
                            <a:srgbClr val="FFFFFF"/>
                          </a:solidFill>
                          <a:latin typeface="Calibri"/>
                        </a:rPr>
                        <a:t>Where</a:t>
                      </a:r>
                    </a:p>
                  </a:txBody>
                  <a:tcPr marL="82296" marR="64008" marT="32004" marB="32004" anchor="ctr">
                    <a:solidFill>
                      <a:srgbClr val="1E3A6E"/>
                    </a:solidFill>
                  </a:tcPr>
                </a:tc>
              </a:tr>
              <a:tr h="310896">
                <a:tc>
                  <a:txBody>
                    <a:bodyPr wrap="square"/>
                    <a:lstStyle/>
                    <a:p>
                      <a:pPr algn="l"/>
                      <a:r>
                        <a:rPr sz="950" b="0">
                          <a:solidFill>
                            <a:srgbClr val="0E1726"/>
                          </a:solidFill>
                          <a:latin typeface="Calibri"/>
                        </a:rPr>
                        <a:t>Shortest path, k-shortest loopless, cycles</a:t>
                      </a:r>
                    </a:p>
                  </a:txBody>
                  <a:tcPr marL="82296" marR="64008" marT="32004" marB="32004" anchor="ctr">
                    <a:solidFill>
                      <a:srgbClr val="FFFFFF"/>
                    </a:solidFill>
                  </a:tcPr>
                </a:tc>
                <a:tc>
                  <a:txBody>
                    <a:bodyPr wrap="square"/>
                    <a:lstStyle/>
                    <a:p>
                      <a:pPr algn="l"/>
                      <a:r>
                        <a:rPr sz="950" b="0">
                          <a:solidFill>
                            <a:srgbClr val="0E1726"/>
                          </a:solidFill>
                          <a:latin typeface="Calibri"/>
                        </a:rPr>
                        <a:t>`graph-algo/src/paths.rs`</a:t>
                      </a:r>
                    </a:p>
                  </a:txBody>
                  <a:tcPr marL="82296" marR="64008" marT="32004" marB="32004" anchor="ctr">
                    <a:solidFill>
                      <a:srgbClr val="FFFFFF"/>
                    </a:solidFill>
                  </a:tcPr>
                </a:tc>
              </a:tr>
              <a:tr h="632040">
                <a:tc>
                  <a:txBody>
                    <a:bodyPr wrap="square"/>
                    <a:lstStyle/>
                    <a:p>
                      <a:pPr algn="l"/>
                      <a:r>
                        <a:rPr sz="950" b="0">
                          <a:solidFill>
                            <a:srgbClr val="0E1726"/>
                          </a:solidFill>
                          <a:latin typeface="Calibri"/>
                        </a:rPr>
                        <a:t>Weakly and strongly connected components</a:t>
                      </a:r>
                    </a:p>
                  </a:txBody>
                  <a:tcPr marL="82296" marR="64008" marT="32004" marB="32004" anchor="ctr">
                    <a:solidFill>
                      <a:srgbClr val="FBFAF7"/>
                    </a:solidFill>
                  </a:tcPr>
                </a:tc>
                <a:tc>
                  <a:txBody>
                    <a:bodyPr wrap="square"/>
                    <a:lstStyle/>
                    <a:p>
                      <a:pPr algn="l"/>
                      <a:r>
                        <a:rPr sz="950" b="0">
                          <a:solidFill>
                            <a:srgbClr val="0E1726"/>
                          </a:solidFill>
                          <a:latin typeface="Calibri"/>
                        </a:rPr>
                        <a:t>`graph-algo/src/components.rs`</a:t>
                      </a:r>
                    </a:p>
                  </a:txBody>
                  <a:tcPr marL="82296" marR="64008" marT="32004" marB="32004" anchor="ctr">
                    <a:solidFill>
                      <a:srgbClr val="FBFAF7"/>
                    </a:solidFill>
                  </a:tcPr>
                </a:tc>
              </a:tr>
              <a:tr h="310896">
                <a:tc>
                  <a:txBody>
                    <a:bodyPr wrap="square"/>
                    <a:lstStyle/>
                    <a:p>
                      <a:pPr algn="l"/>
                      <a:r>
                        <a:rPr sz="950" b="0">
                          <a:solidFill>
                            <a:srgbClr val="0E1726"/>
                          </a:solidFill>
                          <a:latin typeface="Calibri"/>
                        </a:rPr>
                        <a:t>Community detection, modularity</a:t>
                      </a:r>
                    </a:p>
                  </a:txBody>
                  <a:tcPr marL="82296" marR="64008" marT="32004" marB="32004" anchor="ctr">
                    <a:solidFill>
                      <a:srgbClr val="FFFFFF"/>
                    </a:solidFill>
                  </a:tcPr>
                </a:tc>
                <a:tc>
                  <a:txBody>
                    <a:bodyPr wrap="square"/>
                    <a:lstStyle/>
                    <a:p>
                      <a:pPr algn="l"/>
                      <a:r>
                        <a:rPr sz="950" b="0">
                          <a:solidFill>
                            <a:srgbClr val="0E1726"/>
                          </a:solidFill>
                          <a:latin typeface="Calibri"/>
                        </a:rPr>
                        <a:t>`graph-algo/src/community.rs`</a:t>
                      </a:r>
                    </a:p>
                  </a:txBody>
                  <a:tcPr marL="82296" marR="64008" marT="32004" marB="32004" anchor="ctr">
                    <a:solidFill>
                      <a:srgbClr val="FFFFFF"/>
                    </a:solidFill>
                  </a:tcPr>
                </a:tc>
              </a:tr>
              <a:tr h="632040">
                <a:tc>
                  <a:txBody>
                    <a:bodyPr wrap="square"/>
                    <a:lstStyle/>
                    <a:p>
                      <a:pPr algn="l"/>
                      <a:r>
                        <a:rPr sz="950" b="0">
                          <a:solidFill>
                            <a:srgbClr val="0E1726"/>
                          </a:solidFill>
                          <a:latin typeface="Calibri"/>
                        </a:rPr>
                        <a:t>Degree, rank, betweenness estimate</a:t>
                      </a:r>
                    </a:p>
                  </a:txBody>
                  <a:tcPr marL="82296" marR="64008" marT="32004" marB="32004" anchor="ctr">
                    <a:solidFill>
                      <a:srgbClr val="FBFAF7"/>
                    </a:solidFill>
                  </a:tcPr>
                </a:tc>
                <a:tc>
                  <a:txBody>
                    <a:bodyPr wrap="square"/>
                    <a:lstStyle/>
                    <a:p>
                      <a:pPr algn="l"/>
                      <a:r>
                        <a:rPr sz="950" b="0">
                          <a:solidFill>
                            <a:srgbClr val="0E1726"/>
                          </a:solidFill>
                          <a:latin typeface="Calibri"/>
                        </a:rPr>
                        <a:t>`graph-algo/src/centrality.rs`</a:t>
                      </a:r>
                    </a:p>
                  </a:txBody>
                  <a:tcPr marL="82296" marR="64008" marT="32004" marB="32004" anchor="ctr">
                    <a:solidFill>
                      <a:srgbClr val="FBFAF7"/>
                    </a:solidFill>
                  </a:tcPr>
                </a:tc>
              </a:tr>
              <a:tr h="310896">
                <a:tc>
                  <a:txBody>
                    <a:bodyPr wrap="square"/>
                    <a:lstStyle/>
                    <a:p>
                      <a:pPr algn="l"/>
                      <a:r>
                        <a:rPr sz="950" b="0">
                          <a:solidFill>
                            <a:srgbClr val="0E1726"/>
                          </a:solidFill>
                          <a:latin typeface="Calibri"/>
                        </a:rPr>
                        <a:t>Influence, influence between</a:t>
                      </a:r>
                    </a:p>
                  </a:txBody>
                  <a:tcPr marL="82296" marR="64008" marT="32004" marB="32004" anchor="ctr">
                    <a:solidFill>
                      <a:srgbClr val="FFFFFF"/>
                    </a:solidFill>
                  </a:tcPr>
                </a:tc>
                <a:tc>
                  <a:txBody>
                    <a:bodyPr wrap="square"/>
                    <a:lstStyle/>
                    <a:p>
                      <a:pPr algn="l"/>
                      <a:r>
                        <a:rPr sz="950" b="0">
                          <a:solidFill>
                            <a:srgbClr val="0E1726"/>
                          </a:solidFill>
                          <a:latin typeface="Calibri"/>
                        </a:rPr>
                        <a:t>`graph-algo/src/product.rs`</a:t>
                      </a:r>
                    </a:p>
                  </a:txBody>
                  <a:tcPr marL="82296" marR="64008" marT="32004" marB="32004" anchor="ctr">
                    <a:solidFill>
                      <a:srgbClr val="FFFFFF"/>
                    </a:solidFill>
                  </a:tcPr>
                </a:tc>
              </a:tr>
              <a:tr h="310896">
                <a:tc>
                  <a:txBody>
                    <a:bodyPr wrap="square"/>
                    <a:lstStyle/>
                    <a:p>
                      <a:pPr algn="l"/>
                      <a:r>
                        <a:rPr sz="950" b="0">
                          <a:solidFill>
                            <a:srgbClr val="0E1726"/>
                          </a:solidFill>
                          <a:latin typeface="Calibri"/>
                        </a:rPr>
                        <a:t>CSR adjacency, interning, and the budget model</a:t>
                      </a:r>
                    </a:p>
                  </a:txBody>
                  <a:tcPr marL="82296" marR="64008" marT="32004" marB="32004" anchor="ctr">
                    <a:solidFill>
                      <a:srgbClr val="FBFAF7"/>
                    </a:solidFill>
                  </a:tcPr>
                </a:tc>
                <a:tc>
                  <a:txBody>
                    <a:bodyPr wrap="square"/>
                    <a:lstStyle/>
                    <a:p>
                      <a:pPr algn="l"/>
                      <a:r>
                        <a:rPr sz="950" b="0">
                          <a:solidFill>
                            <a:srgbClr val="0E1726"/>
                          </a:solidFill>
                          <a:latin typeface="Calibri"/>
                        </a:rPr>
                        <a:t>`csr.rs` `ids.rs` `budget.rs`</a:t>
                      </a:r>
                    </a:p>
                  </a:txBody>
                  <a:tcPr marL="82296" marR="64008" marT="32004" marB="32004" anchor="ctr">
                    <a:solidFill>
                      <a:srgbClr val="FBFAF7"/>
                    </a:solidFill>
                  </a:tcPr>
                </a:tc>
              </a:tr>
            </a:tbl>
          </a:graphicData>
        </a:graphic>
      </p:graphicFrame>
      <p:sp>
        <p:nvSpPr>
          <p:cNvPr id="11" name="TextBox 10"/>
          <p:cNvSpPr txBox="1"/>
          <p:nvPr/>
        </p:nvSpPr>
        <p:spPr>
          <a:xfrm>
            <a:off x="777240" y="4373041"/>
            <a:ext cx="5531351" cy="1005840"/>
          </a:xfrm>
          <a:prstGeom prst="rect">
            <a:avLst/>
          </a:prstGeom>
          <a:noFill/>
        </p:spPr>
        <p:txBody>
          <a:bodyPr wrap="square" lIns="0" rIns="0" tIns="0" bIns="0" anchor="t">
            <a:spAutoFit/>
          </a:bodyPr>
          <a:lstStyle/>
          <a:p>
            <a:pPr algn="l">
              <a:lnSpc>
                <a:spcPct val="126000"/>
              </a:lnSpc>
              <a:spcBef>
                <a:spcPts val="0"/>
              </a:spcBef>
              <a:spcAft>
                <a:spcPts val="0"/>
              </a:spcAft>
            </a:pPr>
            <a:r>
              <a:rPr sz="1000" b="1" i="0">
                <a:solidFill>
                  <a:srgbClr val="1E3A6E"/>
                </a:solidFill>
                <a:latin typeface="Calibri"/>
              </a:rPr>
              <a:t>~4,500 lines with zero dependencies of any kind. </a:t>
            </a:r>
            <a:r>
              <a:rPr sz="1000" b="0" i="0">
                <a:solidFill>
                  <a:srgbClr val="444F60"/>
                </a:solidFill>
                <a:latin typeface="Calibri"/>
              </a:rPr>
              <a:t>Every traversal is hard-bounded at planning time --- default a thousand results --- and reports its own truncation as columns on the row, so a partial answer cannot be mistaken for a complete one.</a:t>
            </a:r>
          </a:p>
        </p:txBody>
      </p:sp>
      <p:sp>
        <p:nvSpPr>
          <p:cNvPr id="12" name="Rectangle 11"/>
          <p:cNvSpPr/>
          <p:nvPr/>
        </p:nvSpPr>
        <p:spPr>
          <a:xfrm>
            <a:off x="6734080" y="1353312"/>
            <a:ext cx="4680374" cy="384048"/>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6862096" y="1426464"/>
            <a:ext cx="4424342" cy="274320"/>
          </a:xfrm>
          <a:prstGeom prst="rect">
            <a:avLst/>
          </a:prstGeom>
          <a:noFill/>
        </p:spPr>
        <p:txBody>
          <a:bodyPr wrap="square" lIns="0" rIns="0" tIns="0" bIns="0" anchor="t">
            <a:spAutoFit/>
          </a:bodyPr>
          <a:lstStyle/>
          <a:p>
            <a:pPr algn="l">
              <a:spcBef>
                <a:spcPts val="0"/>
              </a:spcBef>
              <a:spcAft>
                <a:spcPts val="0"/>
              </a:spcAft>
            </a:pPr>
            <a:r>
              <a:rPr sz="1050" b="1" i="0">
                <a:solidFill>
                  <a:srgbClr val="FFFFFF"/>
                </a:solidFill>
                <a:latin typeface="Calibri"/>
              </a:rPr>
              <a:t>AND YET IT ANSWERS NOTHING</a:t>
            </a:r>
          </a:p>
        </p:txBody>
      </p:sp>
      <p:sp>
        <p:nvSpPr>
          <p:cNvPr id="14" name="TextBox 13"/>
          <p:cNvSpPr txBox="1"/>
          <p:nvPr/>
        </p:nvSpPr>
        <p:spPr>
          <a:xfrm>
            <a:off x="6734080" y="1856232"/>
            <a:ext cx="4680374" cy="3108960"/>
          </a:xfrm>
          <a:prstGeom prst="rect">
            <a:avLst/>
          </a:prstGeom>
          <a:noFill/>
        </p:spPr>
        <p:txBody>
          <a:bodyPr wrap="square" lIns="0" rIns="0" tIns="0" bIns="0" anchor="t">
            <a:spAutoFit/>
          </a:bodyPr>
          <a:lstStyle/>
          <a:p>
            <a:pPr algn="l"/>
          </a:p>
          <a:p>
            <a:pPr>
              <a:spcBef>
                <a:spcPts val="0"/>
              </a:spcBef>
              <a:spcAft>
                <a:spcPts val="700"/>
              </a:spcAft>
            </a:pPr>
            <a:r>
              <a:rPr sz="1000" b="1">
                <a:solidFill>
                  <a:srgbClr val="1E3A6E"/>
                </a:solidFill>
                <a:latin typeface="Calibri"/>
              </a:rPr>
              <a:t>▪  </a:t>
            </a:r>
            <a:r>
              <a:rPr sz="1000">
                <a:solidFill>
                  <a:srgbClr val="0E1726"/>
                </a:solidFill>
                <a:latin typeface="Calibri"/>
              </a:rPr>
              <a:t>Five table functions are **genuinely registered** into every session. The graph crates are real dependencies of the server, which is why neither appears on the unreached list.</a:t>
            </a:r>
          </a:p>
          <a:p>
            <a:pPr>
              <a:spcBef>
                <a:spcPts val="0"/>
              </a:spcBef>
              <a:spcAft>
                <a:spcPts val="700"/>
              </a:spcAft>
            </a:pPr>
            <a:r>
              <a:rPr sz="1000" b="1">
                <a:solidFill>
                  <a:srgbClr val="1E3A6E"/>
                </a:solidFill>
                <a:latin typeface="Calibri"/>
              </a:rPr>
              <a:t>▪  </a:t>
            </a:r>
            <a:r>
              <a:rPr sz="1000">
                <a:solidFill>
                  <a:srgbClr val="0E1726"/>
                </a:solidFill>
                <a:latin typeface="Calibri"/>
              </a:rPr>
              <a:t>But the session registers them against a **freshly constructed, empty catalogue**, and the two methods that would put a graph into it have zero call sites in the server.</a:t>
            </a:r>
          </a:p>
          <a:p>
            <a:pPr>
              <a:spcBef>
                <a:spcPts val="0"/>
              </a:spcBef>
              <a:spcAft>
                <a:spcPts val="700"/>
              </a:spcAft>
            </a:pPr>
            <a:r>
              <a:rPr sz="1000" b="1">
                <a:solidFill>
                  <a:srgbClr val="1E3A6E"/>
                </a:solidFill>
                <a:latin typeface="Calibri"/>
              </a:rPr>
              <a:t>▪  </a:t>
            </a:r>
            <a:r>
              <a:rPr sz="1000">
                <a:solidFill>
                  <a:srgbClr val="0E1726"/>
                </a:solidFill>
                <a:latin typeface="Calibri"/>
              </a:rPr>
              <a:t>So every call reaches the same branch and returns *no such graph*, unconditionally, for the life of the process.</a:t>
            </a:r>
          </a:p>
          <a:p>
            <a:pPr>
              <a:spcBef>
                <a:spcPts val="0"/>
              </a:spcBef>
              <a:spcAft>
                <a:spcPts val="700"/>
              </a:spcAft>
            </a:pPr>
            <a:r>
              <a:rPr sz="1000" b="1">
                <a:solidFill>
                  <a:srgbClr val="1E3A6E"/>
                </a:solidFill>
                <a:latin typeface="Calibri"/>
              </a:rPr>
              <a:t>▪  </a:t>
            </a:r>
            <a:r>
              <a:rPr sz="1000">
                <a:solidFill>
                  <a:srgbClr val="0E1726"/>
                </a:solidFill>
                <a:latin typeface="Calibri"/>
              </a:rPr>
              <a:t>The server's own suite concedes it: the guide test marks the graph functions **needs a hydrated graph**.</a:t>
            </a:r>
          </a:p>
          <a:p>
            <a:pPr>
              <a:spcBef>
                <a:spcPts val="0"/>
              </a:spcBef>
              <a:spcAft>
                <a:spcPts val="700"/>
              </a:spcAft>
            </a:pPr>
            <a:r>
              <a:rPr sz="1000" b="1">
                <a:solidFill>
                  <a:srgbClr val="1E3A6E"/>
                </a:solidFill>
                <a:latin typeface="Calibri"/>
              </a:rPr>
              <a:t>▪  </a:t>
            </a:r>
            <a:r>
              <a:rPr sz="1000">
                <a:solidFill>
                  <a:srgbClr val="0E1726"/>
                </a:solidFill>
                <a:latin typeface="Calibri"/>
              </a:rPr>
              <a:t>The throughput benchmark is carried as an **unmet exit criterion** rather than reinterpreted. Correct against brute force, bounded by construction, never timed at scale.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OLTP · THE WORD THAT WAS WRONG</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Not embedded PostgreSQL --- a child process it owns</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21 · The transactional tier and the capture bridge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54</a:t>
            </a:r>
          </a:p>
        </p:txBody>
      </p:sp>
      <p:sp>
        <p:nvSpPr>
          <p:cNvPr id="10" name="TextBox 9"/>
          <p:cNvSpPr txBox="1"/>
          <p:nvPr/>
        </p:nvSpPr>
        <p:spPr>
          <a:xfrm>
            <a:off x="777240" y="1353312"/>
            <a:ext cx="10637215" cy="777240"/>
          </a:xfrm>
          <a:prstGeom prst="rect">
            <a:avLst/>
          </a:prstGeom>
          <a:noFill/>
        </p:spPr>
        <p:txBody>
          <a:bodyPr wrap="square" lIns="0" rIns="0" tIns="0" bIns="0" anchor="t">
            <a:spAutoFit/>
          </a:bodyPr>
          <a:lstStyle/>
          <a:p>
            <a:pPr algn="l">
              <a:lnSpc>
                <a:spcPct val="126000"/>
              </a:lnSpc>
              <a:spcBef>
                <a:spcPts val="0"/>
              </a:spcBef>
              <a:spcAft>
                <a:spcPts val="0"/>
              </a:spcAft>
            </a:pPr>
            <a:r>
              <a:rPr sz="1150" b="1" i="0">
                <a:solidFill>
                  <a:srgbClr val="1E3A6E"/>
                </a:solidFill>
                <a:latin typeface="Calibri"/>
              </a:rPr>
              <a:t>“Embedded” was the wrong word and was settled as a decision rather than edited away. </a:t>
            </a:r>
            <a:r>
              <a:rPr sz="1150" b="0" i="0">
                <a:solidFill>
                  <a:srgbClr val="444F60"/>
                </a:solidFill>
                <a:latin typeface="Calibri"/>
              </a:rPr>
              <a:t>PostgreSQL is not linked into this binary; it is a child process whose whole lifecycle SANKHYA owns --- locate the binaries, initialise, launch on a Unix socket with no TCP surface at all, poll until ready, shut down. 323 lines, one file, zero dependencies.</a:t>
            </a:r>
          </a:p>
        </p:txBody>
      </p:sp>
      <p:graphicFrame>
        <p:nvGraphicFramePr>
          <p:cNvPr id="11" name="Table 10"/>
          <p:cNvGraphicFramePr>
            <a:graphicFrameLocks noGrp="1"/>
          </p:cNvGraphicFramePr>
          <p:nvPr/>
        </p:nvGraphicFramePr>
        <p:xfrm>
          <a:off x="777240" y="2221991"/>
          <a:ext cx="6382328" cy="1739568"/>
        </p:xfrm>
        <a:graphic>
          <a:graphicData uri="http://schemas.openxmlformats.org/drawingml/2006/table">
            <a:tbl>
              <a:tblPr firstRow="1">
                <a:tableStyleId>{5C22544A-7EE6-4342-B048-85BDC9FD1C3A}</a:tableStyleId>
              </a:tblPr>
              <a:tblGrid>
                <a:gridCol w="2514250"/>
                <a:gridCol w="3868078"/>
              </a:tblGrid>
              <a:tr h="329184">
                <a:tc>
                  <a:txBody>
                    <a:bodyPr wrap="square"/>
                    <a:lstStyle/>
                    <a:p>
                      <a:pPr algn="l"/>
                      <a:r>
                        <a:rPr sz="1000" b="1">
                          <a:solidFill>
                            <a:srgbClr val="FFFFFF"/>
                          </a:solidFill>
                          <a:latin typeface="Calibri"/>
                        </a:rPr>
                        <a:t>The fatal mode</a:t>
                      </a:r>
                    </a:p>
                  </a:txBody>
                  <a:tcPr marL="82296" marR="64008" marT="32004" marB="32004" anchor="ctr">
                    <a:solidFill>
                      <a:srgbClr val="1E3A6E"/>
                    </a:solidFill>
                  </a:tcPr>
                </a:tc>
                <a:tc>
                  <a:txBody>
                    <a:bodyPr wrap="square"/>
                    <a:lstStyle/>
                    <a:p>
                      <a:pPr algn="l"/>
                      <a:r>
                        <a:rPr sz="1000" b="1">
                          <a:solidFill>
                            <a:srgbClr val="FFFFFF"/>
                          </a:solidFill>
                          <a:latin typeface="Calibri"/>
                        </a:rPr>
                        <a:t>What it does</a:t>
                      </a:r>
                    </a:p>
                  </a:txBody>
                  <a:tcPr marL="82296" marR="64008" marT="32004" marB="32004" anchor="ctr">
                    <a:solidFill>
                      <a:srgbClr val="1E3A6E"/>
                    </a:solidFill>
                  </a:tcPr>
                </a:tc>
              </a:tr>
              <a:tr h="470128">
                <a:tc>
                  <a:txBody>
                    <a:bodyPr wrap="square"/>
                    <a:lstStyle/>
                    <a:p>
                      <a:pPr algn="l"/>
                      <a:r>
                        <a:rPr sz="950" b="0">
                          <a:solidFill>
                            <a:srgbClr val="0E1726"/>
                          </a:solidFill>
                          <a:latin typeface="Calibri"/>
                        </a:rPr>
                        <a:t>Two processes over one data directory</a:t>
                      </a:r>
                    </a:p>
                  </a:txBody>
                  <a:tcPr marL="82296" marR="64008" marT="32004" marB="32004" anchor="ctr">
                    <a:solidFill>
                      <a:srgbClr val="FFFFFF"/>
                    </a:solidFill>
                  </a:tcPr>
                </a:tc>
                <a:tc>
                  <a:txBody>
                    <a:bodyPr wrap="square"/>
                    <a:lstStyle/>
                    <a:p>
                      <a:pPr algn="l"/>
                      <a:r>
                        <a:rPr sz="950" b="0">
                          <a:solidFill>
                            <a:srgbClr val="0E1726"/>
                          </a:solidFill>
                          <a:latin typeface="Calibri"/>
                        </a:rPr>
                        <a:t>Takes the lock first. The second refuses to start rather than corrupting</a:t>
                      </a:r>
                    </a:p>
                  </a:txBody>
                  <a:tcPr marL="82296" marR="64008" marT="32004" marB="32004" anchor="ctr">
                    <a:solidFill>
                      <a:srgbClr val="FFFFFF"/>
                    </a:solidFill>
                  </a:tcPr>
                </a:tc>
              </a:tr>
              <a:tr h="470128">
                <a:tc>
                  <a:txBody>
                    <a:bodyPr wrap="square"/>
                    <a:lstStyle/>
                    <a:p>
                      <a:pPr algn="l"/>
                      <a:r>
                        <a:rPr sz="950" b="0">
                          <a:solidFill>
                            <a:srgbClr val="0E1726"/>
                          </a:solidFill>
                          <a:latin typeface="Calibri"/>
                        </a:rPr>
                        <a:t>An orphaned child from a previous run</a:t>
                      </a:r>
                    </a:p>
                  </a:txBody>
                  <a:tcPr marL="82296" marR="64008" marT="32004" marB="32004" anchor="ctr">
                    <a:solidFill>
                      <a:srgbClr val="FBFAF7"/>
                    </a:solidFill>
                  </a:tcPr>
                </a:tc>
                <a:tc>
                  <a:txBody>
                    <a:bodyPr wrap="square"/>
                    <a:lstStyle/>
                    <a:p>
                      <a:pPr algn="l"/>
                      <a:r>
                        <a:rPr sz="950" b="0">
                          <a:solidFill>
                            <a:srgbClr val="0E1726"/>
                          </a:solidFill>
                          <a:latin typeface="Calibri"/>
                        </a:rPr>
                        <a:t>Adopts it, restarts it, or clears it --- decided, not guessed</a:t>
                      </a:r>
                    </a:p>
                  </a:txBody>
                  <a:tcPr marL="82296" marR="64008" marT="32004" marB="32004" anchor="ctr">
                    <a:solidFill>
                      <a:srgbClr val="FBFAF7"/>
                    </a:solidFill>
                  </a:tcPr>
                </a:tc>
              </a:tr>
              <a:tr h="470128">
                <a:tc>
                  <a:txBody>
                    <a:bodyPr wrap="square"/>
                    <a:lstStyle/>
                    <a:p>
                      <a:pPr algn="l"/>
                      <a:r>
                        <a:rPr sz="950" b="0">
                          <a:solidFill>
                            <a:srgbClr val="0E1726"/>
                          </a:solidFill>
                          <a:latin typeface="Calibri"/>
                        </a:rPr>
                        <a:t>A dead supervisor with a live child</a:t>
                      </a:r>
                    </a:p>
                  </a:txBody>
                  <a:tcPr marL="82296" marR="64008" marT="32004" marB="32004" anchor="ctr">
                    <a:solidFill>
                      <a:srgbClr val="FFFFFF"/>
                    </a:solidFill>
                  </a:tcPr>
                </a:tc>
                <a:tc>
                  <a:txBody>
                    <a:bodyPr wrap="square"/>
                    <a:lstStyle/>
                    <a:p>
                      <a:pPr algn="l"/>
                      <a:r>
                        <a:rPr sz="950" b="0">
                          <a:solidFill>
                            <a:srgbClr val="0E1726"/>
                          </a:solidFill>
                          <a:latin typeface="Calibri"/>
                        </a:rPr>
                        <a:t>Parent-death signalling **and** a boot check, because the signal is not enough alone</a:t>
                      </a:r>
                    </a:p>
                  </a:txBody>
                  <a:tcPr marL="82296" marR="64008" marT="32004" marB="32004" anchor="ctr">
                    <a:solidFill>
                      <a:srgbClr val="FFFFFF"/>
                    </a:solidFill>
                  </a:tcPr>
                </a:tc>
              </a:tr>
            </a:tbl>
          </a:graphicData>
        </a:graphic>
      </p:graphicFrame>
      <p:sp>
        <p:nvSpPr>
          <p:cNvPr id="12" name="TextBox 11"/>
          <p:cNvSpPr txBox="1"/>
          <p:nvPr/>
        </p:nvSpPr>
        <p:spPr>
          <a:xfrm>
            <a:off x="777240" y="4162729"/>
            <a:ext cx="6382329" cy="822960"/>
          </a:xfrm>
          <a:prstGeom prst="rect">
            <a:avLst/>
          </a:prstGeom>
          <a:noFill/>
        </p:spPr>
        <p:txBody>
          <a:bodyPr wrap="square" lIns="0" rIns="0" tIns="0" bIns="0" anchor="t">
            <a:spAutoFit/>
          </a:bodyPr>
          <a:lstStyle/>
          <a:p>
            <a:pPr algn="l">
              <a:lnSpc>
                <a:spcPct val="126000"/>
              </a:lnSpc>
              <a:spcBef>
                <a:spcPts val="0"/>
              </a:spcBef>
              <a:spcAft>
                <a:spcPts val="0"/>
              </a:spcAft>
            </a:pPr>
            <a:r>
              <a:rPr sz="1050" b="1" i="0">
                <a:solidFill>
                  <a:srgbClr val="1E3A6E"/>
                </a:solidFill>
                <a:latin typeface="Calibri"/>
              </a:rPr>
              <a:t>Connection pooling and a client library are deliberately absent, </a:t>
            </a:r>
            <a:r>
              <a:rPr sz="1050" b="0" i="0">
                <a:solidFill>
                  <a:srgbClr val="444F60"/>
                </a:solidFill>
                <a:latin typeface="Calibri"/>
              </a:rPr>
              <a:t>recorded as an open decision rather than one made here.</a:t>
            </a:r>
          </a:p>
        </p:txBody>
      </p:sp>
      <p:sp>
        <p:nvSpPr>
          <p:cNvPr id="13" name="Rectangle 12"/>
          <p:cNvSpPr/>
          <p:nvPr/>
        </p:nvSpPr>
        <p:spPr>
          <a:xfrm>
            <a:off x="7585057" y="2221991"/>
            <a:ext cx="3829397" cy="2253996"/>
          </a:xfrm>
          <a:prstGeom prst="rect">
            <a:avLst/>
          </a:prstGeom>
          <a:solidFill>
            <a:srgbClr val="FFFFFF"/>
          </a:solidFill>
          <a:ln w="1270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7585057" y="2221991"/>
            <a:ext cx="3829397" cy="45720"/>
          </a:xfrm>
          <a:prstGeom prst="rect">
            <a:avLst/>
          </a:prstGeom>
          <a:solidFill>
            <a:srgbClr val="2D50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7713073" y="2340863"/>
            <a:ext cx="3573365" cy="237744"/>
          </a:xfrm>
          <a:prstGeom prst="rect">
            <a:avLst/>
          </a:prstGeom>
          <a:noFill/>
        </p:spPr>
        <p:txBody>
          <a:bodyPr wrap="square" lIns="0" rIns="0" tIns="0" bIns="0" anchor="t">
            <a:spAutoFit/>
          </a:bodyPr>
          <a:lstStyle/>
          <a:p>
            <a:pPr algn="l">
              <a:spcBef>
                <a:spcPts val="0"/>
              </a:spcBef>
              <a:spcAft>
                <a:spcPts val="0"/>
              </a:spcAft>
            </a:pPr>
            <a:r>
              <a:rPr sz="1100" b="1" i="0">
                <a:solidFill>
                  <a:srgbClr val="0E1726"/>
                </a:solidFill>
                <a:latin typeface="Georgia"/>
              </a:rPr>
              <a:t>The bridge, all of it built</a:t>
            </a:r>
          </a:p>
        </p:txBody>
      </p:sp>
      <p:sp>
        <p:nvSpPr>
          <p:cNvPr id="16" name="TextBox 15"/>
          <p:cNvSpPr txBox="1"/>
          <p:nvPr/>
        </p:nvSpPr>
        <p:spPr>
          <a:xfrm>
            <a:off x="7713073" y="2587751"/>
            <a:ext cx="3573365" cy="205740"/>
          </a:xfrm>
          <a:prstGeom prst="rect">
            <a:avLst/>
          </a:prstGeom>
          <a:noFill/>
        </p:spPr>
        <p:txBody>
          <a:bodyPr wrap="square" lIns="0" rIns="0" tIns="0" bIns="0" anchor="t">
            <a:spAutoFit/>
          </a:bodyPr>
          <a:lstStyle/>
          <a:p>
            <a:pPr algn="l">
              <a:spcBef>
                <a:spcPts val="0"/>
              </a:spcBef>
              <a:spcAft>
                <a:spcPts val="0"/>
              </a:spcAft>
            </a:pPr>
            <a:r>
              <a:rPr sz="880" b="0" i="0">
                <a:solidFill>
                  <a:srgbClr val="444F60"/>
                </a:solidFill>
                <a:latin typeface="Calibri"/>
              </a:rPr>
              <a:t>A `pgoutput` decoder, tested against a captured</a:t>
            </a:r>
          </a:p>
        </p:txBody>
      </p:sp>
      <p:sp>
        <p:nvSpPr>
          <p:cNvPr id="17" name="TextBox 16"/>
          <p:cNvSpPr txBox="1"/>
          <p:nvPr/>
        </p:nvSpPr>
        <p:spPr>
          <a:xfrm>
            <a:off x="7713073" y="2793491"/>
            <a:ext cx="3573365" cy="205740"/>
          </a:xfrm>
          <a:prstGeom prst="rect">
            <a:avLst/>
          </a:prstGeom>
          <a:noFill/>
        </p:spPr>
        <p:txBody>
          <a:bodyPr wrap="square" lIns="0" rIns="0" tIns="0" bIns="0" anchor="t">
            <a:spAutoFit/>
          </a:bodyPr>
          <a:lstStyle/>
          <a:p>
            <a:pPr algn="l">
              <a:spcBef>
                <a:spcPts val="0"/>
              </a:spcBef>
              <a:spcAft>
                <a:spcPts val="0"/>
              </a:spcAft>
            </a:pPr>
            <a:r>
              <a:rPr sz="880" b="1" i="0">
                <a:solidFill>
                  <a:srgbClr val="1E3A6E"/>
                </a:solidFill>
                <a:latin typeface="Calibri"/>
              </a:rPr>
              <a:t>**live PostgreSQL 17.11 replication stream**</a:t>
            </a:r>
          </a:p>
        </p:txBody>
      </p:sp>
      <p:sp>
        <p:nvSpPr>
          <p:cNvPr id="18" name="TextBox 17"/>
          <p:cNvSpPr txBox="1"/>
          <p:nvPr/>
        </p:nvSpPr>
        <p:spPr>
          <a:xfrm>
            <a:off x="7713073" y="2999232"/>
            <a:ext cx="3573365" cy="205740"/>
          </a:xfrm>
          <a:prstGeom prst="rect">
            <a:avLst/>
          </a:prstGeom>
          <a:noFill/>
        </p:spPr>
        <p:txBody>
          <a:bodyPr wrap="square" lIns="0" rIns="0" tIns="0" bIns="0" anchor="t">
            <a:spAutoFit/>
          </a:bodyPr>
          <a:lstStyle/>
          <a:p>
            <a:pPr algn="l">
              <a:spcBef>
                <a:spcPts val="0"/>
              </a:spcBef>
              <a:spcAft>
                <a:spcPts val="0"/>
              </a:spcAft>
            </a:pPr>
            <a:r>
              <a:rPr sz="880" b="0" i="0">
                <a:solidFill>
                  <a:srgbClr val="444F60"/>
                </a:solidFill>
                <a:latin typeface="Calibri"/>
              </a:rPr>
              <a:t>An apply path with a property-tested</a:t>
            </a:r>
          </a:p>
        </p:txBody>
      </p:sp>
      <p:sp>
        <p:nvSpPr>
          <p:cNvPr id="19" name="TextBox 18"/>
          <p:cNvSpPr txBox="1"/>
          <p:nvPr/>
        </p:nvSpPr>
        <p:spPr>
          <a:xfrm>
            <a:off x="7713073" y="3204972"/>
            <a:ext cx="3573365" cy="205740"/>
          </a:xfrm>
          <a:prstGeom prst="rect">
            <a:avLst/>
          </a:prstGeom>
          <a:noFill/>
        </p:spPr>
        <p:txBody>
          <a:bodyPr wrap="square" lIns="0" rIns="0" tIns="0" bIns="0" anchor="t">
            <a:spAutoFit/>
          </a:bodyPr>
          <a:lstStyle/>
          <a:p>
            <a:pPr algn="l">
              <a:spcBef>
                <a:spcPts val="0"/>
              </a:spcBef>
              <a:spcAft>
                <a:spcPts val="0"/>
              </a:spcAft>
            </a:pPr>
            <a:r>
              <a:rPr sz="880" b="0" i="0">
                <a:solidFill>
                  <a:srgbClr val="444F60"/>
                </a:solidFill>
                <a:latin typeface="Calibri"/>
              </a:rPr>
              <a:t>transaction invariant</a:t>
            </a:r>
          </a:p>
        </p:txBody>
      </p:sp>
      <p:sp>
        <p:nvSpPr>
          <p:cNvPr id="20" name="TextBox 19"/>
          <p:cNvSpPr txBox="1"/>
          <p:nvPr/>
        </p:nvSpPr>
        <p:spPr>
          <a:xfrm>
            <a:off x="7713073" y="3410712"/>
            <a:ext cx="3573365" cy="205740"/>
          </a:xfrm>
          <a:prstGeom prst="rect">
            <a:avLst/>
          </a:prstGeom>
          <a:noFill/>
        </p:spPr>
        <p:txBody>
          <a:bodyPr wrap="square" lIns="0" rIns="0" tIns="0" bIns="0" anchor="t">
            <a:spAutoFit/>
          </a:bodyPr>
          <a:lstStyle/>
          <a:p>
            <a:pPr algn="l">
              <a:spcBef>
                <a:spcPts val="0"/>
              </a:spcBef>
              <a:spcAft>
                <a:spcPts val="0"/>
              </a:spcAft>
            </a:pPr>
            <a:r>
              <a:rPr sz="880" b="0" i="0">
                <a:solidFill>
                  <a:srgbClr val="444F60"/>
                </a:solidFill>
                <a:latin typeface="Calibri"/>
              </a:rPr>
              <a:t>Lossless type mapping over 73 columns</a:t>
            </a:r>
          </a:p>
        </p:txBody>
      </p:sp>
      <p:sp>
        <p:nvSpPr>
          <p:cNvPr id="21" name="TextBox 20"/>
          <p:cNvSpPr txBox="1"/>
          <p:nvPr/>
        </p:nvSpPr>
        <p:spPr>
          <a:xfrm>
            <a:off x="7713073" y="3616452"/>
            <a:ext cx="3573365" cy="205740"/>
          </a:xfrm>
          <a:prstGeom prst="rect">
            <a:avLst/>
          </a:prstGeom>
          <a:noFill/>
        </p:spPr>
        <p:txBody>
          <a:bodyPr wrap="square" lIns="0" rIns="0" tIns="0" bIns="0" anchor="t">
            <a:spAutoFit/>
          </a:bodyPr>
          <a:lstStyle/>
          <a:p>
            <a:pPr algn="l">
              <a:spcBef>
                <a:spcPts val="0"/>
              </a:spcBef>
              <a:spcAft>
                <a:spcPts val="0"/>
              </a:spcAft>
            </a:pPr>
            <a:r>
              <a:rPr sz="880" b="0" i="0">
                <a:solidFill>
                  <a:srgbClr val="444F60"/>
                </a:solidFill>
                <a:latin typeface="Calibri"/>
              </a:rPr>
              <a:t>Reconciliation, idempotence, crash safety</a:t>
            </a:r>
          </a:p>
        </p:txBody>
      </p:sp>
      <p:sp>
        <p:nvSpPr>
          <p:cNvPr id="22" name="TextBox 21"/>
          <p:cNvSpPr txBox="1"/>
          <p:nvPr/>
        </p:nvSpPr>
        <p:spPr>
          <a:xfrm>
            <a:off x="7713073" y="3822191"/>
            <a:ext cx="3573365" cy="205740"/>
          </a:xfrm>
          <a:prstGeom prst="rect">
            <a:avLst/>
          </a:prstGeom>
          <a:noFill/>
        </p:spPr>
        <p:txBody>
          <a:bodyPr wrap="square" lIns="0" rIns="0" tIns="0" bIns="0" anchor="t">
            <a:spAutoFit/>
          </a:bodyPr>
          <a:lstStyle/>
          <a:p>
            <a:pPr algn="l">
              <a:spcBef>
                <a:spcPts val="0"/>
              </a:spcBef>
              <a:spcAft>
                <a:spcPts val="0"/>
              </a:spcAft>
            </a:pPr>
            <a:r>
              <a:rPr sz="880" b="0" i="0">
                <a:solidFill>
                  <a:srgbClr val="444F60"/>
                </a:solidFill>
                <a:latin typeface="Calibri"/>
              </a:rPr>
              <a:t>Schema evolution</a:t>
            </a:r>
          </a:p>
        </p:txBody>
      </p:sp>
      <p:sp>
        <p:nvSpPr>
          <p:cNvPr id="23" name="TextBox 22"/>
          <p:cNvSpPr txBox="1"/>
          <p:nvPr/>
        </p:nvSpPr>
        <p:spPr>
          <a:xfrm>
            <a:off x="7713073" y="4027931"/>
            <a:ext cx="3573365" cy="205740"/>
          </a:xfrm>
          <a:prstGeom prst="rect">
            <a:avLst/>
          </a:prstGeom>
          <a:noFill/>
        </p:spPr>
        <p:txBody>
          <a:bodyPr wrap="square" lIns="0" rIns="0" tIns="0" bIns="0" anchor="t">
            <a:spAutoFit/>
          </a:bodyPr>
          <a:lstStyle/>
          <a:p>
            <a:pPr algn="l">
              <a:spcBef>
                <a:spcPts val="0"/>
              </a:spcBef>
              <a:spcAft>
                <a:spcPts val="0"/>
              </a:spcAft>
            </a:pPr>
            <a:r>
              <a:rPr sz="880" b="0" i="0">
                <a:solidFill>
                  <a:srgbClr val="444F60"/>
                </a:solidFill>
                <a:latin typeface="Calibri"/>
              </a:rPr>
              <a:t>A five-rung source-safety ladder,</a:t>
            </a:r>
          </a:p>
        </p:txBody>
      </p:sp>
      <p:sp>
        <p:nvSpPr>
          <p:cNvPr id="24" name="TextBox 23"/>
          <p:cNvSpPr txBox="1"/>
          <p:nvPr/>
        </p:nvSpPr>
        <p:spPr>
          <a:xfrm>
            <a:off x="7713073" y="4233671"/>
            <a:ext cx="3573365" cy="205740"/>
          </a:xfrm>
          <a:prstGeom prst="rect">
            <a:avLst/>
          </a:prstGeom>
          <a:noFill/>
        </p:spPr>
        <p:txBody>
          <a:bodyPr wrap="square" lIns="0" rIns="0" tIns="0" bIns="0" anchor="t">
            <a:spAutoFit/>
          </a:bodyPr>
          <a:lstStyle/>
          <a:p>
            <a:pPr algn="l">
              <a:spcBef>
                <a:spcPts val="0"/>
              </a:spcBef>
              <a:spcAft>
                <a:spcPts val="0"/>
              </a:spcAft>
            </a:pPr>
            <a:r>
              <a:rPr sz="880" b="0" i="0">
                <a:solidFill>
                  <a:srgbClr val="444F60"/>
                </a:solidFill>
                <a:latin typeface="Calibri"/>
              </a:rPr>
              <a:t>validated against a live replication slot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OLTP · THE GAP, PRECISELY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One absence, not six</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21 · The transactional tier and the capture bridge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55</a:t>
            </a:r>
          </a:p>
        </p:txBody>
      </p:sp>
      <p:sp>
        <p:nvSpPr>
          <p:cNvPr id="10" name="TextBox 9"/>
          <p:cNvSpPr txBox="1"/>
          <p:nvPr/>
        </p:nvSpPr>
        <p:spPr>
          <a:xfrm>
            <a:off x="777240" y="1353312"/>
            <a:ext cx="10637215" cy="868680"/>
          </a:xfrm>
          <a:prstGeom prst="rect">
            <a:avLst/>
          </a:prstGeom>
          <a:noFill/>
        </p:spPr>
        <p:txBody>
          <a:bodyPr wrap="square" lIns="0" rIns="0" tIns="0" bIns="0" anchor="t">
            <a:spAutoFit/>
          </a:bodyPr>
          <a:lstStyle/>
          <a:p>
            <a:pPr algn="l">
              <a:lnSpc>
                <a:spcPct val="128000"/>
              </a:lnSpc>
              <a:spcBef>
                <a:spcPts val="0"/>
              </a:spcBef>
              <a:spcAft>
                <a:spcPts val="0"/>
              </a:spcAft>
            </a:pPr>
            <a:r>
              <a:rPr sz="1200" b="1" i="0">
                <a:solidFill>
                  <a:srgbClr val="1E3A6E"/>
                </a:solidFill>
                <a:latin typeface="Calibri"/>
              </a:rPr>
              <a:t>Everything on the previous slide is written, tested, and driven by nothing. </a:t>
            </a:r>
            <a:r>
              <a:rPr sz="1200" b="0" i="0">
                <a:solidFill>
                  <a:srgbClr val="444F60"/>
                </a:solidFill>
                <a:latin typeface="Calibri"/>
              </a:rPr>
              <a:t>It is tempting to read that as six missing subsystems. It is one: there is no driver that runs them on a timer. That is the whole distance between this system and the one the architecture describes --- and it is a deliberately unglamorous next milestone.</a:t>
            </a:r>
          </a:p>
        </p:txBody>
      </p:sp>
      <p:sp>
        <p:nvSpPr>
          <p:cNvPr id="11" name="Rectangle 10"/>
          <p:cNvSpPr/>
          <p:nvPr/>
        </p:nvSpPr>
        <p:spPr>
          <a:xfrm>
            <a:off x="777240" y="1883664"/>
            <a:ext cx="10637215" cy="914400"/>
          </a:xfrm>
          <a:prstGeom prst="rect">
            <a:avLst/>
          </a:prstGeom>
          <a:solidFill>
            <a:srgbClr val="FFFFFF"/>
          </a:solidFill>
          <a:ln w="1143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1883664"/>
            <a:ext cx="10637215"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96695" y="2103120"/>
            <a:ext cx="10198303" cy="237744"/>
          </a:xfrm>
          <a:prstGeom prst="rect">
            <a:avLst/>
          </a:prstGeom>
          <a:noFill/>
        </p:spPr>
        <p:txBody>
          <a:bodyPr wrap="square" lIns="0" rIns="0" tIns="0" bIns="0" anchor="t">
            <a:spAutoFit/>
          </a:bodyPr>
          <a:lstStyle/>
          <a:p>
            <a:pPr algn="l">
              <a:spcBef>
                <a:spcPts val="0"/>
              </a:spcBef>
              <a:spcAft>
                <a:spcPts val="0"/>
              </a:spcAft>
            </a:pPr>
            <a:r>
              <a:rPr sz="1000" b="1" i="0">
                <a:solidFill>
                  <a:srgbClr val="1E3A6E"/>
                </a:solidFill>
                <a:latin typeface="Calibri"/>
              </a:rPr>
              <a:t>01</a:t>
            </a:r>
          </a:p>
        </p:txBody>
      </p:sp>
      <p:sp>
        <p:nvSpPr>
          <p:cNvPr id="14" name="TextBox 13"/>
          <p:cNvSpPr txBox="1"/>
          <p:nvPr/>
        </p:nvSpPr>
        <p:spPr>
          <a:xfrm>
            <a:off x="996695" y="2377439"/>
            <a:ext cx="10198303"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1726"/>
                </a:solidFill>
                <a:latin typeface="Georgia"/>
              </a:rPr>
              <a:t>The supervisor is a dev-dependency of the server.</a:t>
            </a:r>
          </a:p>
        </p:txBody>
      </p:sp>
      <p:sp>
        <p:nvSpPr>
          <p:cNvPr id="15" name="TextBox 14"/>
          <p:cNvSpPr txBox="1"/>
          <p:nvPr/>
        </p:nvSpPr>
        <p:spPr>
          <a:xfrm>
            <a:off x="996695" y="2688335"/>
            <a:ext cx="10198303" cy="-73151"/>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44F60"/>
                </a:solidFill>
                <a:latin typeface="Calibri"/>
              </a:rPr>
              <a:t>Its only caller is a soak test, whose output reads `SKIPPED ... nothing wires it in`.</a:t>
            </a:r>
          </a:p>
        </p:txBody>
      </p:sp>
      <p:sp>
        <p:nvSpPr>
          <p:cNvPr id="16" name="Rectangle 15"/>
          <p:cNvSpPr/>
          <p:nvPr/>
        </p:nvSpPr>
        <p:spPr>
          <a:xfrm>
            <a:off x="777240" y="2889504"/>
            <a:ext cx="10637215" cy="914400"/>
          </a:xfrm>
          <a:prstGeom prst="rect">
            <a:avLst/>
          </a:prstGeom>
          <a:solidFill>
            <a:srgbClr val="FFFFFF"/>
          </a:solidFill>
          <a:ln w="1143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777240" y="2889504"/>
            <a:ext cx="10637215"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996695" y="3108960"/>
            <a:ext cx="10198303" cy="237744"/>
          </a:xfrm>
          <a:prstGeom prst="rect">
            <a:avLst/>
          </a:prstGeom>
          <a:noFill/>
        </p:spPr>
        <p:txBody>
          <a:bodyPr wrap="square" lIns="0" rIns="0" tIns="0" bIns="0" anchor="t">
            <a:spAutoFit/>
          </a:bodyPr>
          <a:lstStyle/>
          <a:p>
            <a:pPr algn="l">
              <a:spcBef>
                <a:spcPts val="0"/>
              </a:spcBef>
              <a:spcAft>
                <a:spcPts val="0"/>
              </a:spcAft>
            </a:pPr>
            <a:r>
              <a:rPr sz="1000" b="1" i="0">
                <a:solidFill>
                  <a:srgbClr val="1E3A6E"/>
                </a:solidFill>
                <a:latin typeface="Calibri"/>
              </a:rPr>
              <a:t>02</a:t>
            </a:r>
          </a:p>
        </p:txBody>
      </p:sp>
      <p:sp>
        <p:nvSpPr>
          <p:cNvPr id="19" name="TextBox 18"/>
          <p:cNvSpPr txBox="1"/>
          <p:nvPr/>
        </p:nvSpPr>
        <p:spPr>
          <a:xfrm>
            <a:off x="996695" y="3383280"/>
            <a:ext cx="10198303"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1726"/>
                </a:solidFill>
                <a:latin typeface="Georgia"/>
              </a:rPr>
              <a:t>The capture crate has zero dependents of any kind.</a:t>
            </a:r>
          </a:p>
        </p:txBody>
      </p:sp>
      <p:sp>
        <p:nvSpPr>
          <p:cNvPr id="20" name="TextBox 19"/>
          <p:cNvSpPr txBox="1"/>
          <p:nvPr/>
        </p:nvSpPr>
        <p:spPr>
          <a:xfrm>
            <a:off x="996695" y="3694176"/>
            <a:ext cx="10198303" cy="-73152"/>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44F60"/>
                </a:solidFill>
                <a:latin typeface="Calibri"/>
              </a:rPr>
              <a:t>Dev-dependencies included. Its name appears in exactly one manifest: its own.</a:t>
            </a:r>
          </a:p>
        </p:txBody>
      </p:sp>
      <p:sp>
        <p:nvSpPr>
          <p:cNvPr id="21" name="Rectangle 20"/>
          <p:cNvSpPr/>
          <p:nvPr/>
        </p:nvSpPr>
        <p:spPr>
          <a:xfrm>
            <a:off x="777240" y="3895344"/>
            <a:ext cx="10637215" cy="914400"/>
          </a:xfrm>
          <a:prstGeom prst="rect">
            <a:avLst/>
          </a:prstGeom>
          <a:solidFill>
            <a:srgbClr val="FFFFFF"/>
          </a:solidFill>
          <a:ln w="1143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Rectangle 21"/>
          <p:cNvSpPr/>
          <p:nvPr/>
        </p:nvSpPr>
        <p:spPr>
          <a:xfrm>
            <a:off x="777240" y="3895344"/>
            <a:ext cx="10637215"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TextBox 22"/>
          <p:cNvSpPr txBox="1"/>
          <p:nvPr/>
        </p:nvSpPr>
        <p:spPr>
          <a:xfrm>
            <a:off x="996695" y="4114800"/>
            <a:ext cx="10198303" cy="237744"/>
          </a:xfrm>
          <a:prstGeom prst="rect">
            <a:avLst/>
          </a:prstGeom>
          <a:noFill/>
        </p:spPr>
        <p:txBody>
          <a:bodyPr wrap="square" lIns="0" rIns="0" tIns="0" bIns="0" anchor="t">
            <a:spAutoFit/>
          </a:bodyPr>
          <a:lstStyle/>
          <a:p>
            <a:pPr algn="l">
              <a:spcBef>
                <a:spcPts val="0"/>
              </a:spcBef>
              <a:spcAft>
                <a:spcPts val="0"/>
              </a:spcAft>
            </a:pPr>
            <a:r>
              <a:rPr sz="1000" b="1" i="0">
                <a:solidFill>
                  <a:srgbClr val="1E3A6E"/>
                </a:solidFill>
                <a:latin typeface="Calibri"/>
              </a:rPr>
              <a:t>03</a:t>
            </a:r>
          </a:p>
        </p:txBody>
      </p:sp>
      <p:sp>
        <p:nvSpPr>
          <p:cNvPr id="24" name="TextBox 23"/>
          <p:cNvSpPr txBox="1"/>
          <p:nvPr/>
        </p:nvSpPr>
        <p:spPr>
          <a:xfrm>
            <a:off x="996695" y="4389120"/>
            <a:ext cx="10198303"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1726"/>
                </a:solidFill>
                <a:latin typeface="Georgia"/>
              </a:rPr>
              <a:t>There is no configuration surface to wire it through.</a:t>
            </a:r>
          </a:p>
        </p:txBody>
      </p:sp>
      <p:sp>
        <p:nvSpPr>
          <p:cNvPr id="25" name="TextBox 24"/>
          <p:cNvSpPr txBox="1"/>
          <p:nvPr/>
        </p:nvSpPr>
        <p:spPr>
          <a:xfrm>
            <a:off x="996695" y="4700016"/>
            <a:ext cx="10198303" cy="-73152"/>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44F60"/>
                </a:solidFill>
                <a:latin typeface="Calibri"/>
              </a:rPr>
              <a:t>No transactional key exists in the configuration crate or the shipped YAML.</a:t>
            </a:r>
          </a:p>
        </p:txBody>
      </p:sp>
      <p:sp>
        <p:nvSpPr>
          <p:cNvPr id="26" name="Rectangle 25"/>
          <p:cNvSpPr/>
          <p:nvPr/>
        </p:nvSpPr>
        <p:spPr>
          <a:xfrm>
            <a:off x="777240" y="4901183"/>
            <a:ext cx="10637215" cy="914400"/>
          </a:xfrm>
          <a:prstGeom prst="rect">
            <a:avLst/>
          </a:prstGeom>
          <a:solidFill>
            <a:srgbClr val="FFFFFF"/>
          </a:solidFill>
          <a:ln w="1143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777240" y="4901183"/>
            <a:ext cx="10637215"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996695" y="5120640"/>
            <a:ext cx="10198303" cy="237744"/>
          </a:xfrm>
          <a:prstGeom prst="rect">
            <a:avLst/>
          </a:prstGeom>
          <a:noFill/>
        </p:spPr>
        <p:txBody>
          <a:bodyPr wrap="square" lIns="0" rIns="0" tIns="0" bIns="0" anchor="t">
            <a:spAutoFit/>
          </a:bodyPr>
          <a:lstStyle/>
          <a:p>
            <a:pPr algn="l">
              <a:spcBef>
                <a:spcPts val="0"/>
              </a:spcBef>
              <a:spcAft>
                <a:spcPts val="0"/>
              </a:spcAft>
            </a:pPr>
            <a:r>
              <a:rPr sz="1000" b="1" i="0">
                <a:solidFill>
                  <a:srgbClr val="1E3A6E"/>
                </a:solidFill>
                <a:latin typeface="Calibri"/>
              </a:rPr>
              <a:t>04</a:t>
            </a:r>
          </a:p>
        </p:txBody>
      </p:sp>
      <p:sp>
        <p:nvSpPr>
          <p:cNvPr id="29" name="TextBox 28"/>
          <p:cNvSpPr txBox="1"/>
          <p:nvPr/>
        </p:nvSpPr>
        <p:spPr>
          <a:xfrm>
            <a:off x="996695" y="5394959"/>
            <a:ext cx="10198303"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1726"/>
                </a:solidFill>
                <a:latin typeface="Georgia"/>
              </a:rPr>
              <a:t>The consequences chain, and must not be blurred.</a:t>
            </a:r>
          </a:p>
        </p:txBody>
      </p:sp>
      <p:sp>
        <p:nvSpPr>
          <p:cNvPr id="30" name="TextBox 29"/>
          <p:cNvSpPr txBox="1"/>
          <p:nvPr/>
        </p:nvSpPr>
        <p:spPr>
          <a:xfrm>
            <a:off x="996695" y="5705855"/>
            <a:ext cx="10198303" cy="-73152"/>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44F60"/>
                </a:solidFill>
                <a:latin typeface="Calibri"/>
              </a:rPr>
              <a:t>No capture runtime means no arrival tier, so no read-your-own-writes, so no strong read mode. One absence, four capabilities.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ONE CATALOGUE · COLUMNS THAT ARE NOT SCALARS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A position with a vector and a matrix in the same row</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22 · One catalogue, on every path</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56</a:t>
            </a:r>
          </a:p>
        </p:txBody>
      </p:sp>
      <p:sp>
        <p:nvSpPr>
          <p:cNvPr id="10" name="Rectangle 9"/>
          <p:cNvSpPr/>
          <p:nvPr/>
        </p:nvSpPr>
        <p:spPr>
          <a:xfrm>
            <a:off x="777240" y="1353312"/>
            <a:ext cx="5637724" cy="2642579"/>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642579"/>
          </a:xfrm>
          <a:prstGeom prst="rect">
            <a:avLst/>
          </a:prstGeom>
          <a:solidFill>
            <a:srgbClr val="444F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271964" cy="219456"/>
          </a:xfrm>
          <a:prstGeom prst="rect">
            <a:avLst/>
          </a:prstGeom>
          <a:noFill/>
        </p:spPr>
        <p:txBody>
          <a:bodyPr wrap="square" lIns="0" rIns="0" tIns="0" bIns="0" anchor="t">
            <a:spAutoFit/>
          </a:bodyPr>
          <a:lstStyle/>
          <a:p>
            <a:pPr algn="l">
              <a:spcBef>
                <a:spcPts val="0"/>
              </a:spcBef>
              <a:spcAft>
                <a:spcPts val="0"/>
              </a:spcAft>
            </a:pPr>
            <a:r>
              <a:rPr sz="900" b="1" i="0">
                <a:solidFill>
                  <a:srgbClr val="1E3A6E"/>
                </a:solidFill>
                <a:latin typeface="Calibri"/>
              </a:rPr>
              <a:t>risk.positions: a 64-outcome P&amp;L vector and a 4x4 covariance, per row</a:t>
            </a:r>
          </a:p>
        </p:txBody>
      </p:sp>
      <p:sp>
        <p:nvSpPr>
          <p:cNvPr id="13" name="TextBox 12"/>
          <p:cNvSpPr txBox="1"/>
          <p:nvPr/>
        </p:nvSpPr>
        <p:spPr>
          <a:xfrm>
            <a:off x="978408" y="1746504"/>
            <a:ext cx="5271964" cy="2167091"/>
          </a:xfrm>
          <a:prstGeom prst="rect">
            <a:avLst/>
          </a:prstGeom>
          <a:noFill/>
        </p:spPr>
        <p:txBody>
          <a:bodyPr wrap="square" lIns="0" rIns="0" tIns="0" bIns="0" anchor="t">
            <a:spAutoFit/>
          </a:bodyPr>
          <a:lstStyle/>
          <a:p>
            <a:pPr algn="l">
              <a:lnSpc>
                <a:spcPct val="134000"/>
              </a:lnSpc>
              <a:spcBef>
                <a:spcPts val="0"/>
              </a:spcBef>
              <a:spcAft>
                <a:spcPts val="0"/>
              </a:spcAft>
            </a:pPr>
            <a:r>
              <a:rPr sz="880" b="0" i="0">
                <a:solidFill>
                  <a:srgbClr val="0E1726"/>
                </a:solidFill>
                <a:latin typeface="Consolas"/>
              </a:rPr>
              <a:t>SELECT position_id, book,</a:t>
            </a:r>
          </a:p>
          <a:p>
            <a:pPr>
              <a:lnSpc>
                <a:spcPct val="134000"/>
              </a:lnSpc>
              <a:spcBef>
                <a:spcPts val="0"/>
              </a:spcBef>
              <a:spcAft>
                <a:spcPts val="0"/>
              </a:spcAft>
            </a:pPr>
            <a:r>
              <a:rPr sz="880" b="0" i="0">
                <a:solidFill>
                  <a:srgbClr val="0E1726"/>
                </a:solidFill>
                <a:latin typeface="Consolas"/>
              </a:rPr>
              <a:t>       vec_quantile(pnl, vec_of(0.05)) AS var_95,</a:t>
            </a:r>
          </a:p>
          <a:p>
            <a:pPr>
              <a:lnSpc>
                <a:spcPct val="134000"/>
              </a:lnSpc>
              <a:spcBef>
                <a:spcPts val="0"/>
              </a:spcBef>
              <a:spcAft>
                <a:spcPts val="0"/>
              </a:spcAft>
            </a:pPr>
            <a:r>
              <a:rPr sz="880" b="0" i="0">
                <a:solidFill>
                  <a:srgbClr val="0E1726"/>
                </a:solidFill>
                <a:latin typeface="Consolas"/>
              </a:rPr>
              <a:t>       vec_quantile(pnl, vec_of(0.01)) AS var_99,</a:t>
            </a:r>
          </a:p>
          <a:p>
            <a:pPr>
              <a:lnSpc>
                <a:spcPct val="134000"/>
              </a:lnSpc>
              <a:spcBef>
                <a:spcPts val="0"/>
              </a:spcBef>
              <a:spcAft>
                <a:spcPts val="0"/>
              </a:spcAft>
            </a:pPr>
            <a:r>
              <a:rPr sz="880" b="0" i="0">
                <a:solidFill>
                  <a:srgbClr val="0E1726"/>
                </a:solidFill>
                <a:latin typeface="Consolas"/>
              </a:rPr>
              <a:t>       vec_stddev(pnl)                 AS volatility,</a:t>
            </a:r>
          </a:p>
          <a:p>
            <a:pPr>
              <a:lnSpc>
                <a:spcPct val="134000"/>
              </a:lnSpc>
              <a:spcBef>
                <a:spcPts val="0"/>
              </a:spcBef>
              <a:spcAft>
                <a:spcPts val="0"/>
              </a:spcAft>
            </a:pPr>
            <a:r>
              <a:rPr sz="880" b="0" i="0">
                <a:solidFill>
                  <a:srgbClr val="0E1726"/>
                </a:solidFill>
                <a:latin typeface="Consolas"/>
              </a:rPr>
              <a:t>       vec_min(pnl)                    AS worst_outcome</a:t>
            </a:r>
          </a:p>
          <a:p>
            <a:pPr>
              <a:lnSpc>
                <a:spcPct val="134000"/>
              </a:lnSpc>
              <a:spcBef>
                <a:spcPts val="0"/>
              </a:spcBef>
              <a:spcAft>
                <a:spcPts val="0"/>
              </a:spcAft>
            </a:pPr>
            <a:r>
              <a:rPr sz="880" b="0" i="0">
                <a:solidFill>
                  <a:srgbClr val="0E1726"/>
                </a:solidFill>
                <a:latin typeface="Consolas"/>
              </a:rPr>
              <a:t>FROM risk.positions ORDER BY var_95;</a:t>
            </a:r>
          </a:p>
          <a:p>
            <a:pPr>
              <a:lnSpc>
                <a:spcPct val="134000"/>
              </a:lnSpc>
              <a:spcBef>
                <a:spcPts val="0"/>
              </a:spcBef>
              <a:spcAft>
                <a:spcPts val="0"/>
              </a:spcAft>
            </a:pPr>
            <a:r>
              <a:rPr sz="880" b="0" i="0">
                <a:solidFill>
                  <a:srgbClr val="0E1726"/>
                </a:solidFill>
                <a:latin typeface="Consolas"/>
              </a:rPr>
              <a:t> </a:t>
            </a:r>
          </a:p>
          <a:p>
            <a:pPr>
              <a:lnSpc>
                <a:spcPct val="134000"/>
              </a:lnSpc>
              <a:spcBef>
                <a:spcPts val="0"/>
              </a:spcBef>
              <a:spcAft>
                <a:spcPts val="0"/>
              </a:spcAft>
            </a:pPr>
            <a:r>
              <a:rPr sz="880" b="0" i="0">
                <a:solidFill>
                  <a:srgbClr val="0E1726"/>
                </a:solidFill>
                <a:latin typeface="Consolas"/>
              </a:rPr>
              <a:t>-- portfolio variance through the stored matrix</a:t>
            </a:r>
          </a:p>
          <a:p>
            <a:pPr>
              <a:lnSpc>
                <a:spcPct val="134000"/>
              </a:lnSpc>
              <a:spcBef>
                <a:spcPts val="0"/>
              </a:spcBef>
              <a:spcAft>
                <a:spcPts val="0"/>
              </a:spcAft>
            </a:pPr>
            <a:r>
              <a:rPr sz="880" b="0" i="0">
                <a:solidFill>
                  <a:srgbClr val="0E1726"/>
                </a:solidFill>
                <a:latin typeface="Consolas"/>
              </a:rPr>
              <a:t>SELECT vec_dot(w, mat_vec(covariance, w)) AS variance,</a:t>
            </a:r>
          </a:p>
          <a:p>
            <a:pPr>
              <a:lnSpc>
                <a:spcPct val="134000"/>
              </a:lnSpc>
              <a:spcBef>
                <a:spcPts val="0"/>
              </a:spcBef>
              <a:spcAft>
                <a:spcPts val="0"/>
              </a:spcAft>
            </a:pPr>
            <a:r>
              <a:rPr sz="880" b="0" i="0">
                <a:solidFill>
                  <a:srgbClr val="0E1726"/>
                </a:solidFill>
                <a:latin typeface="Consolas"/>
              </a:rPr>
              <a:t>       mat_is_positive_definite(covariance) AS could_be_data</a:t>
            </a:r>
          </a:p>
          <a:p>
            <a:pPr>
              <a:lnSpc>
                <a:spcPct val="134000"/>
              </a:lnSpc>
              <a:spcBef>
                <a:spcPts val="0"/>
              </a:spcBef>
              <a:spcAft>
                <a:spcPts val="0"/>
              </a:spcAft>
            </a:pPr>
            <a:r>
              <a:rPr sz="880" b="0" i="0">
                <a:solidFill>
                  <a:srgbClr val="0E1726"/>
                </a:solidFill>
                <a:latin typeface="Consolas"/>
              </a:rPr>
              <a:t>FROM risk.positions, (SELECT vec_of(.25,.25,.25,.25) w);</a:t>
            </a:r>
          </a:p>
        </p:txBody>
      </p:sp>
      <p:sp>
        <p:nvSpPr>
          <p:cNvPr id="14" name="TextBox 13"/>
          <p:cNvSpPr txBox="1"/>
          <p:nvPr/>
        </p:nvSpPr>
        <p:spPr>
          <a:xfrm>
            <a:off x="6840452" y="1353312"/>
            <a:ext cx="4574002" cy="3291840"/>
          </a:xfrm>
          <a:prstGeom prst="rect">
            <a:avLst/>
          </a:prstGeom>
          <a:noFill/>
        </p:spPr>
        <p:txBody>
          <a:bodyPr wrap="square" lIns="0" rIns="0" tIns="0" bIns="0" anchor="t">
            <a:spAutoFit/>
          </a:bodyPr>
          <a:lstStyle/>
          <a:p>
            <a:pPr algn="l">
              <a:spcBef>
                <a:spcPts val="0"/>
              </a:spcBef>
              <a:spcAft>
                <a:spcPts val="800"/>
              </a:spcAft>
            </a:pPr>
            <a:r>
              <a:rPr sz="1200" b="1" i="0">
                <a:solidFill>
                  <a:srgbClr val="1E3A6E"/>
                </a:solidFill>
                <a:latin typeface="Calibri"/>
              </a:rPr>
              <a:t>Shape is part of the type.</a:t>
            </a:r>
          </a:p>
          <a:p>
            <a:pPr>
              <a:spcBef>
                <a:spcPts val="0"/>
              </a:spcBef>
              <a:spcAft>
                <a:spcPts val="700"/>
              </a:spcAft>
            </a:pPr>
            <a:r>
              <a:rPr sz="1000" b="1">
                <a:solidFill>
                  <a:srgbClr val="1E3A6E"/>
                </a:solidFill>
                <a:latin typeface="Calibri"/>
              </a:rPr>
              <a:t>▪  </a:t>
            </a:r>
            <a:r>
              <a:rPr sz="1000">
                <a:solidFill>
                  <a:srgbClr val="0E1726"/>
                </a:solidFill>
                <a:latin typeface="Calibri"/>
              </a:rPr>
              <a:t>A width survives storage in a metadata key of its own, so a kernel takes a **contiguous slice** rather than copying per row --- 14.3x at width 8.</a:t>
            </a:r>
          </a:p>
          <a:p>
            <a:pPr>
              <a:spcBef>
                <a:spcPts val="0"/>
              </a:spcBef>
              <a:spcAft>
                <a:spcPts val="700"/>
              </a:spcAft>
            </a:pPr>
            <a:r>
              <a:rPr sz="1000" b="1">
                <a:solidFill>
                  <a:srgbClr val="1E3A6E"/>
                </a:solidFill>
                <a:latin typeface="Calibri"/>
              </a:rPr>
              <a:t>▪  </a:t>
            </a:r>
            <a:r>
              <a:rPr sz="1000">
                <a:solidFill>
                  <a:srgbClr val="0E1726"/>
                </a:solidFill>
                <a:latin typeface="Calibri"/>
              </a:rPr>
              <a:t>A matrix's shape survives in Arrow's canonical tensor extension, so an engine that understands tensors understands these columns.</a:t>
            </a:r>
          </a:p>
          <a:p>
            <a:pPr>
              <a:spcBef>
                <a:spcPts val="0"/>
              </a:spcBef>
              <a:spcAft>
                <a:spcPts val="700"/>
              </a:spcAft>
            </a:pPr>
            <a:r>
              <a:rPr sz="1000" b="1">
                <a:solidFill>
                  <a:srgbClr val="1E3A6E"/>
                </a:solidFill>
                <a:latin typeface="Calibri"/>
              </a:rPr>
              <a:t>▪  </a:t>
            </a:r>
            <a:r>
              <a:rPr sz="1000">
                <a:solidFill>
                  <a:srgbClr val="0E1726"/>
                </a:solidFill>
                <a:latin typeface="Calibri"/>
              </a:rPr>
              <a:t>`mat_is_positive_definite` answers by **attempting the factorisation**, which is the definition rather than a proxy. A covariance matrix that will not factor is one no data could have produced.</a:t>
            </a:r>
          </a:p>
          <a:p>
            <a:pPr>
              <a:spcBef>
                <a:spcPts val="0"/>
              </a:spcBef>
              <a:spcAft>
                <a:spcPts val="700"/>
              </a:spcAft>
            </a:pPr>
            <a:r>
              <a:rPr sz="1000" b="1">
                <a:solidFill>
                  <a:srgbClr val="1E3A6E"/>
                </a:solidFill>
                <a:latin typeface="Calibri"/>
              </a:rPr>
              <a:t>▪  </a:t>
            </a:r>
            <a:r>
              <a:rPr sz="1000">
                <a:solidFill>
                  <a:srgbClr val="0E1726"/>
                </a:solidFill>
                <a:latin typeface="Calibri"/>
              </a:rPr>
              <a:t>Vectors cross the wire as `float8[]`, the type every PostgreSQL driver already decodes --- so the correct thing also deletes code from every client.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ONE CATALOGUE · A STORED MATRIX THAT WAS NOT ONE</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The defect this found, and why it read as three awkward functions</a:t>
            </a:r>
          </a:p>
        </p:txBody>
      </p:sp>
      <p:sp>
        <p:nvSpPr>
          <p:cNvPr id="6" name="Rectangle 5"/>
          <p:cNvSpPr/>
          <p:nvPr/>
        </p:nvSpPr>
        <p:spPr>
          <a:xfrm>
            <a:off x="777240" y="161848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22 · One catalogue, on every path</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57</a:t>
            </a:r>
          </a:p>
        </p:txBody>
      </p:sp>
      <p:sp>
        <p:nvSpPr>
          <p:cNvPr id="10" name="TextBox 9"/>
          <p:cNvSpPr txBox="1"/>
          <p:nvPr/>
        </p:nvSpPr>
        <p:spPr>
          <a:xfrm>
            <a:off x="777240" y="1764792"/>
            <a:ext cx="10637215" cy="1188720"/>
          </a:xfrm>
          <a:prstGeom prst="rect">
            <a:avLst/>
          </a:prstGeom>
          <a:noFill/>
        </p:spPr>
        <p:txBody>
          <a:bodyPr wrap="square" lIns="0" rIns="0" tIns="0" bIns="0" anchor="t">
            <a:spAutoFit/>
          </a:bodyPr>
          <a:lstStyle/>
          <a:p>
            <a:pPr algn="l">
              <a:lnSpc>
                <a:spcPct val="128000"/>
              </a:lnSpc>
              <a:spcBef>
                <a:spcPts val="0"/>
              </a:spcBef>
              <a:spcAft>
                <a:spcPts val="1000"/>
              </a:spcAft>
            </a:pPr>
            <a:r>
              <a:rPr sz="1150" b="1" i="0">
                <a:solidFill>
                  <a:srgbClr val="1E3A6E"/>
                </a:solidFill>
                <a:latin typeface="Calibri"/>
              </a:rPr>
              <a:t>The Delta writer kept one metadata key of its own and discarded every other key the column declared. </a:t>
            </a:r>
            <a:r>
              <a:rPr sz="1150" b="0" i="0">
                <a:solidFill>
                  <a:srgbClr val="444F60"/>
                </a:solidFill>
                <a:latin typeface="Calibri"/>
              </a:rPr>
              <a:t>So the tensor extension was written and dropped, and a stored matrix came back not being a matrix. The failure had no symptom worth noticing: the table read perfectly, and every function that can **deduce** a square order from the length --- determinant, trace, inverse, solve, Cholesky, eigen --- answered correctly.</a:t>
            </a:r>
          </a:p>
          <a:p>
            <a:pPr>
              <a:lnSpc>
                <a:spcPct val="128000"/>
              </a:lnSpc>
              <a:spcBef>
                <a:spcPts val="0"/>
              </a:spcBef>
              <a:spcAft>
                <a:spcPts val="0"/>
              </a:spcAft>
            </a:pPr>
            <a:r>
              <a:rPr sz="1150" b="1" i="0">
                <a:solidFill>
                  <a:srgbClr val="1E3A6E"/>
                </a:solidFill>
                <a:latin typeface="Calibri"/>
              </a:rPr>
              <a:t>Only `mat_transpose`, `mat_multiply` and `mat_vec` refused: the three rectangular operations that need a shape they could not have. </a:t>
            </a:r>
            <a:r>
              <a:rPr sz="1150" b="0" i="0">
                <a:solidFill>
                  <a:srgbClr val="444F60"/>
                </a:solidFill>
                <a:latin typeface="Calibri"/>
              </a:rPr>
              <a:t>Which reads as three awkward functions, not as a storage defect.</a:t>
            </a:r>
          </a:p>
        </p:txBody>
      </p:sp>
      <p:sp>
        <p:nvSpPr>
          <p:cNvPr id="11" name="Rectangle 10"/>
          <p:cNvSpPr/>
          <p:nvPr/>
        </p:nvSpPr>
        <p:spPr>
          <a:xfrm>
            <a:off x="777240" y="3090672"/>
            <a:ext cx="10637215" cy="96012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090672"/>
            <a:ext cx="41148" cy="96012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3209544"/>
            <a:ext cx="10180015" cy="7406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1E3A6E"/>
                </a:solidFill>
                <a:latin typeface="Calibri"/>
              </a:rPr>
              <a:t>Found by the parity soak, which is the point of this chapter. </a:t>
            </a:r>
            <a:r>
              <a:rPr sz="1050" b="0" i="0">
                <a:solidFill>
                  <a:srgbClr val="0E1726"/>
                </a:solidFill>
                <a:latin typeface="Calibri"/>
              </a:rPr>
              <a:t>It calls every function over a **stored column** and against a literal of the same values, on three paths --- SQL, Flight SQL and the SDK. The two routes disagreed, and only one of them could be right. A user does not care whether an answer came from the transactional tier, the analytical one or the binding, and the experience must not depend on it --- so the comparison is the test.</a:t>
            </a:r>
          </a:p>
        </p:txBody>
      </p:sp>
      <p:sp>
        <p:nvSpPr>
          <p:cNvPr id="14" name="TextBox 13"/>
          <p:cNvSpPr txBox="1"/>
          <p:nvPr/>
        </p:nvSpPr>
        <p:spPr>
          <a:xfrm>
            <a:off x="777240" y="4233672"/>
            <a:ext cx="10637215" cy="1371600"/>
          </a:xfrm>
          <a:prstGeom prst="rect">
            <a:avLst/>
          </a:prstGeom>
          <a:noFill/>
        </p:spPr>
        <p:txBody>
          <a:bodyPr wrap="square" lIns="0" rIns="0" tIns="0" bIns="0" anchor="t">
            <a:spAutoFit/>
          </a:bodyPr>
          <a:lstStyle/>
          <a:p>
            <a:pPr algn="l">
              <a:lnSpc>
                <a:spcPct val="128000"/>
              </a:lnSpc>
              <a:spcBef>
                <a:spcPts val="0"/>
              </a:spcBef>
              <a:spcAft>
                <a:spcPts val="0"/>
              </a:spcAft>
            </a:pPr>
            <a:r>
              <a:rPr sz="1150" b="1" i="0">
                <a:solidFill>
                  <a:srgbClr val="1E3A6E"/>
                </a:solidFill>
                <a:latin typeface="Calibri"/>
              </a:rPr>
              <a:t>The rule that came out of it: a column's metadata is part of the column. </a:t>
            </a:r>
            <a:r>
              <a:rPr sz="1150" b="0" i="0">
                <a:solidFill>
                  <a:srgbClr val="444F60"/>
                </a:solidFill>
                <a:latin typeface="Calibri"/>
              </a:rPr>
              <a:t>Written with the schema and restored with it, whatever the key. The fixed length is the one deliberate exception, and only because it is a **rendering of the type** --- derived on write, dropped on read, so the two cannot come to disagree about how wide a column is.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FOUNDATIONS · WHY IT MATTERS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The problem, in four numbers</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22 · One catalogue, on every path</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58</a:t>
            </a:r>
          </a:p>
        </p:txBody>
      </p:sp>
      <p:sp>
        <p:nvSpPr>
          <p:cNvPr id="10" name="Rectangle 9"/>
          <p:cNvSpPr/>
          <p:nvPr/>
        </p:nvSpPr>
        <p:spPr>
          <a:xfrm>
            <a:off x="777240" y="1353312"/>
            <a:ext cx="5531351" cy="185348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853488"/>
          </a:xfrm>
          <a:prstGeom prst="rect">
            <a:avLst/>
          </a:prstGeom>
          <a:solidFill>
            <a:srgbClr val="444F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165591" cy="219456"/>
          </a:xfrm>
          <a:prstGeom prst="rect">
            <a:avLst/>
          </a:prstGeom>
          <a:noFill/>
        </p:spPr>
        <p:txBody>
          <a:bodyPr wrap="square" lIns="0" rIns="0" tIns="0" bIns="0" anchor="t">
            <a:spAutoFit/>
          </a:bodyPr>
          <a:lstStyle/>
          <a:p>
            <a:pPr algn="l">
              <a:spcBef>
                <a:spcPts val="0"/>
              </a:spcBef>
              <a:spcAft>
                <a:spcPts val="0"/>
              </a:spcAft>
            </a:pPr>
            <a:r>
              <a:rPr sz="900" b="1" i="0">
                <a:solidFill>
                  <a:srgbClr val="1E3A6E"/>
                </a:solidFill>
                <a:latin typeface="Calibri"/>
              </a:rPr>
              <a:t>the question</a:t>
            </a:r>
          </a:p>
        </p:txBody>
      </p:sp>
      <p:sp>
        <p:nvSpPr>
          <p:cNvPr id="13" name="TextBox 12"/>
          <p:cNvSpPr txBox="1"/>
          <p:nvPr/>
        </p:nvSpPr>
        <p:spPr>
          <a:xfrm>
            <a:off x="978408" y="1746504"/>
            <a:ext cx="5165591" cy="1378000"/>
          </a:xfrm>
          <a:prstGeom prst="rect">
            <a:avLst/>
          </a:prstGeom>
          <a:noFill/>
        </p:spPr>
        <p:txBody>
          <a:bodyPr wrap="square" lIns="0" rIns="0" tIns="0" bIns="0" anchor="t">
            <a:spAutoFit/>
          </a:bodyPr>
          <a:lstStyle/>
          <a:p>
            <a:pPr algn="l">
              <a:lnSpc>
                <a:spcPct val="134000"/>
              </a:lnSpc>
              <a:spcBef>
                <a:spcPts val="0"/>
              </a:spcBef>
              <a:spcAft>
                <a:spcPts val="0"/>
              </a:spcAft>
            </a:pPr>
            <a:r>
              <a:rPr sz="1000" b="0" i="0">
                <a:solidFill>
                  <a:srgbClr val="0E1726"/>
                </a:solidFill>
                <a:latin typeface="Consolas"/>
              </a:rPr>
              <a:t>SELECT sum(amount) FROM postings;</a:t>
            </a:r>
          </a:p>
          <a:p>
            <a:pPr>
              <a:lnSpc>
                <a:spcPct val="134000"/>
              </a:lnSpc>
              <a:spcBef>
                <a:spcPts val="0"/>
              </a:spcBef>
              <a:spcAft>
                <a:spcPts val="0"/>
              </a:spcAft>
            </a:pPr>
            <a:r>
              <a:rPr sz="1000" b="0" i="0">
                <a:solidFill>
                  <a:srgbClr val="0E1726"/>
                </a:solidFill>
                <a:latin typeface="Consolas"/>
              </a:rPr>
              <a:t> </a:t>
            </a:r>
          </a:p>
          <a:p>
            <a:pPr>
              <a:lnSpc>
                <a:spcPct val="134000"/>
              </a:lnSpc>
              <a:spcBef>
                <a:spcPts val="0"/>
              </a:spcBef>
              <a:spcAft>
                <a:spcPts val="0"/>
              </a:spcAft>
            </a:pPr>
            <a:r>
              <a:rPr sz="1000" b="0" i="0">
                <a:solidFill>
                  <a:srgbClr val="788395"/>
                </a:solidFill>
                <a:latin typeface="Consolas"/>
              </a:rPr>
              <a:t># the same four values, three arrival orders</a:t>
            </a:r>
          </a:p>
          <a:p>
            <a:pPr>
              <a:lnSpc>
                <a:spcPct val="134000"/>
              </a:lnSpc>
              <a:spcBef>
                <a:spcPts val="0"/>
              </a:spcBef>
              <a:spcAft>
                <a:spcPts val="0"/>
              </a:spcAft>
            </a:pPr>
            <a:r>
              <a:rPr sz="1000" b="0" i="0">
                <a:solidFill>
                  <a:srgbClr val="0E1726"/>
                </a:solidFill>
                <a:latin typeface="Consolas"/>
              </a:rPr>
              <a:t>  1e16,  1, -1e16,  1   -&gt;   ?</a:t>
            </a:r>
          </a:p>
          <a:p>
            <a:pPr>
              <a:lnSpc>
                <a:spcPct val="134000"/>
              </a:lnSpc>
              <a:spcBef>
                <a:spcPts val="0"/>
              </a:spcBef>
              <a:spcAft>
                <a:spcPts val="0"/>
              </a:spcAft>
            </a:pPr>
            <a:r>
              <a:rPr sz="1000" b="0" i="0">
                <a:solidFill>
                  <a:srgbClr val="0E1726"/>
                </a:solidFill>
                <a:latin typeface="Consolas"/>
              </a:rPr>
              <a:t> -1e16,  1,  1e16,  1   -&gt;   ?</a:t>
            </a:r>
          </a:p>
          <a:p>
            <a:pPr>
              <a:lnSpc>
                <a:spcPct val="134000"/>
              </a:lnSpc>
              <a:spcBef>
                <a:spcPts val="0"/>
              </a:spcBef>
              <a:spcAft>
                <a:spcPts val="0"/>
              </a:spcAft>
            </a:pPr>
            <a:r>
              <a:rPr sz="1000" b="0" i="0">
                <a:solidFill>
                  <a:srgbClr val="0E1726"/>
                </a:solidFill>
                <a:latin typeface="Consolas"/>
              </a:rPr>
              <a:t>  1,  1e16,  1, -1e16   -&gt;   ?</a:t>
            </a:r>
          </a:p>
        </p:txBody>
      </p:sp>
      <p:graphicFrame>
        <p:nvGraphicFramePr>
          <p:cNvPr id="14" name="Table 13"/>
          <p:cNvGraphicFramePr>
            <a:graphicFrameLocks noGrp="1"/>
          </p:cNvGraphicFramePr>
          <p:nvPr/>
        </p:nvGraphicFramePr>
        <p:xfrm>
          <a:off x="6627708" y="1353312"/>
          <a:ext cx="4786746" cy="1702993"/>
        </p:xfrm>
        <a:graphic>
          <a:graphicData uri="http://schemas.openxmlformats.org/drawingml/2006/table">
            <a:tbl>
              <a:tblPr firstRow="1">
                <a:tableStyleId>{5C22544A-7EE6-4342-B048-85BDC9FD1C3A}</a:tableStyleId>
              </a:tblPr>
              <a:tblGrid>
                <a:gridCol w="2853637"/>
                <a:gridCol w="1933109"/>
              </a:tblGrid>
              <a:tr h="333781">
                <a:tc>
                  <a:txBody>
                    <a:bodyPr wrap="square"/>
                    <a:lstStyle/>
                    <a:p>
                      <a:pPr algn="l"/>
                      <a:r>
                        <a:rPr sz="1100" b="1">
                          <a:solidFill>
                            <a:srgbClr val="FFFFFF"/>
                          </a:solidFill>
                          <a:latin typeface="Calibri"/>
                        </a:rPr>
                        <a:t>Engine</a:t>
                      </a:r>
                    </a:p>
                  </a:txBody>
                  <a:tcPr marL="82296" marR="64008" marT="32004" marB="32004" anchor="ctr">
                    <a:solidFill>
                      <a:srgbClr val="1E3A6E"/>
                    </a:solidFill>
                  </a:tcPr>
                </a:tc>
                <a:tc>
                  <a:txBody>
                    <a:bodyPr wrap="square"/>
                    <a:lstStyle/>
                    <a:p>
                      <a:pPr algn="l"/>
                      <a:r>
                        <a:rPr sz="1100" b="1">
                          <a:solidFill>
                            <a:srgbClr val="FFFFFF"/>
                          </a:solidFill>
                          <a:latin typeface="Calibri"/>
                        </a:rPr>
                        <a:t>Answer</a:t>
                      </a:r>
                    </a:p>
                  </a:txBody>
                  <a:tcPr marL="82296" marR="64008" marT="32004" marB="32004" anchor="ctr">
                    <a:solidFill>
                      <a:srgbClr val="1E3A6E"/>
                    </a:solidFill>
                  </a:tcPr>
                </a:tc>
              </a:tr>
              <a:tr h="342303">
                <a:tc>
                  <a:txBody>
                    <a:bodyPr wrap="square"/>
                    <a:lstStyle/>
                    <a:p>
                      <a:pPr algn="l"/>
                      <a:r>
                        <a:rPr sz="1150" b="0">
                          <a:solidFill>
                            <a:srgbClr val="0E1726"/>
                          </a:solidFill>
                          <a:latin typeface="Calibri"/>
                        </a:rPr>
                        <a:t>Ordinary floating-point sum, order A</a:t>
                      </a:r>
                    </a:p>
                  </a:txBody>
                  <a:tcPr marL="82296" marR="64008" marT="32004" marB="32004" anchor="ctr">
                    <a:solidFill>
                      <a:srgbClr val="FFFFFF"/>
                    </a:solidFill>
                  </a:tcPr>
                </a:tc>
                <a:tc>
                  <a:txBody>
                    <a:bodyPr wrap="square"/>
                    <a:lstStyle/>
                    <a:p>
                      <a:pPr algn="l"/>
                      <a:r>
                        <a:rPr sz="1150" b="0">
                          <a:solidFill>
                            <a:srgbClr val="0E1726"/>
                          </a:solidFill>
                          <a:latin typeface="Calibri"/>
                        </a:rPr>
                        <a:t>0</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Ordinary floating-point sum, order B</a:t>
                      </a:r>
                    </a:p>
                  </a:txBody>
                  <a:tcPr marL="82296" marR="64008" marT="32004" marB="32004" anchor="ctr">
                    <a:solidFill>
                      <a:srgbClr val="FBFAF7"/>
                    </a:solidFill>
                  </a:tcPr>
                </a:tc>
                <a:tc>
                  <a:txBody>
                    <a:bodyPr wrap="square"/>
                    <a:lstStyle/>
                    <a:p>
                      <a:pPr algn="l"/>
                      <a:r>
                        <a:rPr sz="1150" b="0">
                          <a:solidFill>
                            <a:srgbClr val="0E1726"/>
                          </a:solidFill>
                          <a:latin typeface="Calibri"/>
                        </a:rPr>
                        <a:t>2</a:t>
                      </a:r>
                    </a:p>
                  </a:txBody>
                  <a:tcPr marL="82296" marR="64008" marT="32004" marB="32004" anchor="ctr">
                    <a:solidFill>
                      <a:srgbClr val="FBFAF7"/>
                    </a:solidFill>
                  </a:tcPr>
                </a:tc>
              </a:tr>
              <a:tr h="342303">
                <a:tc>
                  <a:txBody>
                    <a:bodyPr wrap="square"/>
                    <a:lstStyle/>
                    <a:p>
                      <a:pPr algn="l"/>
                      <a:r>
                        <a:rPr sz="1150" b="0">
                          <a:solidFill>
                            <a:srgbClr val="0E1726"/>
                          </a:solidFill>
                          <a:latin typeface="Calibri"/>
                        </a:rPr>
                        <a:t>Ordinary floating-point sum, order C</a:t>
                      </a:r>
                    </a:p>
                  </a:txBody>
                  <a:tcPr marL="82296" marR="64008" marT="32004" marB="32004" anchor="ctr">
                    <a:solidFill>
                      <a:srgbClr val="FFFFFF"/>
                    </a:solidFill>
                  </a:tcPr>
                </a:tc>
                <a:tc>
                  <a:txBody>
                    <a:bodyPr wrap="square"/>
                    <a:lstStyle/>
                    <a:p>
                      <a:pPr algn="l"/>
                      <a:r>
                        <a:rPr sz="1150" b="0">
                          <a:solidFill>
                            <a:srgbClr val="0E1726"/>
                          </a:solidFill>
                          <a:latin typeface="Calibri"/>
                        </a:rPr>
                        <a:t>1</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SANKHYA, any order</a:t>
                      </a:r>
                    </a:p>
                  </a:txBody>
                  <a:tcPr marL="82296" marR="64008" marT="32004" marB="32004" anchor="ctr">
                    <a:solidFill>
                      <a:srgbClr val="FBFAF7"/>
                    </a:solidFill>
                  </a:tcPr>
                </a:tc>
                <a:tc>
                  <a:txBody>
                    <a:bodyPr wrap="square"/>
                    <a:lstStyle/>
                    <a:p>
                      <a:pPr algn="l"/>
                      <a:r>
                        <a:rPr sz="1150" b="0">
                          <a:solidFill>
                            <a:srgbClr val="0E1726"/>
                          </a:solidFill>
                          <a:latin typeface="Calibri"/>
                        </a:rPr>
                        <a:t>**18**</a:t>
                      </a:r>
                    </a:p>
                  </a:txBody>
                  <a:tcPr marL="82296" marR="64008" marT="32004" marB="32004" anchor="ctr">
                    <a:solidFill>
                      <a:srgbClr val="FBFAF7"/>
                    </a:solidFill>
                  </a:tcPr>
                </a:tc>
              </a:tr>
            </a:tbl>
          </a:graphicData>
        </a:graphic>
      </p:graphicFrame>
      <p:sp>
        <p:nvSpPr>
          <p:cNvPr id="15" name="TextBox 14"/>
          <p:cNvSpPr txBox="1"/>
          <p:nvPr/>
        </p:nvSpPr>
        <p:spPr>
          <a:xfrm>
            <a:off x="777240" y="3330625"/>
            <a:ext cx="10637215" cy="1463040"/>
          </a:xfrm>
          <a:prstGeom prst="rect">
            <a:avLst/>
          </a:prstGeom>
          <a:noFill/>
        </p:spPr>
        <p:txBody>
          <a:bodyPr wrap="square" lIns="0" rIns="0" tIns="0" bIns="0" anchor="t">
            <a:spAutoFit/>
          </a:bodyPr>
          <a:lstStyle/>
          <a:p>
            <a:pPr algn="l"/>
          </a:p>
          <a:p>
            <a:pPr>
              <a:lnSpc>
                <a:spcPct val="130000"/>
              </a:lnSpc>
              <a:spcBef>
                <a:spcPts val="0"/>
              </a:spcBef>
              <a:spcAft>
                <a:spcPts val="600"/>
              </a:spcAft>
            </a:pPr>
            <a:r>
              <a:rPr sz="1200" b="1" i="0">
                <a:solidFill>
                  <a:srgbClr val="0E1726"/>
                </a:solidFill>
                <a:latin typeface="Calibri"/>
              </a:rPr>
              <a:t>Eighteen is the correct answer, and the first three are all floating-point addition working exactly as specified. </a:t>
            </a:r>
            <a:r>
              <a:rPr sz="1200" b="0" i="0">
                <a:solidFill>
                  <a:srgbClr val="444F60"/>
                </a:solidFill>
                <a:latin typeface="Calibri"/>
              </a:rPr>
              <a:t>Addition is not associative in binary floating point, so a total depends on the order the rows arrived in — which depends on which partition finished first, which depends on how busy the machine was. A warehouse whose totals move when the machine is busier is not one anybody can reconcile against.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FOUNDATIONS · THE MECHANISM AND THE PRICE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How, and what it costs</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22 · One catalogue, on every path</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59</a:t>
            </a:r>
          </a:p>
        </p:txBody>
      </p:sp>
      <p:sp>
        <p:nvSpPr>
          <p:cNvPr id="10" name="TextBox 9"/>
          <p:cNvSpPr txBox="1"/>
          <p:nvPr/>
        </p:nvSpPr>
        <p:spPr>
          <a:xfrm>
            <a:off x="777240" y="1353312"/>
            <a:ext cx="10637215" cy="1097280"/>
          </a:xfrm>
          <a:prstGeom prst="rect">
            <a:avLst/>
          </a:prstGeom>
          <a:noFill/>
        </p:spPr>
        <p:txBody>
          <a:bodyPr wrap="square" lIns="0" rIns="0" tIns="0" bIns="0" anchor="t">
            <a:spAutoFit/>
          </a:bodyPr>
          <a:lstStyle/>
          <a:p>
            <a:pPr algn="l">
              <a:lnSpc>
                <a:spcPct val="130000"/>
              </a:lnSpc>
              <a:spcBef>
                <a:spcPts val="0"/>
              </a:spcBef>
              <a:spcAft>
                <a:spcPts val="600"/>
              </a:spcAft>
            </a:pPr>
            <a:r>
              <a:rPr sz="1200" b="0" i="0">
                <a:solidFill>
                  <a:srgbClr val="0E1726"/>
                </a:solidFill>
                <a:latin typeface="Calibri"/>
              </a:rPr>
              <a:t>The values are scaled to a common power of two and accumulated in a 127-bit integer. Integer addition is associative, so the order cannot matter — this is order-independence by construction rather than by sorting. Where no common scale exists, the reduction declines and falls back to an exact expansion over a canonical order; it never approximates.</a:t>
            </a:r>
          </a:p>
        </p:txBody>
      </p:sp>
      <p:graphicFrame>
        <p:nvGraphicFramePr>
          <p:cNvPr id="11" name="Table 10"/>
          <p:cNvGraphicFramePr>
            <a:graphicFrameLocks noGrp="1"/>
          </p:cNvGraphicFramePr>
          <p:nvPr/>
        </p:nvGraphicFramePr>
        <p:xfrm>
          <a:off x="777240" y="2450591"/>
          <a:ext cx="6595071" cy="1702993"/>
        </p:xfrm>
        <a:graphic>
          <a:graphicData uri="http://schemas.openxmlformats.org/drawingml/2006/table">
            <a:tbl>
              <a:tblPr firstRow="1">
                <a:tableStyleId>{5C22544A-7EE6-4342-B048-85BDC9FD1C3A}</a:tableStyleId>
              </a:tblPr>
              <a:tblGrid>
                <a:gridCol w="1373973"/>
                <a:gridCol w="1831964"/>
                <a:gridCol w="2015161"/>
                <a:gridCol w="1373973"/>
              </a:tblGrid>
              <a:tr h="333781">
                <a:tc>
                  <a:txBody>
                    <a:bodyPr wrap="square"/>
                    <a:lstStyle/>
                    <a:p>
                      <a:pPr algn="l"/>
                      <a:r>
                        <a:rPr sz="1100" b="1">
                          <a:solidFill>
                            <a:srgbClr val="FFFFFF"/>
                          </a:solidFill>
                          <a:latin typeface="Calibri"/>
                        </a:rPr>
                        <a:t>Values</a:t>
                      </a:r>
                    </a:p>
                  </a:txBody>
                  <a:tcPr marL="82296" marR="64008" marT="32004" marB="32004" anchor="ctr">
                    <a:solidFill>
                      <a:srgbClr val="1E3A6E"/>
                    </a:solidFill>
                  </a:tcPr>
                </a:tc>
                <a:tc>
                  <a:txBody>
                    <a:bodyPr wrap="square"/>
                    <a:lstStyle/>
                    <a:p>
                      <a:pPr algn="l"/>
                      <a:r>
                        <a:rPr sz="1100" b="1">
                          <a:solidFill>
                            <a:srgbClr val="FFFFFF"/>
                          </a:solidFill>
                          <a:latin typeface="Calibri"/>
                        </a:rPr>
                        <a:t>`iter().sum()`</a:t>
                      </a:r>
                    </a:p>
                  </a:txBody>
                  <a:tcPr marL="82296" marR="64008" marT="32004" marB="32004" anchor="ctr">
                    <a:solidFill>
                      <a:srgbClr val="1E3A6E"/>
                    </a:solidFill>
                  </a:tcPr>
                </a:tc>
                <a:tc>
                  <a:txBody>
                    <a:bodyPr wrap="square"/>
                    <a:lstStyle/>
                    <a:p>
                      <a:pPr algn="l"/>
                      <a:r>
                        <a:rPr sz="1100" b="1">
                          <a:solidFill>
                            <a:srgbClr val="FFFFFF"/>
                          </a:solidFill>
                          <a:latin typeface="Calibri"/>
                        </a:rPr>
                        <a:t>`deterministic_sum`</a:t>
                      </a:r>
                    </a:p>
                  </a:txBody>
                  <a:tcPr marL="82296" marR="64008" marT="32004" marB="32004" anchor="ctr">
                    <a:solidFill>
                      <a:srgbClr val="1E3A6E"/>
                    </a:solidFill>
                  </a:tcPr>
                </a:tc>
                <a:tc>
                  <a:txBody>
                    <a:bodyPr wrap="square"/>
                    <a:lstStyle/>
                    <a:p>
                      <a:pPr algn="l"/>
                      <a:r>
                        <a:rPr sz="1100" b="1">
                          <a:solidFill>
                            <a:srgbClr val="FFFFFF"/>
                          </a:solidFill>
                          <a:latin typeface="Calibri"/>
                        </a:rPr>
                        <a:t>Price</a:t>
                      </a:r>
                    </a:p>
                  </a:txBody>
                  <a:tcPr marL="82296" marR="64008" marT="32004" marB="32004" anchor="ctr">
                    <a:solidFill>
                      <a:srgbClr val="1E3A6E"/>
                    </a:solidFill>
                  </a:tcPr>
                </a:tc>
              </a:tr>
              <a:tr h="342303">
                <a:tc>
                  <a:txBody>
                    <a:bodyPr wrap="square"/>
                    <a:lstStyle/>
                    <a:p>
                      <a:pPr algn="l"/>
                      <a:r>
                        <a:rPr sz="1150" b="0">
                          <a:solidFill>
                            <a:srgbClr val="0E1726"/>
                          </a:solidFill>
                          <a:latin typeface="Calibri"/>
                        </a:rPr>
                        <a:t>8</a:t>
                      </a:r>
                    </a:p>
                  </a:txBody>
                  <a:tcPr marL="82296" marR="64008" marT="32004" marB="32004" anchor="ctr">
                    <a:solidFill>
                      <a:srgbClr val="FFFFFF"/>
                    </a:solidFill>
                  </a:tcPr>
                </a:tc>
                <a:tc>
                  <a:txBody>
                    <a:bodyPr wrap="square"/>
                    <a:lstStyle/>
                    <a:p>
                      <a:pPr algn="l"/>
                      <a:r>
                        <a:rPr sz="1150" b="0">
                          <a:solidFill>
                            <a:srgbClr val="0E1726"/>
                          </a:solidFill>
                          <a:latin typeface="Calibri"/>
                        </a:rPr>
                        <a:t>1.30 ns</a:t>
                      </a:r>
                    </a:p>
                  </a:txBody>
                  <a:tcPr marL="82296" marR="64008" marT="32004" marB="32004" anchor="ctr">
                    <a:solidFill>
                      <a:srgbClr val="FFFFFF"/>
                    </a:solidFill>
                  </a:tcPr>
                </a:tc>
                <a:tc>
                  <a:txBody>
                    <a:bodyPr wrap="square"/>
                    <a:lstStyle/>
                    <a:p>
                      <a:pPr algn="l"/>
                      <a:r>
                        <a:rPr sz="1150" b="0">
                          <a:solidFill>
                            <a:srgbClr val="0E1726"/>
                          </a:solidFill>
                          <a:latin typeface="Calibri"/>
                        </a:rPr>
                        <a:t>74.1 ns</a:t>
                      </a:r>
                    </a:p>
                  </a:txBody>
                  <a:tcPr marL="82296" marR="64008" marT="32004" marB="32004" anchor="ctr">
                    <a:solidFill>
                      <a:srgbClr val="FFFFFF"/>
                    </a:solidFill>
                  </a:tcPr>
                </a:tc>
                <a:tc>
                  <a:txBody>
                    <a:bodyPr wrap="square"/>
                    <a:lstStyle/>
                    <a:p>
                      <a:pPr algn="l"/>
                      <a:r>
                        <a:rPr sz="1150" b="0">
                          <a:solidFill>
                            <a:srgbClr val="0E1726"/>
                          </a:solidFill>
                          <a:latin typeface="Calibri"/>
                        </a:rPr>
                        <a:t>**57×**</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64</a:t>
                      </a:r>
                    </a:p>
                  </a:txBody>
                  <a:tcPr marL="82296" marR="64008" marT="32004" marB="32004" anchor="ctr">
                    <a:solidFill>
                      <a:srgbClr val="FBFAF7"/>
                    </a:solidFill>
                  </a:tcPr>
                </a:tc>
                <a:tc>
                  <a:txBody>
                    <a:bodyPr wrap="square"/>
                    <a:lstStyle/>
                    <a:p>
                      <a:pPr algn="l"/>
                      <a:r>
                        <a:rPr sz="1150" b="0">
                          <a:solidFill>
                            <a:srgbClr val="0E1726"/>
                          </a:solidFill>
                          <a:latin typeface="Calibri"/>
                        </a:rPr>
                        <a:t>14.5 ns</a:t>
                      </a:r>
                    </a:p>
                  </a:txBody>
                  <a:tcPr marL="82296" marR="64008" marT="32004" marB="32004" anchor="ctr">
                    <a:solidFill>
                      <a:srgbClr val="FBFAF7"/>
                    </a:solidFill>
                  </a:tcPr>
                </a:tc>
                <a:tc>
                  <a:txBody>
                    <a:bodyPr wrap="square"/>
                    <a:lstStyle/>
                    <a:p>
                      <a:pPr algn="l"/>
                      <a:r>
                        <a:rPr sz="1150" b="0">
                          <a:solidFill>
                            <a:srgbClr val="0E1726"/>
                          </a:solidFill>
                          <a:latin typeface="Calibri"/>
                        </a:rPr>
                        <a:t>508 ns</a:t>
                      </a:r>
                    </a:p>
                  </a:txBody>
                  <a:tcPr marL="82296" marR="64008" marT="32004" marB="32004" anchor="ctr">
                    <a:solidFill>
                      <a:srgbClr val="FBFAF7"/>
                    </a:solidFill>
                  </a:tcPr>
                </a:tc>
                <a:tc>
                  <a:txBody>
                    <a:bodyPr wrap="square"/>
                    <a:lstStyle/>
                    <a:p>
                      <a:pPr algn="l"/>
                      <a:r>
                        <a:rPr sz="1150" b="0">
                          <a:solidFill>
                            <a:srgbClr val="0E1726"/>
                          </a:solidFill>
                          <a:latin typeface="Calibri"/>
                        </a:rPr>
                        <a:t>**35×**</a:t>
                      </a:r>
                    </a:p>
                  </a:txBody>
                  <a:tcPr marL="82296" marR="64008" marT="32004" marB="32004" anchor="ctr">
                    <a:solidFill>
                      <a:srgbClr val="FBFAF7"/>
                    </a:solidFill>
                  </a:tcPr>
                </a:tc>
              </a:tr>
              <a:tr h="342303">
                <a:tc>
                  <a:txBody>
                    <a:bodyPr wrap="square"/>
                    <a:lstStyle/>
                    <a:p>
                      <a:pPr algn="l"/>
                      <a:r>
                        <a:rPr sz="1150" b="0">
                          <a:solidFill>
                            <a:srgbClr val="0E1726"/>
                          </a:solidFill>
                          <a:latin typeface="Calibri"/>
                        </a:rPr>
                        <a:t>512</a:t>
                      </a:r>
                    </a:p>
                  </a:txBody>
                  <a:tcPr marL="82296" marR="64008" marT="32004" marB="32004" anchor="ctr">
                    <a:solidFill>
                      <a:srgbClr val="FFFFFF"/>
                    </a:solidFill>
                  </a:tcPr>
                </a:tc>
                <a:tc>
                  <a:txBody>
                    <a:bodyPr wrap="square"/>
                    <a:lstStyle/>
                    <a:p>
                      <a:pPr algn="l"/>
                      <a:r>
                        <a:rPr sz="1150" b="0">
                          <a:solidFill>
                            <a:srgbClr val="0E1726"/>
                          </a:solidFill>
                          <a:latin typeface="Calibri"/>
                        </a:rPr>
                        <a:t>552 ns</a:t>
                      </a:r>
                    </a:p>
                  </a:txBody>
                  <a:tcPr marL="82296" marR="64008" marT="32004" marB="32004" anchor="ctr">
                    <a:solidFill>
                      <a:srgbClr val="FFFFFF"/>
                    </a:solidFill>
                  </a:tcPr>
                </a:tc>
                <a:tc>
                  <a:txBody>
                    <a:bodyPr wrap="square"/>
                    <a:lstStyle/>
                    <a:p>
                      <a:pPr algn="l"/>
                      <a:r>
                        <a:rPr sz="1150" b="0">
                          <a:solidFill>
                            <a:srgbClr val="0E1726"/>
                          </a:solidFill>
                          <a:latin typeface="Calibri"/>
                        </a:rPr>
                        <a:t>5.89 µs</a:t>
                      </a:r>
                    </a:p>
                  </a:txBody>
                  <a:tcPr marL="82296" marR="64008" marT="32004" marB="32004" anchor="ctr">
                    <a:solidFill>
                      <a:srgbClr val="FFFFFF"/>
                    </a:solidFill>
                  </a:tcPr>
                </a:tc>
                <a:tc>
                  <a:txBody>
                    <a:bodyPr wrap="square"/>
                    <a:lstStyle/>
                    <a:p>
                      <a:pPr algn="l"/>
                      <a:r>
                        <a:rPr sz="1150" b="0">
                          <a:solidFill>
                            <a:srgbClr val="0E1726"/>
                          </a:solidFill>
                          <a:latin typeface="Calibri"/>
                        </a:rPr>
                        <a:t>**10.7×**</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4,096</a:t>
                      </a:r>
                    </a:p>
                  </a:txBody>
                  <a:tcPr marL="82296" marR="64008" marT="32004" marB="32004" anchor="ctr">
                    <a:solidFill>
                      <a:srgbClr val="FBFAF7"/>
                    </a:solidFill>
                  </a:tcPr>
                </a:tc>
                <a:tc>
                  <a:txBody>
                    <a:bodyPr wrap="square"/>
                    <a:lstStyle/>
                    <a:p>
                      <a:pPr algn="l"/>
                      <a:r>
                        <a:rPr sz="1150" b="0">
                          <a:solidFill>
                            <a:srgbClr val="0E1726"/>
                          </a:solidFill>
                          <a:latin typeface="Calibri"/>
                        </a:rPr>
                        <a:t>4.45 µs</a:t>
                      </a:r>
                    </a:p>
                  </a:txBody>
                  <a:tcPr marL="82296" marR="64008" marT="32004" marB="32004" anchor="ctr">
                    <a:solidFill>
                      <a:srgbClr val="FBFAF7"/>
                    </a:solidFill>
                  </a:tcPr>
                </a:tc>
                <a:tc>
                  <a:txBody>
                    <a:bodyPr wrap="square"/>
                    <a:lstStyle/>
                    <a:p>
                      <a:pPr algn="l"/>
                      <a:r>
                        <a:rPr sz="1150" b="0">
                          <a:solidFill>
                            <a:srgbClr val="0E1726"/>
                          </a:solidFill>
                          <a:latin typeface="Calibri"/>
                        </a:rPr>
                        <a:t>54.4 µs</a:t>
                      </a:r>
                    </a:p>
                  </a:txBody>
                  <a:tcPr marL="82296" marR="64008" marT="32004" marB="32004" anchor="ctr">
                    <a:solidFill>
                      <a:srgbClr val="FBFAF7"/>
                    </a:solidFill>
                  </a:tcPr>
                </a:tc>
                <a:tc>
                  <a:txBody>
                    <a:bodyPr wrap="square"/>
                    <a:lstStyle/>
                    <a:p>
                      <a:pPr algn="l"/>
                      <a:r>
                        <a:rPr sz="1150" b="0">
                          <a:solidFill>
                            <a:srgbClr val="0E1726"/>
                          </a:solidFill>
                          <a:latin typeface="Calibri"/>
                        </a:rPr>
                        <a:t>**12.2×**</a:t>
                      </a:r>
                    </a:p>
                  </a:txBody>
                  <a:tcPr marL="82296" marR="64008" marT="32004" marB="32004" anchor="ctr">
                    <a:solidFill>
                      <a:srgbClr val="FBFAF7"/>
                    </a:solidFill>
                  </a:tcPr>
                </a:tc>
              </a:tr>
            </a:tbl>
          </a:graphicData>
        </a:graphic>
      </p:graphicFrame>
      <p:sp>
        <p:nvSpPr>
          <p:cNvPr id="12" name="TextBox 11"/>
          <p:cNvSpPr txBox="1"/>
          <p:nvPr/>
        </p:nvSpPr>
        <p:spPr>
          <a:xfrm>
            <a:off x="7691429" y="2450591"/>
            <a:ext cx="3723025" cy="2194560"/>
          </a:xfrm>
          <a:prstGeom prst="rect">
            <a:avLst/>
          </a:prstGeom>
          <a:noFill/>
        </p:spPr>
        <p:txBody>
          <a:bodyPr wrap="square" lIns="0" rIns="0" tIns="0" bIns="0" anchor="t">
            <a:spAutoFit/>
          </a:bodyPr>
          <a:lstStyle/>
          <a:p>
            <a:pPr algn="l">
              <a:spcBef>
                <a:spcPts val="0"/>
              </a:spcBef>
              <a:spcAft>
                <a:spcPts val="600"/>
              </a:spcAft>
            </a:pPr>
            <a:r>
              <a:rPr sz="1100" b="1" i="0">
                <a:solidFill>
                  <a:srgbClr val="1E3A6E"/>
                </a:solidFill>
                <a:latin typeface="Calibri"/>
              </a:rPr>
              <a:t>Measured, not asserted</a:t>
            </a:r>
          </a:p>
          <a:p>
            <a:pPr>
              <a:lnSpc>
                <a:spcPct val="125000"/>
              </a:lnSpc>
              <a:spcBef>
                <a:spcPts val="0"/>
              </a:spcBef>
              <a:spcAft>
                <a:spcPts val="600"/>
              </a:spcAft>
            </a:pPr>
            <a:r>
              <a:rPr sz="950" b="0" i="0">
                <a:solidFill>
                  <a:srgbClr val="444F60"/>
                </a:solidFill>
                <a:latin typeface="Calibri"/>
              </a:rPr>
              <a:t>`crates/sankhya-math/benches/reduce.rs`, criterion medians of a hundred samples, AMD Ryzen AI 9 HX 370, rustc 1.97.1, thin LTO.</a:t>
            </a:r>
          </a:p>
          <a:p>
            <a:pPr>
              <a:lnSpc>
                <a:spcPct val="125000"/>
              </a:lnSpc>
              <a:spcBef>
                <a:spcPts val="0"/>
              </a:spcBef>
              <a:spcAft>
                <a:spcPts val="600"/>
              </a:spcAft>
            </a:pPr>
            <a:r>
              <a:rPr sz="950" b="0" i="0">
                <a:solidFill>
                  <a:srgbClr val="444F60"/>
                </a:solidFill>
                <a:latin typeface="Calibri"/>
              </a:rPr>
              <a:t>The narrow case is the expensive one, and narrow is the common one here — a window of readings, a short curve. An i128 accumulator cannot be autovectorised.</a:t>
            </a:r>
          </a:p>
        </p:txBody>
      </p:sp>
      <p:sp>
        <p:nvSpPr>
          <p:cNvPr id="13" name="TextBox 12"/>
          <p:cNvSpPr txBox="1"/>
          <p:nvPr/>
        </p:nvSpPr>
        <p:spPr>
          <a:xfrm>
            <a:off x="777240" y="4391329"/>
            <a:ext cx="10637215" cy="731520"/>
          </a:xfrm>
          <a:prstGeom prst="rect">
            <a:avLst/>
          </a:prstGeom>
          <a:noFill/>
        </p:spPr>
        <p:txBody>
          <a:bodyPr wrap="square" lIns="0" rIns="0" tIns="0" bIns="0" anchor="t">
            <a:spAutoFit/>
          </a:bodyPr>
          <a:lstStyle/>
          <a:p>
            <a:pPr algn="l"/>
          </a:p>
          <a:p>
            <a:pPr>
              <a:lnSpc>
                <a:spcPct val="128000"/>
              </a:lnSpc>
              <a:spcBef>
                <a:spcPts val="0"/>
              </a:spcBef>
              <a:spcAft>
                <a:spcPts val="600"/>
              </a:spcAft>
            </a:pPr>
            <a:r>
              <a:rPr sz="1100" b="1" i="0">
                <a:solidFill>
                  <a:srgbClr val="1E3A6E"/>
                </a:solidFill>
                <a:latin typeface="Calibri"/>
              </a:rPr>
              <a:t>This table did not exist until an audit asked for it. </a:t>
            </a:r>
            <a:r>
              <a:rPr sz="1100" b="0" i="0">
                <a:solidFill>
                  <a:srgbClr val="444F60"/>
                </a:solidFill>
                <a:latin typeface="Calibri"/>
              </a:rPr>
              <a:t>What was published was a ratio against this project's own previous code, so a reader concluded the kernels were fast. They were faster than they had been.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FOUNDATIONS · THE BOUNDARY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And what the guarantee does not cover</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22 · One catalogue, on every path</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60</a:t>
            </a:r>
          </a:p>
        </p:txBody>
      </p:sp>
      <p:graphicFrame>
        <p:nvGraphicFramePr>
          <p:cNvPr id="10" name="Table 9"/>
          <p:cNvGraphicFramePr>
            <a:graphicFrameLocks noGrp="1"/>
          </p:cNvGraphicFramePr>
          <p:nvPr/>
        </p:nvGraphicFramePr>
        <p:xfrm>
          <a:off x="777240" y="1353312"/>
          <a:ext cx="10637214" cy="2387599"/>
        </p:xfrm>
        <a:graphic>
          <a:graphicData uri="http://schemas.openxmlformats.org/drawingml/2006/table">
            <a:tbl>
              <a:tblPr firstRow="1">
                <a:tableStyleId>{5C22544A-7EE6-4342-B048-85BDC9FD1C3A}</a:tableStyleId>
              </a:tblPr>
              <a:tblGrid>
                <a:gridCol w="5685408"/>
                <a:gridCol w="2475903"/>
                <a:gridCol w="2475903"/>
              </a:tblGrid>
              <a:tr h="333781">
                <a:tc>
                  <a:txBody>
                    <a:bodyPr wrap="square"/>
                    <a:lstStyle/>
                    <a:p>
                      <a:pPr algn="l"/>
                      <a:r>
                        <a:rPr sz="1100" b="1">
                          <a:solidFill>
                            <a:srgbClr val="FFFFFF"/>
                          </a:solidFill>
                          <a:latin typeface="Calibri"/>
                        </a:rPr>
                        <a:t>Kernel family</a:t>
                      </a:r>
                    </a:p>
                  </a:txBody>
                  <a:tcPr marL="82296" marR="64008" marT="32004" marB="32004" anchor="ctr">
                    <a:solidFill>
                      <a:srgbClr val="1E3A6E"/>
                    </a:solidFill>
                  </a:tcPr>
                </a:tc>
                <a:tc>
                  <a:txBody>
                    <a:bodyPr wrap="square"/>
                    <a:lstStyle/>
                    <a:p>
                      <a:pPr algn="l"/>
                      <a:r>
                        <a:rPr sz="1100" b="1">
                          <a:solidFill>
                            <a:srgbClr val="FFFFFF"/>
                          </a:solidFill>
                          <a:latin typeface="Calibri"/>
                        </a:rPr>
                        <a:t>Bit-reproducible</a:t>
                      </a:r>
                    </a:p>
                  </a:txBody>
                  <a:tcPr marL="82296" marR="64008" marT="32004" marB="32004" anchor="ctr">
                    <a:solidFill>
                      <a:srgbClr val="1E3A6E"/>
                    </a:solidFill>
                  </a:tcPr>
                </a:tc>
                <a:tc>
                  <a:txBody>
                    <a:bodyPr wrap="square"/>
                    <a:lstStyle/>
                    <a:p>
                      <a:pPr algn="l"/>
                      <a:r>
                        <a:rPr sz="1100" b="1">
                          <a:solidFill>
                            <a:srgbClr val="FFFFFF"/>
                          </a:solidFill>
                          <a:latin typeface="Calibri"/>
                        </a:rPr>
                        <a:t>Compensated</a:t>
                      </a:r>
                    </a:p>
                  </a:txBody>
                  <a:tcPr marL="82296" marR="64008" marT="32004" marB="32004" anchor="ctr">
                    <a:solidFill>
                      <a:srgbClr val="1E3A6E"/>
                    </a:solidFill>
                  </a:tcPr>
                </a:tc>
              </a:tr>
              <a:tr h="342303">
                <a:tc>
                  <a:txBody>
                    <a:bodyPr wrap="square"/>
                    <a:lstStyle/>
                    <a:p>
                      <a:pPr algn="l"/>
                      <a:r>
                        <a:rPr sz="1150" b="0">
                          <a:solidFill>
                            <a:srgbClr val="0E1726"/>
                          </a:solidFill>
                          <a:latin typeface="Calibri"/>
                        </a:rPr>
                        <a:t>`vec_dot`, `sum`, `mean`, `norm_*`, `euclidean`</a:t>
                      </a:r>
                    </a:p>
                  </a:txBody>
                  <a:tcPr marL="82296" marR="64008" marT="32004" marB="32004" anchor="ctr">
                    <a:solidFill>
                      <a:srgbClr val="FFFFFF"/>
                    </a:solidFill>
                  </a:tcPr>
                </a:tc>
                <a:tc>
                  <a:txBody>
                    <a:bodyPr wrap="square"/>
                    <a:lstStyle/>
                    <a:p>
                      <a:pPr algn="l"/>
                      <a:r>
                        <a:rPr sz="1150" b="0">
                          <a:solidFill>
                            <a:srgbClr val="0E1726"/>
                          </a:solidFill>
                          <a:latin typeface="Calibri"/>
                        </a:rPr>
                        <a:t>yes</a:t>
                      </a:r>
                    </a:p>
                  </a:txBody>
                  <a:tcPr marL="82296" marR="64008" marT="32004" marB="32004" anchor="ctr">
                    <a:solidFill>
                      <a:srgbClr val="FFFFFF"/>
                    </a:solidFill>
                  </a:tcPr>
                </a:tc>
                <a:tc>
                  <a:txBody>
                    <a:bodyPr wrap="square"/>
                    <a:lstStyle/>
                    <a:p>
                      <a:pPr algn="l"/>
                      <a:r>
                        <a:rPr sz="1150" b="0">
                          <a:solidFill>
                            <a:srgbClr val="0E1726"/>
                          </a:solidFill>
                          <a:latin typeface="Calibri"/>
                        </a:rPr>
                        <a:t>**yes**</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`mat_multiply`, `mat_trace`</a:t>
                      </a:r>
                    </a:p>
                  </a:txBody>
                  <a:tcPr marL="82296" marR="64008" marT="32004" marB="32004" anchor="ctr">
                    <a:solidFill>
                      <a:srgbClr val="FBFAF7"/>
                    </a:solidFill>
                  </a:tcPr>
                </a:tc>
                <a:tc>
                  <a:txBody>
                    <a:bodyPr wrap="square"/>
                    <a:lstStyle/>
                    <a:p>
                      <a:pPr algn="l"/>
                      <a:r>
                        <a:rPr sz="1150" b="0">
                          <a:solidFill>
                            <a:srgbClr val="0E1726"/>
                          </a:solidFill>
                          <a:latin typeface="Calibri"/>
                        </a:rPr>
                        <a:t>yes</a:t>
                      </a:r>
                    </a:p>
                  </a:txBody>
                  <a:tcPr marL="82296" marR="64008" marT="32004" marB="32004" anchor="ctr">
                    <a:solidFill>
                      <a:srgbClr val="FBFAF7"/>
                    </a:solidFill>
                  </a:tcPr>
                </a:tc>
                <a:tc>
                  <a:txBody>
                    <a:bodyPr wrap="square"/>
                    <a:lstStyle/>
                    <a:p>
                      <a:pPr algn="l"/>
                      <a:r>
                        <a:rPr sz="1150" b="0">
                          <a:solidFill>
                            <a:srgbClr val="0E1726"/>
                          </a:solidFill>
                          <a:latin typeface="Calibri"/>
                        </a:rPr>
                        <a:t>**yes**</a:t>
                      </a:r>
                    </a:p>
                  </a:txBody>
                  <a:tcPr marL="82296" marR="64008" marT="32004" marB="32004" anchor="ctr">
                    <a:solidFill>
                      <a:srgbClr val="FBFAF7"/>
                    </a:solidFill>
                  </a:tcPr>
                </a:tc>
              </a:tr>
              <a:tr h="342303">
                <a:tc>
                  <a:txBody>
                    <a:bodyPr wrap="square"/>
                    <a:lstStyle/>
                    <a:p>
                      <a:pPr algn="l"/>
                      <a:r>
                        <a:rPr sz="1150" b="0">
                          <a:solidFill>
                            <a:srgbClr val="0E1726"/>
                          </a:solidFill>
                          <a:latin typeface="Calibri"/>
                        </a:rPr>
                        <a:t>statistics, calculus, regression, time series, finance</a:t>
                      </a:r>
                    </a:p>
                  </a:txBody>
                  <a:tcPr marL="82296" marR="64008" marT="32004" marB="32004" anchor="ctr">
                    <a:solidFill>
                      <a:srgbClr val="FFFFFF"/>
                    </a:solidFill>
                  </a:tcPr>
                </a:tc>
                <a:tc>
                  <a:txBody>
                    <a:bodyPr wrap="square"/>
                    <a:lstStyle/>
                    <a:p>
                      <a:pPr algn="l"/>
                      <a:r>
                        <a:rPr sz="1150" b="0">
                          <a:solidFill>
                            <a:srgbClr val="0E1726"/>
                          </a:solidFill>
                          <a:latin typeface="Calibri"/>
                        </a:rPr>
                        <a:t>yes</a:t>
                      </a:r>
                    </a:p>
                  </a:txBody>
                  <a:tcPr marL="82296" marR="64008" marT="32004" marB="32004" anchor="ctr">
                    <a:solidFill>
                      <a:srgbClr val="FFFFFF"/>
                    </a:solidFill>
                  </a:tcPr>
                </a:tc>
                <a:tc>
                  <a:txBody>
                    <a:bodyPr wrap="square"/>
                    <a:lstStyle/>
                    <a:p>
                      <a:pPr algn="l"/>
                      <a:r>
                        <a:rPr sz="1150" b="0">
                          <a:solidFill>
                            <a:srgbClr val="0E1726"/>
                          </a:solidFill>
                          <a:latin typeface="Calibri"/>
                        </a:rPr>
                        <a:t>**yes**</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LU — `mat_determinant`, `mat_solve`, `mat_inverse`</a:t>
                      </a:r>
                    </a:p>
                  </a:txBody>
                  <a:tcPr marL="82296" marR="64008" marT="32004" marB="32004" anchor="ctr">
                    <a:solidFill>
                      <a:srgbClr val="FBFAF7"/>
                    </a:solidFill>
                  </a:tcPr>
                </a:tc>
                <a:tc>
                  <a:txBody>
                    <a:bodyPr wrap="square"/>
                    <a:lstStyle/>
                    <a:p>
                      <a:pPr algn="l"/>
                      <a:r>
                        <a:rPr sz="1150" b="0">
                          <a:solidFill>
                            <a:srgbClr val="0E1726"/>
                          </a:solidFill>
                          <a:latin typeface="Calibri"/>
                        </a:rPr>
                        <a:t>yes</a:t>
                      </a:r>
                    </a:p>
                  </a:txBody>
                  <a:tcPr marL="82296" marR="64008" marT="32004" marB="32004" anchor="ctr">
                    <a:solidFill>
                      <a:srgbClr val="FBFAF7"/>
                    </a:solidFill>
                  </a:tcPr>
                </a:tc>
                <a:tc>
                  <a:txBody>
                    <a:bodyPr wrap="square"/>
                    <a:lstStyle/>
                    <a:p>
                      <a:pPr algn="l"/>
                      <a:r>
                        <a:rPr sz="1150" b="0">
                          <a:solidFill>
                            <a:srgbClr val="0E1726"/>
                          </a:solidFill>
                          <a:latin typeface="Calibri"/>
                        </a:rPr>
                        <a:t>no</a:t>
                      </a:r>
                    </a:p>
                  </a:txBody>
                  <a:tcPr marL="82296" marR="64008" marT="32004" marB="32004" anchor="ctr">
                    <a:solidFill>
                      <a:srgbClr val="FBFAF7"/>
                    </a:solidFill>
                  </a:tcPr>
                </a:tc>
              </a:tr>
              <a:tr h="342303">
                <a:tc>
                  <a:txBody>
                    <a:bodyPr wrap="square"/>
                    <a:lstStyle/>
                    <a:p>
                      <a:pPr algn="l"/>
                      <a:r>
                        <a:rPr sz="1150" b="0">
                          <a:solidFill>
                            <a:srgbClr val="0E1726"/>
                          </a:solidFill>
                          <a:latin typeface="Calibri"/>
                        </a:rPr>
                        <a:t>`mat_cholesky`, QR, eigen, singular values</a:t>
                      </a:r>
                    </a:p>
                  </a:txBody>
                  <a:tcPr marL="82296" marR="64008" marT="32004" marB="32004" anchor="ctr">
                    <a:solidFill>
                      <a:srgbClr val="FFFFFF"/>
                    </a:solidFill>
                  </a:tcPr>
                </a:tc>
                <a:tc>
                  <a:txBody>
                    <a:bodyPr wrap="square"/>
                    <a:lstStyle/>
                    <a:p>
                      <a:pPr algn="l"/>
                      <a:r>
                        <a:rPr sz="1150" b="0">
                          <a:solidFill>
                            <a:srgbClr val="0E1726"/>
                          </a:solidFill>
                          <a:latin typeface="Calibri"/>
                        </a:rPr>
                        <a:t>yes</a:t>
                      </a:r>
                    </a:p>
                  </a:txBody>
                  <a:tcPr marL="82296" marR="64008" marT="32004" marB="32004" anchor="ctr">
                    <a:solidFill>
                      <a:srgbClr val="FFFFFF"/>
                    </a:solidFill>
                  </a:tcPr>
                </a:tc>
                <a:tc>
                  <a:txBody>
                    <a:bodyPr wrap="square"/>
                    <a:lstStyle/>
                    <a:p>
                      <a:pPr algn="l"/>
                      <a:r>
                        <a:rPr sz="1150" b="0">
                          <a:solidFill>
                            <a:srgbClr val="0E1726"/>
                          </a:solidFill>
                          <a:latin typeface="Calibri"/>
                        </a:rPr>
                        <a:t>no</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`gamma_p`, `gamma_q`, `beta_i` and what builds on them</a:t>
                      </a:r>
                    </a:p>
                  </a:txBody>
                  <a:tcPr marL="82296" marR="64008" marT="32004" marB="32004" anchor="ctr">
                    <a:solidFill>
                      <a:srgbClr val="FBFAF7"/>
                    </a:solidFill>
                  </a:tcPr>
                </a:tc>
                <a:tc>
                  <a:txBody>
                    <a:bodyPr wrap="square"/>
                    <a:lstStyle/>
                    <a:p>
                      <a:pPr algn="l"/>
                      <a:r>
                        <a:rPr sz="1150" b="0">
                          <a:solidFill>
                            <a:srgbClr val="0E1726"/>
                          </a:solidFill>
                          <a:latin typeface="Calibri"/>
                        </a:rPr>
                        <a:t>yes</a:t>
                      </a:r>
                    </a:p>
                  </a:txBody>
                  <a:tcPr marL="82296" marR="64008" marT="32004" marB="32004" anchor="ctr">
                    <a:solidFill>
                      <a:srgbClr val="FBFAF7"/>
                    </a:solidFill>
                  </a:tcPr>
                </a:tc>
                <a:tc>
                  <a:txBody>
                    <a:bodyPr wrap="square"/>
                    <a:lstStyle/>
                    <a:p>
                      <a:pPr algn="l"/>
                      <a:r>
                        <a:rPr sz="1150" b="0">
                          <a:solidFill>
                            <a:srgbClr val="0E1726"/>
                          </a:solidFill>
                          <a:latin typeface="Calibri"/>
                        </a:rPr>
                        <a:t>no</a:t>
                      </a:r>
                    </a:p>
                  </a:txBody>
                  <a:tcPr marL="82296" marR="64008" marT="32004" marB="32004" anchor="ctr">
                    <a:solidFill>
                      <a:srgbClr val="FBFAF7"/>
                    </a:solidFill>
                  </a:tcPr>
                </a:tc>
              </a:tr>
            </a:tbl>
          </a:graphicData>
        </a:graphic>
      </p:graphicFrame>
      <p:sp>
        <p:nvSpPr>
          <p:cNvPr id="11" name="TextBox 10"/>
          <p:cNvSpPr txBox="1"/>
          <p:nvPr/>
        </p:nvSpPr>
        <p:spPr>
          <a:xfrm>
            <a:off x="777240" y="3978656"/>
            <a:ext cx="10637215" cy="1371600"/>
          </a:xfrm>
          <a:prstGeom prst="rect">
            <a:avLst/>
          </a:prstGeom>
          <a:noFill/>
        </p:spPr>
        <p:txBody>
          <a:bodyPr wrap="square" lIns="0" rIns="0" tIns="0" bIns="0" anchor="t">
            <a:spAutoFit/>
          </a:bodyPr>
          <a:lstStyle/>
          <a:p>
            <a:pPr algn="l"/>
          </a:p>
          <a:p>
            <a:pPr>
              <a:lnSpc>
                <a:spcPct val="130000"/>
              </a:lnSpc>
              <a:spcBef>
                <a:spcPts val="0"/>
              </a:spcBef>
              <a:spcAft>
                <a:spcPts val="600"/>
              </a:spcAft>
            </a:pPr>
            <a:r>
              <a:rPr sz="1150" b="1" i="0">
                <a:solidFill>
                  <a:srgbClr val="0E1726"/>
                </a:solidFill>
                <a:latin typeface="Calibri"/>
              </a:rPr>
              <a:t>Every kernel is reproducible run to run; not every kernel is compensated. </a:t>
            </a:r>
            <a:r>
              <a:rPr sz="1150" b="0" i="0">
                <a:solidFill>
                  <a:srgbClr val="444F60"/>
                </a:solidFill>
                <a:latin typeface="Calibri"/>
              </a:rPr>
              <a:t>The decomposition family accumulates with ordinary addition in a fixed order, so two runs agree and a longer computation still loses precision the compensated path would have kept. That distinction was documented as one property until a reviewer read the code — and the decomposition family is the one a risk calculation actually uses.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7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2191695" cy="9144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417320"/>
            <a:ext cx="10637215" cy="457200"/>
          </a:xfrm>
          <a:prstGeom prst="rect">
            <a:avLst/>
          </a:prstGeom>
          <a:noFill/>
        </p:spPr>
        <p:txBody>
          <a:bodyPr wrap="square" lIns="0" rIns="0" tIns="0" bIns="0" anchor="t">
            <a:spAutoFit/>
          </a:bodyPr>
          <a:lstStyle/>
          <a:p>
            <a:pPr algn="l">
              <a:spcBef>
                <a:spcPts val="0"/>
              </a:spcBef>
              <a:spcAft>
                <a:spcPts val="0"/>
              </a:spcAft>
            </a:pPr>
            <a:r>
              <a:rPr sz="1300" b="1" i="0">
                <a:solidFill>
                  <a:srgbClr val="1E3A6E"/>
                </a:solidFill>
                <a:latin typeface="Calibri"/>
              </a:rPr>
              <a:t>PART VI</a:t>
            </a:r>
          </a:p>
        </p:txBody>
      </p:sp>
      <p:sp>
        <p:nvSpPr>
          <p:cNvPr id="5" name="TextBox 4"/>
          <p:cNvSpPr txBox="1"/>
          <p:nvPr/>
        </p:nvSpPr>
        <p:spPr>
          <a:xfrm>
            <a:off x="1005840" y="1965960"/>
            <a:ext cx="6807817" cy="1280160"/>
          </a:xfrm>
          <a:prstGeom prst="rect">
            <a:avLst/>
          </a:prstGeom>
          <a:noFill/>
        </p:spPr>
        <p:txBody>
          <a:bodyPr wrap="square" lIns="0" rIns="0" tIns="0" bIns="0" anchor="t">
            <a:spAutoFit/>
          </a:bodyPr>
          <a:lstStyle/>
          <a:p>
            <a:pPr algn="l">
              <a:spcBef>
                <a:spcPts val="0"/>
              </a:spcBef>
              <a:spcAft>
                <a:spcPts val="0"/>
              </a:spcAft>
            </a:pPr>
            <a:r>
              <a:rPr sz="5200" b="0" i="0">
                <a:solidFill>
                  <a:srgbClr val="FFFFFF"/>
                </a:solidFill>
                <a:latin typeface="Georgia"/>
              </a:rPr>
              <a:t>Evidence</a:t>
            </a:r>
          </a:p>
        </p:txBody>
      </p:sp>
      <p:sp>
        <p:nvSpPr>
          <p:cNvPr id="6" name="Rectangle 5"/>
          <p:cNvSpPr/>
          <p:nvPr/>
        </p:nvSpPr>
        <p:spPr>
          <a:xfrm>
            <a:off x="1005840" y="3429000"/>
            <a:ext cx="1645920" cy="36576"/>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703320"/>
            <a:ext cx="6382329" cy="1005840"/>
          </a:xfrm>
          <a:prstGeom prst="rect">
            <a:avLst/>
          </a:prstGeom>
          <a:noFill/>
        </p:spPr>
        <p:txBody>
          <a:bodyPr wrap="square" lIns="0" rIns="0" tIns="0" bIns="0" anchor="t">
            <a:spAutoFit/>
          </a:bodyPr>
          <a:lstStyle/>
          <a:p>
            <a:pPr algn="l">
              <a:lnSpc>
                <a:spcPct val="130000"/>
              </a:lnSpc>
              <a:spcBef>
                <a:spcPts val="0"/>
              </a:spcBef>
              <a:spcAft>
                <a:spcPts val="0"/>
              </a:spcAft>
            </a:pPr>
            <a:r>
              <a:rPr sz="1600" b="0" i="1">
                <a:solidFill>
                  <a:srgbClr val="C8C2BA"/>
                </a:solidFill>
                <a:latin typeface="Calibri"/>
              </a:rPr>
              <a:t>four kinds, then the hundred and twenty-nine things they did not catch</a:t>
            </a:r>
          </a:p>
        </p:txBody>
      </p:sp>
      <p:sp>
        <p:nvSpPr>
          <p:cNvPr id="8" name="TextBox 7"/>
          <p:cNvSpPr txBox="1"/>
          <p:nvPr/>
        </p:nvSpPr>
        <p:spPr>
          <a:xfrm>
            <a:off x="8010546" y="1463040"/>
            <a:ext cx="3403908" cy="4206240"/>
          </a:xfrm>
          <a:prstGeom prst="rect">
            <a:avLst/>
          </a:prstGeom>
          <a:noFill/>
        </p:spPr>
        <p:txBody>
          <a:bodyPr wrap="square" lIns="0" rIns="0" tIns="0" bIns="0" anchor="t">
            <a:spAutoFit/>
          </a:bodyPr>
          <a:lstStyle/>
          <a:p>
            <a:pPr algn="l">
              <a:spcBef>
                <a:spcPts val="0"/>
              </a:spcBef>
              <a:spcAft>
                <a:spcPts val="1200"/>
              </a:spcAft>
            </a:pPr>
            <a:r>
              <a:rPr sz="950" b="1" i="0">
                <a:solidFill>
                  <a:srgbClr val="1E3A6E"/>
                </a:solidFill>
                <a:latin typeface="Calibri"/>
              </a:rPr>
              <a:t>CHAPTERS</a:t>
            </a:r>
          </a:p>
          <a:p>
            <a:pPr>
              <a:lnSpc>
                <a:spcPct val="115000"/>
              </a:lnSpc>
              <a:spcBef>
                <a:spcPts val="0"/>
              </a:spcBef>
              <a:spcAft>
                <a:spcPts val="800"/>
              </a:spcAft>
            </a:pPr>
            <a:r>
              <a:rPr sz="1150" b="0" i="0">
                <a:solidFill>
                  <a:srgbClr val="E4DED6"/>
                </a:solidFill>
                <a:latin typeface="Calibri"/>
              </a:rPr>
              <a:t>23 · Four kinds of evidence</a:t>
            </a:r>
          </a:p>
          <a:p>
            <a:pPr>
              <a:lnSpc>
                <a:spcPct val="115000"/>
              </a:lnSpc>
              <a:spcBef>
                <a:spcPts val="0"/>
              </a:spcBef>
              <a:spcAft>
                <a:spcPts val="800"/>
              </a:spcAft>
            </a:pPr>
            <a:r>
              <a:rPr sz="1150" b="0" i="0">
                <a:solidFill>
                  <a:srgbClr val="E4DED6"/>
                </a:solidFill>
                <a:latin typeface="Calibri"/>
              </a:rPr>
              <a:t>24 · Would the tests notice?</a:t>
            </a:r>
          </a:p>
          <a:p>
            <a:pPr>
              <a:lnSpc>
                <a:spcPct val="115000"/>
              </a:lnSpc>
              <a:spcBef>
                <a:spcPts val="0"/>
              </a:spcBef>
              <a:spcAft>
                <a:spcPts val="800"/>
              </a:spcAft>
            </a:pPr>
            <a:r>
              <a:rPr sz="1150" b="0" i="0">
                <a:solidFill>
                  <a:srgbClr val="E4DED6"/>
                </a:solidFill>
                <a:latin typeface="Calibri"/>
              </a:rPr>
              <a:t>25 · What twelve reviewers found</a:t>
            </a:r>
          </a:p>
          <a:p>
            <a:pPr>
              <a:lnSpc>
                <a:spcPct val="115000"/>
              </a:lnSpc>
              <a:spcBef>
                <a:spcPts val="0"/>
              </a:spcBef>
              <a:spcAft>
                <a:spcPts val="800"/>
              </a:spcAft>
            </a:pPr>
            <a:r>
              <a:rPr sz="1150" b="0" i="0">
                <a:solidFill>
                  <a:srgbClr val="E4DED6"/>
                </a:solidFill>
                <a:latin typeface="Calibri"/>
              </a:rPr>
              <a:t>26 · What none of it catches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EVIDENCE · THE LADDER</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Four questions, four mechanisms</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23 · Four kinds of evidence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62</a:t>
            </a:r>
          </a:p>
        </p:txBody>
      </p:sp>
      <p:graphicFrame>
        <p:nvGraphicFramePr>
          <p:cNvPr id="10" name="Table 9"/>
          <p:cNvGraphicFramePr>
            <a:graphicFrameLocks noGrp="1"/>
          </p:cNvGraphicFramePr>
          <p:nvPr/>
        </p:nvGraphicFramePr>
        <p:xfrm>
          <a:off x="777240" y="1353312"/>
          <a:ext cx="10637213" cy="2094991"/>
        </p:xfrm>
        <a:graphic>
          <a:graphicData uri="http://schemas.openxmlformats.org/drawingml/2006/table">
            <a:tbl>
              <a:tblPr firstRow="1">
                <a:tableStyleId>{5C22544A-7EE6-4342-B048-85BDC9FD1C3A}</a:tableStyleId>
              </a:tblPr>
              <a:tblGrid>
                <a:gridCol w="1742302"/>
                <a:gridCol w="3301204"/>
                <a:gridCol w="4126505"/>
                <a:gridCol w="1467202"/>
              </a:tblGrid>
              <a:tr h="333781">
                <a:tc>
                  <a:txBody>
                    <a:bodyPr wrap="square"/>
                    <a:lstStyle/>
                    <a:p>
                      <a:pPr algn="l"/>
                      <a:r>
                        <a:rPr sz="1100" b="1">
                          <a:solidFill>
                            <a:srgbClr val="FFFFFF"/>
                          </a:solidFill>
                          <a:latin typeface="Calibri"/>
                        </a:rPr>
                        <a:t>Mechanism</a:t>
                      </a:r>
                    </a:p>
                  </a:txBody>
                  <a:tcPr marL="82296" marR="64008" marT="32004" marB="32004" anchor="ctr">
                    <a:solidFill>
                      <a:srgbClr val="1E3A6E"/>
                    </a:solidFill>
                  </a:tcPr>
                </a:tc>
                <a:tc>
                  <a:txBody>
                    <a:bodyPr wrap="square"/>
                    <a:lstStyle/>
                    <a:p>
                      <a:pPr algn="l"/>
                      <a:r>
                        <a:rPr sz="1100" b="1">
                          <a:solidFill>
                            <a:srgbClr val="FFFFFF"/>
                          </a:solidFill>
                          <a:latin typeface="Calibri"/>
                        </a:rPr>
                        <a:t>Answers</a:t>
                      </a:r>
                    </a:p>
                  </a:txBody>
                  <a:tcPr marL="82296" marR="64008" marT="32004" marB="32004" anchor="ctr">
                    <a:solidFill>
                      <a:srgbClr val="1E3A6E"/>
                    </a:solidFill>
                  </a:tcPr>
                </a:tc>
                <a:tc>
                  <a:txBody>
                    <a:bodyPr wrap="square"/>
                    <a:lstStyle/>
                    <a:p>
                      <a:pPr algn="l"/>
                      <a:r>
                        <a:rPr sz="1100" b="1">
                          <a:solidFill>
                            <a:srgbClr val="FFFFFF"/>
                          </a:solidFill>
                          <a:latin typeface="Calibri"/>
                        </a:rPr>
                        <a:t>Fails when</a:t>
                      </a:r>
                    </a:p>
                  </a:txBody>
                  <a:tcPr marL="82296" marR="64008" marT="32004" marB="32004" anchor="ctr">
                    <a:solidFill>
                      <a:srgbClr val="1E3A6E"/>
                    </a:solidFill>
                  </a:tcPr>
                </a:tc>
                <a:tc>
                  <a:txBody>
                    <a:bodyPr wrap="square"/>
                    <a:lstStyle/>
                    <a:p>
                      <a:pPr algn="l"/>
                      <a:r>
                        <a:rPr sz="1100" b="1">
                          <a:solidFill>
                            <a:srgbClr val="FFFFFF"/>
                          </a:solidFill>
                          <a:latin typeface="Calibri"/>
                        </a:rPr>
                        <a:t>Count</a:t>
                      </a:r>
                    </a:p>
                  </a:txBody>
                  <a:tcPr marL="82296" marR="64008" marT="32004" marB="32004" anchor="ctr">
                    <a:solidFill>
                      <a:srgbClr val="1E3A6E"/>
                    </a:solidFill>
                  </a:tcPr>
                </a:tc>
              </a:tr>
              <a:tr h="342303">
                <a:tc>
                  <a:txBody>
                    <a:bodyPr wrap="square"/>
                    <a:lstStyle/>
                    <a:p>
                      <a:pPr algn="l"/>
                      <a:r>
                        <a:rPr sz="1150" b="0">
                          <a:solidFill>
                            <a:srgbClr val="0E1726"/>
                          </a:solidFill>
                          <a:latin typeface="Calibri"/>
                        </a:rPr>
                        <a:t>Tests</a:t>
                      </a:r>
                    </a:p>
                  </a:txBody>
                  <a:tcPr marL="82296" marR="64008" marT="32004" marB="32004" anchor="ctr">
                    <a:solidFill>
                      <a:srgbClr val="FFFFFF"/>
                    </a:solidFill>
                  </a:tcPr>
                </a:tc>
                <a:tc>
                  <a:txBody>
                    <a:bodyPr wrap="square"/>
                    <a:lstStyle/>
                    <a:p>
                      <a:pPr algn="l"/>
                      <a:r>
                        <a:rPr sz="1150" b="0">
                          <a:solidFill>
                            <a:srgbClr val="0E1726"/>
                          </a:solidFill>
                          <a:latin typeface="Calibri"/>
                        </a:rPr>
                        <a:t>does it do the thing?</a:t>
                      </a:r>
                    </a:p>
                  </a:txBody>
                  <a:tcPr marL="82296" marR="64008" marT="32004" marB="32004" anchor="ctr">
                    <a:solidFill>
                      <a:srgbClr val="FFFFFF"/>
                    </a:solidFill>
                  </a:tcPr>
                </a:tc>
                <a:tc>
                  <a:txBody>
                    <a:bodyPr wrap="square"/>
                    <a:lstStyle/>
                    <a:p>
                      <a:pPr algn="l"/>
                      <a:r>
                        <a:rPr sz="1150" b="0">
                          <a:solidFill>
                            <a:srgbClr val="0E1726"/>
                          </a:solidFill>
                          <a:latin typeface="Calibri"/>
                        </a:rPr>
                        <a:t>behaviour changes</a:t>
                      </a:r>
                    </a:p>
                  </a:txBody>
                  <a:tcPr marL="82296" marR="64008" marT="32004" marB="32004" anchor="ctr">
                    <a:solidFill>
                      <a:srgbClr val="FFFFFF"/>
                    </a:solidFill>
                  </a:tcPr>
                </a:tc>
                <a:tc>
                  <a:txBody>
                    <a:bodyPr wrap="square"/>
                    <a:lstStyle/>
                    <a:p>
                      <a:pPr algn="l"/>
                      <a:r>
                        <a:rPr sz="1150" b="0">
                          <a:solidFill>
                            <a:srgbClr val="0E1726"/>
                          </a:solidFill>
                          <a:latin typeface="Calibri"/>
                        </a:rPr>
                        <a:t>2,843 tests</a:t>
                      </a:r>
                    </a:p>
                  </a:txBody>
                  <a:tcPr marL="82296" marR="64008" marT="32004" marB="32004" anchor="ctr">
                    <a:solidFill>
                      <a:srgbClr val="FFFFFF"/>
                    </a:solidFill>
                  </a:tcPr>
                </a:tc>
              </a:tr>
              <a:tr h="538302">
                <a:tc>
                  <a:txBody>
                    <a:bodyPr wrap="square"/>
                    <a:lstStyle/>
                    <a:p>
                      <a:pPr algn="l"/>
                      <a:r>
                        <a:rPr sz="1150" b="0">
                          <a:solidFill>
                            <a:srgbClr val="0E1726"/>
                          </a:solidFill>
                          <a:latin typeface="Calibri"/>
                        </a:rPr>
                        <a:t>Gates</a:t>
                      </a:r>
                    </a:p>
                  </a:txBody>
                  <a:tcPr marL="82296" marR="64008" marT="32004" marB="32004" anchor="ctr">
                    <a:solidFill>
                      <a:srgbClr val="FBFAF7"/>
                    </a:solidFill>
                  </a:tcPr>
                </a:tc>
                <a:tc>
                  <a:txBody>
                    <a:bodyPr wrap="square"/>
                    <a:lstStyle/>
                    <a:p>
                      <a:pPr algn="l"/>
                      <a:r>
                        <a:rPr sz="1150" b="0">
                          <a:solidFill>
                            <a:srgbClr val="0E1726"/>
                          </a:solidFill>
                          <a:latin typeface="Calibri"/>
                        </a:rPr>
                        <a:t>does the repository still hold its own rules?</a:t>
                      </a:r>
                    </a:p>
                  </a:txBody>
                  <a:tcPr marL="82296" marR="64008" marT="32004" marB="32004" anchor="ctr">
                    <a:solidFill>
                      <a:srgbClr val="FBFAF7"/>
                    </a:solidFill>
                  </a:tcPr>
                </a:tc>
                <a:tc>
                  <a:txBody>
                    <a:bodyPr wrap="square"/>
                    <a:lstStyle/>
                    <a:p>
                      <a:pPr algn="l"/>
                      <a:r>
                        <a:rPr sz="1150" b="0">
                          <a:solidFill>
                            <a:srgbClr val="0E1726"/>
                          </a:solidFill>
                          <a:latin typeface="Calibri"/>
                        </a:rPr>
                        <a:t>a rule breaks anywhere, **including in a document**</a:t>
                      </a:r>
                    </a:p>
                  </a:txBody>
                  <a:tcPr marL="82296" marR="64008" marT="32004" marB="32004" anchor="ctr">
                    <a:solidFill>
                      <a:srgbClr val="FBFAF7"/>
                    </a:solidFill>
                  </a:tcPr>
                </a:tc>
                <a:tc>
                  <a:txBody>
                    <a:bodyPr wrap="square"/>
                    <a:lstStyle/>
                    <a:p>
                      <a:pPr algn="l"/>
                      <a:r>
                        <a:rPr sz="1150" b="0">
                          <a:solidFill>
                            <a:srgbClr val="0E1726"/>
                          </a:solidFill>
                          <a:latin typeface="Calibri"/>
                        </a:rPr>
                        <a:t>27</a:t>
                      </a:r>
                    </a:p>
                  </a:txBody>
                  <a:tcPr marL="82296" marR="64008" marT="32004" marB="32004" anchor="ctr">
                    <a:solidFill>
                      <a:srgbClr val="FBFAF7"/>
                    </a:solidFill>
                  </a:tcPr>
                </a:tc>
              </a:tr>
              <a:tr h="538302">
                <a:tc>
                  <a:txBody>
                    <a:bodyPr wrap="square"/>
                    <a:lstStyle/>
                    <a:p>
                      <a:pPr algn="l"/>
                      <a:r>
                        <a:rPr sz="1150" b="0">
                          <a:solidFill>
                            <a:srgbClr val="0E1726"/>
                          </a:solidFill>
                          <a:latin typeface="Calibri"/>
                        </a:rPr>
                        <a:t>Mutations</a:t>
                      </a:r>
                    </a:p>
                  </a:txBody>
                  <a:tcPr marL="82296" marR="64008" marT="32004" marB="32004" anchor="ctr">
                    <a:solidFill>
                      <a:srgbClr val="FFFFFF"/>
                    </a:solidFill>
                  </a:tcPr>
                </a:tc>
                <a:tc>
                  <a:txBody>
                    <a:bodyPr wrap="square"/>
                    <a:lstStyle/>
                    <a:p>
                      <a:pPr algn="l"/>
                      <a:r>
                        <a:rPr sz="1150" b="0">
                          <a:solidFill>
                            <a:srgbClr val="0E1726"/>
                          </a:solidFill>
                          <a:latin typeface="Calibri"/>
                        </a:rPr>
                        <a:t>would the tests notice if it stopped?</a:t>
                      </a:r>
                    </a:p>
                  </a:txBody>
                  <a:tcPr marL="82296" marR="64008" marT="32004" marB="32004" anchor="ctr">
                    <a:solidFill>
                      <a:srgbClr val="FFFFFF"/>
                    </a:solidFill>
                  </a:tcPr>
                </a:tc>
                <a:tc>
                  <a:txBody>
                    <a:bodyPr wrap="square"/>
                    <a:lstStyle/>
                    <a:p>
                      <a:pPr algn="l"/>
                      <a:r>
                        <a:rPr sz="1150" b="0">
                          <a:solidFill>
                            <a:srgbClr val="0E1726"/>
                          </a:solidFill>
                          <a:latin typeface="Calibri"/>
                        </a:rPr>
                        <a:t>a deliberate defect survives the suite</a:t>
                      </a:r>
                    </a:p>
                  </a:txBody>
                  <a:tcPr marL="82296" marR="64008" marT="32004" marB="32004" anchor="ctr">
                    <a:solidFill>
                      <a:srgbClr val="FFFFFF"/>
                    </a:solidFill>
                  </a:tcPr>
                </a:tc>
                <a:tc>
                  <a:txBody>
                    <a:bodyPr wrap="square"/>
                    <a:lstStyle/>
                    <a:p>
                      <a:pPr algn="l"/>
                      <a:r>
                        <a:rPr sz="1150" b="0">
                          <a:solidFill>
                            <a:srgbClr val="0E1726"/>
                          </a:solidFill>
                          <a:latin typeface="Calibri"/>
                        </a:rPr>
                        <a:t>921 deliberate defects</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Benchmarks</a:t>
                      </a:r>
                    </a:p>
                  </a:txBody>
                  <a:tcPr marL="82296" marR="64008" marT="32004" marB="32004" anchor="ctr">
                    <a:solidFill>
                      <a:srgbClr val="FBFAF7"/>
                    </a:solidFill>
                  </a:tcPr>
                </a:tc>
                <a:tc>
                  <a:txBody>
                    <a:bodyPr wrap="square"/>
                    <a:lstStyle/>
                    <a:p>
                      <a:pPr algn="l"/>
                      <a:r>
                        <a:rPr sz="1150" b="0">
                          <a:solidFill>
                            <a:srgbClr val="0E1726"/>
                          </a:solidFill>
                          <a:latin typeface="Calibri"/>
                        </a:rPr>
                        <a:t>is the number real?</a:t>
                      </a:r>
                    </a:p>
                  </a:txBody>
                  <a:tcPr marL="82296" marR="64008" marT="32004" marB="32004" anchor="ctr">
                    <a:solidFill>
                      <a:srgbClr val="FBFAF7"/>
                    </a:solidFill>
                  </a:tcPr>
                </a:tc>
                <a:tc>
                  <a:txBody>
                    <a:bodyPr wrap="square"/>
                    <a:lstStyle/>
                    <a:p>
                      <a:pPr algn="l"/>
                      <a:r>
                        <a:rPr sz="1150" b="0">
                          <a:solidFill>
                            <a:srgbClr val="0E1726"/>
                          </a:solidFill>
                          <a:latin typeface="Calibri"/>
                        </a:rPr>
                        <a:t>a published figure has nothing that produces it</a:t>
                      </a:r>
                    </a:p>
                  </a:txBody>
                  <a:tcPr marL="82296" marR="64008" marT="32004" marB="32004" anchor="ctr">
                    <a:solidFill>
                      <a:srgbClr val="FBFAF7"/>
                    </a:solidFill>
                  </a:tcPr>
                </a:tc>
                <a:tc>
                  <a:txBody>
                    <a:bodyPr wrap="square"/>
                    <a:lstStyle/>
                    <a:p>
                      <a:pPr algn="l"/>
                      <a:r>
                        <a:rPr sz="1150" b="0">
                          <a:solidFill>
                            <a:srgbClr val="0E1726"/>
                          </a:solidFill>
                          <a:latin typeface="Calibri"/>
                        </a:rPr>
                        <a:t>2 suites</a:t>
                      </a:r>
                    </a:p>
                  </a:txBody>
                  <a:tcPr marL="82296" marR="64008" marT="32004" marB="32004" anchor="ctr">
                    <a:solidFill>
                      <a:srgbClr val="FBFAF7"/>
                    </a:solidFill>
                  </a:tcPr>
                </a:tc>
              </a:tr>
            </a:tbl>
          </a:graphicData>
        </a:graphic>
      </p:graphicFrame>
      <p:sp>
        <p:nvSpPr>
          <p:cNvPr id="11" name="TextBox 10"/>
          <p:cNvSpPr txBox="1"/>
          <p:nvPr/>
        </p:nvSpPr>
        <p:spPr>
          <a:xfrm>
            <a:off x="777240" y="3686047"/>
            <a:ext cx="10637215" cy="1828800"/>
          </a:xfrm>
          <a:prstGeom prst="rect">
            <a:avLst/>
          </a:prstGeom>
          <a:noFill/>
        </p:spPr>
        <p:txBody>
          <a:bodyPr wrap="square" lIns="0" rIns="0" tIns="0" bIns="0" anchor="t">
            <a:spAutoFit/>
          </a:bodyPr>
          <a:lstStyle/>
          <a:p>
            <a:pPr algn="l"/>
          </a:p>
          <a:p>
            <a:pPr>
              <a:lnSpc>
                <a:spcPct val="130000"/>
              </a:lnSpc>
              <a:spcBef>
                <a:spcPts val="0"/>
              </a:spcBef>
              <a:spcAft>
                <a:spcPts val="1000"/>
              </a:spcAft>
            </a:pPr>
            <a:r>
              <a:rPr sz="1200" b="1" i="0">
                <a:solidFill>
                  <a:srgbClr val="0E1726"/>
                </a:solidFill>
                <a:latin typeface="Calibri"/>
              </a:rPr>
              <a:t>A test proves that code does what a test says. </a:t>
            </a:r>
            <a:r>
              <a:rPr sz="1200" b="0" i="0">
                <a:solidFill>
                  <a:srgbClr val="444F60"/>
                </a:solidFill>
                <a:latin typeface="Calibri"/>
              </a:rPr>
              <a:t>It does not prove the test would notice if the code stopped. Nor does a green build prove the checks ran, that they measured anything, or that what they measured is what a document claims.</a:t>
            </a:r>
          </a:p>
          <a:p>
            <a:pPr>
              <a:lnSpc>
                <a:spcPct val="130000"/>
              </a:lnSpc>
              <a:spcBef>
                <a:spcPts val="0"/>
              </a:spcBef>
              <a:spcAft>
                <a:spcPts val="600"/>
              </a:spcAft>
            </a:pPr>
            <a:r>
              <a:rPr sz="1200" b="1" i="0">
                <a:solidFill>
                  <a:srgbClr val="1E3A6E"/>
                </a:solidFill>
                <a:latin typeface="Calibri"/>
              </a:rPr>
              <a:t>Twelve audits found 129 things in a repository whose gate was green. </a:t>
            </a:r>
            <a:r>
              <a:rPr sz="1200" b="0" i="0">
                <a:solidFill>
                  <a:srgbClr val="444F60"/>
                </a:solidFill>
                <a:latin typeface="Calibri"/>
              </a:rPr>
              <a:t>Not one was found by a failing test, because none of them made a test fail.</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EVIDENCE · THE GATE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Cheapest first, and why that is the whole trick</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23 · Four kinds of evidence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63</a:t>
            </a:r>
          </a:p>
        </p:txBody>
      </p:sp>
      <p:graphicFrame>
        <p:nvGraphicFramePr>
          <p:cNvPr id="10" name="Table 9"/>
          <p:cNvGraphicFramePr>
            <a:graphicFrameLocks noGrp="1"/>
          </p:cNvGraphicFramePr>
          <p:nvPr/>
        </p:nvGraphicFramePr>
        <p:xfrm>
          <a:off x="777240" y="1353312"/>
          <a:ext cx="7658794" cy="1018387"/>
        </p:xfrm>
        <a:graphic>
          <a:graphicData uri="http://schemas.openxmlformats.org/drawingml/2006/table">
            <a:tbl>
              <a:tblPr firstRow="1">
                <a:tableStyleId>{5C22544A-7EE6-4342-B048-85BDC9FD1C3A}</a:tableStyleId>
              </a:tblPr>
              <a:tblGrid>
                <a:gridCol w="3099988"/>
                <a:gridCol w="1458818"/>
                <a:gridCol w="3099988"/>
              </a:tblGrid>
              <a:tr h="333781">
                <a:tc>
                  <a:txBody>
                    <a:bodyPr wrap="square"/>
                    <a:lstStyle/>
                    <a:p>
                      <a:pPr algn="l"/>
                      <a:r>
                        <a:rPr sz="1100" b="1">
                          <a:solidFill>
                            <a:srgbClr val="FFFFFF"/>
                          </a:solidFill>
                          <a:latin typeface="Calibri"/>
                        </a:rPr>
                        <a:t/>
                      </a:r>
                    </a:p>
                  </a:txBody>
                  <a:tcPr marL="82296" marR="64008" marT="32004" marB="32004" anchor="ctr">
                    <a:solidFill>
                      <a:srgbClr val="1E3A6E"/>
                    </a:solidFill>
                  </a:tcPr>
                </a:tc>
                <a:tc>
                  <a:txBody>
                    <a:bodyPr wrap="square"/>
                    <a:lstStyle/>
                    <a:p>
                      <a:pPr algn="l"/>
                      <a:r>
                        <a:rPr sz="1100" b="1">
                          <a:solidFill>
                            <a:srgbClr val="FFFFFF"/>
                          </a:solidFill>
                          <a:latin typeface="Calibri"/>
                        </a:rPr>
                        <a:t>Checks</a:t>
                      </a:r>
                    </a:p>
                  </a:txBody>
                  <a:tcPr marL="82296" marR="64008" marT="32004" marB="32004" anchor="ctr">
                    <a:solidFill>
                      <a:srgbClr val="1E3A6E"/>
                    </a:solidFill>
                  </a:tcPr>
                </a:tc>
                <a:tc>
                  <a:txBody>
                    <a:bodyPr wrap="square"/>
                    <a:lstStyle/>
                    <a:p>
                      <a:pPr algn="l"/>
                      <a:r>
                        <a:rPr sz="1100" b="1">
                          <a:solidFill>
                            <a:srgbClr val="FFFFFF"/>
                          </a:solidFill>
                          <a:latin typeface="Calibri"/>
                        </a:rPr>
                        <a:t>Time</a:t>
                      </a:r>
                    </a:p>
                  </a:txBody>
                  <a:tcPr marL="82296" marR="64008" marT="32004" marB="32004" anchor="ctr">
                    <a:solidFill>
                      <a:srgbClr val="1E3A6E"/>
                    </a:solidFill>
                  </a:tcPr>
                </a:tc>
              </a:tr>
              <a:tr h="342303">
                <a:tc>
                  <a:txBody>
                    <a:bodyPr wrap="square"/>
                    <a:lstStyle/>
                    <a:p>
                      <a:pPr algn="l"/>
                      <a:r>
                        <a:rPr sz="1150" b="0">
                          <a:solidFill>
                            <a:srgbClr val="0E1726"/>
                          </a:solidFill>
                          <a:latin typeface="Calibri"/>
                        </a:rPr>
                        <a:t>Read files and decide</a:t>
                      </a:r>
                    </a:p>
                  </a:txBody>
                  <a:tcPr marL="82296" marR="64008" marT="32004" marB="32004" anchor="ctr">
                    <a:solidFill>
                      <a:srgbClr val="FFFFFF"/>
                    </a:solidFill>
                  </a:tcPr>
                </a:tc>
                <a:tc>
                  <a:txBody>
                    <a:bodyPr wrap="square"/>
                    <a:lstStyle/>
                    <a:p>
                      <a:pPr algn="l"/>
                      <a:r>
                        <a:rPr sz="1150" b="0">
                          <a:solidFill>
                            <a:srgbClr val="0E1726"/>
                          </a:solidFill>
                          <a:latin typeface="Calibri"/>
                        </a:rPr>
                        <a:t>21</a:t>
                      </a:r>
                    </a:p>
                  </a:txBody>
                  <a:tcPr marL="82296" marR="64008" marT="32004" marB="32004" anchor="ctr">
                    <a:solidFill>
                      <a:srgbClr val="FFFFFF"/>
                    </a:solidFill>
                  </a:tcPr>
                </a:tc>
                <a:tc>
                  <a:txBody>
                    <a:bodyPr wrap="square"/>
                    <a:lstStyle/>
                    <a:p>
                      <a:pPr algn="l"/>
                      <a:r>
                        <a:rPr sz="1150" b="0">
                          <a:solidFill>
                            <a:srgbClr val="0E1726"/>
                          </a:solidFill>
                          <a:latin typeface="Calibri"/>
                        </a:rPr>
                        <a:t>**about two seconds, for all of them**</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Build something</a:t>
                      </a:r>
                    </a:p>
                  </a:txBody>
                  <a:tcPr marL="82296" marR="64008" marT="32004" marB="32004" anchor="ctr">
                    <a:solidFill>
                      <a:srgbClr val="FBFAF7"/>
                    </a:solidFill>
                  </a:tcPr>
                </a:tc>
                <a:tc>
                  <a:txBody>
                    <a:bodyPr wrap="square"/>
                    <a:lstStyle/>
                    <a:p>
                      <a:pPr algn="l"/>
                      <a:r>
                        <a:rPr sz="1150" b="0">
                          <a:solidFill>
                            <a:srgbClr val="0E1726"/>
                          </a:solidFill>
                          <a:latin typeface="Calibri"/>
                        </a:rPr>
                        <a:t>6</a:t>
                      </a:r>
                    </a:p>
                  </a:txBody>
                  <a:tcPr marL="82296" marR="64008" marT="32004" marB="32004" anchor="ctr">
                    <a:solidFill>
                      <a:srgbClr val="FBFAF7"/>
                    </a:solidFill>
                  </a:tcPr>
                </a:tc>
                <a:tc>
                  <a:txBody>
                    <a:bodyPr wrap="square"/>
                    <a:lstStyle/>
                    <a:p>
                      <a:pPr algn="l"/>
                      <a:r>
                        <a:rPr sz="1150" b="0">
                          <a:solidFill>
                            <a:srgbClr val="0E1726"/>
                          </a:solidFill>
                          <a:latin typeface="Calibri"/>
                        </a:rPr>
                        <a:t>twenty to twenty-five minutes</a:t>
                      </a:r>
                    </a:p>
                  </a:txBody>
                  <a:tcPr marL="82296" marR="64008" marT="32004" marB="32004" anchor="ctr">
                    <a:solidFill>
                      <a:srgbClr val="FBFAF7"/>
                    </a:solidFill>
                  </a:tcPr>
                </a:tc>
              </a:tr>
            </a:tbl>
          </a:graphicData>
        </a:graphic>
      </p:graphicFrame>
      <p:sp>
        <p:nvSpPr>
          <p:cNvPr id="11" name="TextBox 10"/>
          <p:cNvSpPr txBox="1"/>
          <p:nvPr/>
        </p:nvSpPr>
        <p:spPr>
          <a:xfrm>
            <a:off x="777240" y="2646019"/>
            <a:ext cx="10637215" cy="2011680"/>
          </a:xfrm>
          <a:prstGeom prst="rect">
            <a:avLst/>
          </a:prstGeom>
          <a:noFill/>
        </p:spPr>
        <p:txBody>
          <a:bodyPr wrap="square" lIns="0" rIns="0" tIns="0" bIns="0" anchor="t">
            <a:spAutoFit/>
          </a:bodyPr>
          <a:lstStyle/>
          <a:p>
            <a:pPr algn="l"/>
          </a:p>
          <a:p>
            <a:pPr>
              <a:lnSpc>
                <a:spcPct val="130000"/>
              </a:lnSpc>
              <a:spcBef>
                <a:spcPts val="0"/>
              </a:spcBef>
              <a:spcAft>
                <a:spcPts val="1000"/>
              </a:spcAft>
            </a:pPr>
            <a:r>
              <a:rPr sz="1200" b="1" i="0">
                <a:solidFill>
                  <a:srgbClr val="0E1726"/>
                </a:solidFill>
                <a:latin typeface="Calibri"/>
              </a:rPr>
              <a:t>The expensive one used to run first. </a:t>
            </a:r>
            <a:r>
              <a:rPr sz="1200" b="0" i="0">
                <a:solidFill>
                  <a:srgbClr val="444F60"/>
                </a:solidFill>
                <a:latin typeface="Calibri"/>
              </a:rPr>
              <a:t>So a stale figure, a file fifteen lines over the length ceiling, and a banned word in a comment — combined computation under five seconds — were reported **twenty-five minutes** into a run. That happened three times in one sitting.</a:t>
            </a:r>
          </a:p>
          <a:p>
            <a:pPr>
              <a:lnSpc>
                <a:spcPct val="130000"/>
              </a:lnSpc>
              <a:spcBef>
                <a:spcPts val="0"/>
              </a:spcBef>
              <a:spcAft>
                <a:spcPts val="600"/>
              </a:spcAft>
            </a:pPr>
            <a:r>
              <a:rPr sz="1200" b="1" i="0">
                <a:solidFill>
                  <a:srgbClr val="1E3A6E"/>
                </a:solidFill>
                <a:latin typeface="Calibri"/>
              </a:rPr>
              <a:t>Cheapest-first does not make the gate faster. </a:t>
            </a:r>
            <a:r>
              <a:rPr sz="1200" b="0" i="0">
                <a:solidFill>
                  <a:srgbClr val="444F60"/>
                </a:solidFill>
                <a:latin typeface="Calibri"/>
              </a:rPr>
              <a:t>It makes the loop faster, which is the thing that was slow: the answer arrives while the person who caused it is still looking at what they changed. `cargo xtask check-fast` is the same set on its own.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EVIDENCE · MUTATION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The only mechanism that asks the right question</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24 · Would the tests notice?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64</a:t>
            </a:r>
          </a:p>
        </p:txBody>
      </p:sp>
      <p:sp>
        <p:nvSpPr>
          <p:cNvPr id="10" name="TextBox 9"/>
          <p:cNvSpPr txBox="1"/>
          <p:nvPr/>
        </p:nvSpPr>
        <p:spPr>
          <a:xfrm>
            <a:off x="777240" y="1353312"/>
            <a:ext cx="10637215" cy="1005840"/>
          </a:xfrm>
          <a:prstGeom prst="rect">
            <a:avLst/>
          </a:prstGeom>
          <a:noFill/>
        </p:spPr>
        <p:txBody>
          <a:bodyPr wrap="square" lIns="0" rIns="0" tIns="0" bIns="0" anchor="t">
            <a:spAutoFit/>
          </a:bodyPr>
          <a:lstStyle/>
          <a:p>
            <a:pPr algn="l">
              <a:lnSpc>
                <a:spcPct val="130000"/>
              </a:lnSpc>
              <a:spcBef>
                <a:spcPts val="0"/>
              </a:spcBef>
              <a:spcAft>
                <a:spcPts val="600"/>
              </a:spcAft>
            </a:pPr>
            <a:r>
              <a:rPr sz="1250" b="0" i="0">
                <a:solidFill>
                  <a:srgbClr val="0E1726"/>
                </a:solidFill>
                <a:latin typeface="Calibri"/>
              </a:rPr>
              <a:t>A defect is applied to the source, the suite is run, and the entry passes only if the suite **fails**. A mutation that survives is a hole in the tests, named and located.</a:t>
            </a:r>
          </a:p>
        </p:txBody>
      </p:sp>
      <p:graphicFrame>
        <p:nvGraphicFramePr>
          <p:cNvPr id="11" name="Table 10"/>
          <p:cNvGraphicFramePr>
            <a:graphicFrameLocks noGrp="1"/>
          </p:cNvGraphicFramePr>
          <p:nvPr/>
        </p:nvGraphicFramePr>
        <p:xfrm>
          <a:off x="777240" y="2359152"/>
          <a:ext cx="10637214" cy="1898992"/>
        </p:xfrm>
        <a:graphic>
          <a:graphicData uri="http://schemas.openxmlformats.org/drawingml/2006/table">
            <a:tbl>
              <a:tblPr firstRow="1">
                <a:tableStyleId>{5C22544A-7EE6-4342-B048-85BDC9FD1C3A}</a:tableStyleId>
              </a:tblPr>
              <a:tblGrid>
                <a:gridCol w="8619812"/>
                <a:gridCol w="2017402"/>
              </a:tblGrid>
              <a:tr h="333781">
                <a:tc>
                  <a:txBody>
                    <a:bodyPr wrap="square"/>
                    <a:lstStyle/>
                    <a:p>
                      <a:pPr algn="l"/>
                      <a:r>
                        <a:rPr sz="1100" b="1">
                          <a:solidFill>
                            <a:srgbClr val="FFFFFF"/>
                          </a:solidFill>
                          <a:latin typeface="Calibri"/>
                        </a:rPr>
                        <a:t>What surviving revealed</a:t>
                      </a:r>
                    </a:p>
                  </a:txBody>
                  <a:tcPr marL="82296" marR="64008" marT="32004" marB="32004" anchor="ctr">
                    <a:solidFill>
                      <a:srgbClr val="1E3A6E"/>
                    </a:solidFill>
                  </a:tcPr>
                </a:tc>
                <a:tc>
                  <a:txBody>
                    <a:bodyPr wrap="square"/>
                    <a:lstStyle/>
                    <a:p>
                      <a:pPr algn="l"/>
                      <a:r>
                        <a:rPr sz="1100" b="1">
                          <a:solidFill>
                            <a:srgbClr val="FFFFFF"/>
                          </a:solidFill>
                          <a:latin typeface="Calibri"/>
                        </a:rPr>
                        <a:t>How many</a:t>
                      </a:r>
                    </a:p>
                  </a:txBody>
                  <a:tcPr marL="82296" marR="64008" marT="32004" marB="32004" anchor="ctr">
                    <a:solidFill>
                      <a:srgbClr val="1E3A6E"/>
                    </a:solidFill>
                  </a:tcPr>
                </a:tc>
              </a:tr>
              <a:tr h="342303">
                <a:tc>
                  <a:txBody>
                    <a:bodyPr wrap="square"/>
                    <a:lstStyle/>
                    <a:p>
                      <a:pPr algn="l"/>
                      <a:r>
                        <a:rPr sz="1150" b="0">
                          <a:solidFill>
                            <a:srgbClr val="0E1726"/>
                          </a:solidFill>
                          <a:latin typeface="Calibri"/>
                        </a:rPr>
                        <a:t>Equivalent mutants no test could ever have caught</a:t>
                      </a:r>
                    </a:p>
                  </a:txBody>
                  <a:tcPr marL="82296" marR="64008" marT="32004" marB="32004" anchor="ctr">
                    <a:solidFill>
                      <a:srgbClr val="FFFFFF"/>
                    </a:solidFill>
                  </a:tcPr>
                </a:tc>
                <a:tc>
                  <a:txBody>
                    <a:bodyPr wrap="square"/>
                    <a:lstStyle/>
                    <a:p>
                      <a:pPr algn="l"/>
                      <a:r>
                        <a:rPr sz="1150" b="0">
                          <a:solidFill>
                            <a:srgbClr val="0E1726"/>
                          </a:solidFill>
                          <a:latin typeface="Calibri"/>
                        </a:rPr>
                        <a:t>5</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Entries inert until corrected — two did not compile; one patched the harmless copy of a guard that appears twice</a:t>
                      </a:r>
                    </a:p>
                  </a:txBody>
                  <a:tcPr marL="82296" marR="64008" marT="32004" marB="32004" anchor="ctr">
                    <a:solidFill>
                      <a:srgbClr val="FBFAF7"/>
                    </a:solidFill>
                  </a:tcPr>
                </a:tc>
                <a:tc>
                  <a:txBody>
                    <a:bodyPr wrap="square"/>
                    <a:lstStyle/>
                    <a:p>
                      <a:pPr algn="l"/>
                      <a:r>
                        <a:rPr sz="1150" b="0">
                          <a:solidFill>
                            <a:srgbClr val="0E1726"/>
                          </a:solidFill>
                          <a:latin typeface="Calibri"/>
                        </a:rPr>
                        <a:t>6</a:t>
                      </a:r>
                    </a:p>
                  </a:txBody>
                  <a:tcPr marL="82296" marR="64008" marT="32004" marB="32004" anchor="ctr">
                    <a:solidFill>
                      <a:srgbClr val="FBFAF7"/>
                    </a:solidFill>
                  </a:tcPr>
                </a:tc>
              </a:tr>
              <a:tr h="342303">
                <a:tc>
                  <a:txBody>
                    <a:bodyPr wrap="square"/>
                    <a:lstStyle/>
                    <a:p>
                      <a:pPr algn="l"/>
                      <a:r>
                        <a:rPr sz="1150" b="0">
                          <a:solidFill>
                            <a:srgbClr val="0E1726"/>
                          </a:solidFill>
                          <a:latin typeface="Calibri"/>
                        </a:rPr>
                        <a:t>Tests that did not test what their names claimed</a:t>
                      </a:r>
                    </a:p>
                  </a:txBody>
                  <a:tcPr marL="82296" marR="64008" marT="32004" marB="32004" anchor="ctr">
                    <a:solidFill>
                      <a:srgbClr val="FFFFFF"/>
                    </a:solidFill>
                  </a:tcPr>
                </a:tc>
                <a:tc>
                  <a:txBody>
                    <a:bodyPr wrap="square"/>
                    <a:lstStyle/>
                    <a:p>
                      <a:pPr algn="l"/>
                      <a:r>
                        <a:rPr sz="1150" b="0">
                          <a:solidFill>
                            <a:srgbClr val="0E1726"/>
                          </a:solidFill>
                          <a:latin typeface="Calibri"/>
                        </a:rPr>
                        <a:t>4</a:t>
                      </a:r>
                    </a:p>
                  </a:txBody>
                  <a:tcPr marL="82296" marR="64008" marT="32004" marB="32004" anchor="ctr">
                    <a:solidFill>
                      <a:srgbClr val="FFFFFF"/>
                    </a:solidFill>
                  </a:tcPr>
                </a:tc>
              </a:tr>
              <a:tr h="538302">
                <a:tc>
                  <a:txBody>
                    <a:bodyPr wrap="square"/>
                    <a:lstStyle/>
                    <a:p>
                      <a:pPr algn="l"/>
                      <a:r>
                        <a:rPr sz="1150" b="0">
                          <a:solidFill>
                            <a:srgbClr val="0E1726"/>
                          </a:solidFill>
                          <a:latin typeface="Calibri"/>
                        </a:rPr>
                        <a:t>Defects in **tests** rather than in code — all three the same defect: an unbounded wait, so removing a deadline hung the build rather than failing it</a:t>
                      </a:r>
                    </a:p>
                  </a:txBody>
                  <a:tcPr marL="82296" marR="64008" marT="32004" marB="32004" anchor="ctr">
                    <a:solidFill>
                      <a:srgbClr val="FBFAF7"/>
                    </a:solidFill>
                  </a:tcPr>
                </a:tc>
                <a:tc>
                  <a:txBody>
                    <a:bodyPr wrap="square"/>
                    <a:lstStyle/>
                    <a:p>
                      <a:pPr algn="l"/>
                      <a:r>
                        <a:rPr sz="1150" b="0">
                          <a:solidFill>
                            <a:srgbClr val="0E1726"/>
                          </a:solidFill>
                          <a:latin typeface="Calibri"/>
                        </a:rPr>
                        <a:t>3</a:t>
                      </a:r>
                    </a:p>
                  </a:txBody>
                  <a:tcPr marL="82296" marR="64008" marT="32004" marB="32004" anchor="ctr">
                    <a:solidFill>
                      <a:srgbClr val="FBFAF7"/>
                    </a:solidFill>
                  </a:tcPr>
                </a:tc>
              </a:tr>
            </a:tbl>
          </a:graphicData>
        </a:graphic>
      </p:graphicFrame>
      <p:sp>
        <p:nvSpPr>
          <p:cNvPr id="12" name="TextBox 11"/>
          <p:cNvSpPr txBox="1"/>
          <p:nvPr/>
        </p:nvSpPr>
        <p:spPr>
          <a:xfrm>
            <a:off x="777240" y="4477600"/>
            <a:ext cx="10637215" cy="1097280"/>
          </a:xfrm>
          <a:prstGeom prst="rect">
            <a:avLst/>
          </a:prstGeom>
          <a:noFill/>
        </p:spPr>
        <p:txBody>
          <a:bodyPr wrap="square" lIns="0" rIns="0" tIns="0" bIns="0" anchor="t">
            <a:spAutoFit/>
          </a:bodyPr>
          <a:lstStyle/>
          <a:p>
            <a:pPr algn="l"/>
          </a:p>
          <a:p>
            <a:pPr>
              <a:lnSpc>
                <a:spcPct val="130000"/>
              </a:lnSpc>
              <a:spcBef>
                <a:spcPts val="0"/>
              </a:spcBef>
              <a:spcAft>
                <a:spcPts val="600"/>
              </a:spcAft>
            </a:pPr>
            <a:r>
              <a:rPr sz="1150" b="1" i="0">
                <a:solidFill>
                  <a:srgbClr val="0E1726"/>
                </a:solidFill>
                <a:latin typeface="Calibri"/>
              </a:rPr>
              <a:t>A hang is strictly worse than a failure — it takes the build with it and reports nothing. </a:t>
            </a:r>
            <a:r>
              <a:rPr sz="1150" b="0" i="0">
                <a:solidFill>
                  <a:srgbClr val="444F60"/>
                </a:solidFill>
                <a:latin typeface="Calibri"/>
              </a:rPr>
              <a:t>Every wait now goes through one bounded helper. And a mutation that hangs the build is worse than one that survives: one sandbox entry made a spawn block on a full pipe and was removed, with the reasoning recorded.</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EVIDENCE · BAD MUTATIONS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The discipline turned on itself</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24 · Would the tests notice?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65</a:t>
            </a:r>
          </a:p>
        </p:txBody>
      </p:sp>
      <p:graphicFrame>
        <p:nvGraphicFramePr>
          <p:cNvPr id="10" name="Table 9"/>
          <p:cNvGraphicFramePr>
            <a:graphicFrameLocks noGrp="1"/>
          </p:cNvGraphicFramePr>
          <p:nvPr/>
        </p:nvGraphicFramePr>
        <p:xfrm>
          <a:off x="777240" y="1353312"/>
          <a:ext cx="10637214" cy="1898992"/>
        </p:xfrm>
        <a:graphic>
          <a:graphicData uri="http://schemas.openxmlformats.org/drawingml/2006/table">
            <a:tbl>
              <a:tblPr firstRow="1">
                <a:tableStyleId>{5C22544A-7EE6-4342-B048-85BDC9FD1C3A}</a:tableStyleId>
              </a:tblPr>
              <a:tblGrid>
                <a:gridCol w="4034805"/>
                <a:gridCol w="6602409"/>
              </a:tblGrid>
              <a:tr h="333781">
                <a:tc>
                  <a:txBody>
                    <a:bodyPr wrap="square"/>
                    <a:lstStyle/>
                    <a:p>
                      <a:pPr algn="l"/>
                      <a:r>
                        <a:rPr sz="1100" b="1">
                          <a:solidFill>
                            <a:srgbClr val="FFFFFF"/>
                          </a:solidFill>
                          <a:latin typeface="Calibri"/>
                        </a:rPr>
                        <a:t>A mutation that proved nothing</a:t>
                      </a:r>
                    </a:p>
                  </a:txBody>
                  <a:tcPr marL="82296" marR="64008" marT="32004" marB="32004" anchor="ctr">
                    <a:solidFill>
                      <a:srgbClr val="1E3A6E"/>
                    </a:solidFill>
                  </a:tcPr>
                </a:tc>
                <a:tc>
                  <a:txBody>
                    <a:bodyPr wrap="square"/>
                    <a:lstStyle/>
                    <a:p>
                      <a:pPr algn="l"/>
                      <a:r>
                        <a:rPr sz="1100" b="1">
                          <a:solidFill>
                            <a:srgbClr val="FFFFFF"/>
                          </a:solidFill>
                          <a:latin typeface="Calibri"/>
                        </a:rPr>
                        <a:t>Why it survived</a:t>
                      </a:r>
                    </a:p>
                  </a:txBody>
                  <a:tcPr marL="82296" marR="64008" marT="32004" marB="32004" anchor="ctr">
                    <a:solidFill>
                      <a:srgbClr val="1E3A6E"/>
                    </a:solidFill>
                  </a:tcPr>
                </a:tc>
              </a:tr>
              <a:tr h="342303">
                <a:tc>
                  <a:txBody>
                    <a:bodyPr wrap="square"/>
                    <a:lstStyle/>
                    <a:p>
                      <a:pPr algn="l"/>
                      <a:r>
                        <a:rPr sz="1150" b="0">
                          <a:solidFill>
                            <a:srgbClr val="0E1726"/>
                          </a:solidFill>
                          <a:latin typeface="Calibri"/>
                        </a:rPr>
                        <a:t>Changed a log message's wording</a:t>
                      </a:r>
                    </a:p>
                  </a:txBody>
                  <a:tcPr marL="82296" marR="64008" marT="32004" marB="32004" anchor="ctr">
                    <a:solidFill>
                      <a:srgbClr val="FFFFFF"/>
                    </a:solidFill>
                  </a:tcPr>
                </a:tc>
                <a:tc>
                  <a:txBody>
                    <a:bodyPr wrap="square"/>
                    <a:lstStyle/>
                    <a:p>
                      <a:pPr algn="l"/>
                      <a:r>
                        <a:rPr sz="1150" b="0">
                          <a:solidFill>
                            <a:srgbClr val="0E1726"/>
                          </a:solidFill>
                          <a:latin typeface="Calibri"/>
                        </a:rPr>
                        <a:t>the assertion matched a substring of both wordings</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Asserted that the log cache caches</a:t>
                      </a:r>
                    </a:p>
                  </a:txBody>
                  <a:tcPr marL="82296" marR="64008" marT="32004" marB="32004" anchor="ctr">
                    <a:solidFill>
                      <a:srgbClr val="FBFAF7"/>
                    </a:solidFill>
                  </a:tcPr>
                </a:tc>
                <a:tc>
                  <a:txBody>
                    <a:bodyPr wrap="square"/>
                    <a:lstStyle/>
                    <a:p>
                      <a:pPr algn="l"/>
                      <a:r>
                        <a:rPr sz="1150" b="0">
                          <a:solidFill>
                            <a:srgbClr val="0E1726"/>
                          </a:solidFill>
                          <a:latin typeface="Calibri"/>
                        </a:rPr>
                        <a:t>true before the fix and after it — the property was whether the *caller* used it</a:t>
                      </a:r>
                    </a:p>
                  </a:txBody>
                  <a:tcPr marL="82296" marR="64008" marT="32004" marB="32004" anchor="ctr">
                    <a:solidFill>
                      <a:srgbClr val="FBFAF7"/>
                    </a:solidFill>
                  </a:tcPr>
                </a:tc>
              </a:tr>
              <a:tr h="538302">
                <a:tc>
                  <a:txBody>
                    <a:bodyPr wrap="square"/>
                    <a:lstStyle/>
                    <a:p>
                      <a:pPr algn="l"/>
                      <a:r>
                        <a:rPr sz="1150" b="0">
                          <a:solidFill>
                            <a:srgbClr val="0E1726"/>
                          </a:solidFill>
                          <a:latin typeface="Calibri"/>
                        </a:rPr>
                        <a:t>Added a `println!` beside the `tracing` call it replaced</a:t>
                      </a:r>
                    </a:p>
                  </a:txBody>
                  <a:tcPr marL="82296" marR="64008" marT="32004" marB="32004" anchor="ctr">
                    <a:solidFill>
                      <a:srgbClr val="FFFFFF"/>
                    </a:solidFill>
                  </a:tcPr>
                </a:tc>
                <a:tc>
                  <a:txBody>
                    <a:bodyPr wrap="square"/>
                    <a:lstStyle/>
                    <a:p>
                      <a:pPr algn="l"/>
                      <a:r>
                        <a:rPr sz="1150" b="0">
                          <a:solidFill>
                            <a:srgbClr val="0E1726"/>
                          </a:solidFill>
                          <a:latin typeface="Calibri"/>
                        </a:rPr>
                        <a:t>nothing was taken away, so nothing could notice</a:t>
                      </a:r>
                    </a:p>
                  </a:txBody>
                  <a:tcPr marL="82296" marR="64008" marT="32004" marB="32004" anchor="ctr">
                    <a:solidFill>
                      <a:srgbClr val="FFFFFF"/>
                    </a:solidFill>
                  </a:tcPr>
                </a:tc>
              </a:tr>
              <a:tr h="342303">
                <a:tc>
                  <a:txBody>
                    <a:bodyPr wrap="square"/>
                    <a:lstStyle/>
                    <a:p>
                      <a:pPr algn="l"/>
                      <a:r>
                        <a:rPr sz="1150" b="0">
                          <a:solidFill>
                            <a:srgbClr val="0E1726"/>
                          </a:solidFill>
                          <a:latin typeface="Calibri"/>
                        </a:rPr>
                        <a:t>Reverted a parse to skip a bad line</a:t>
                      </a:r>
                    </a:p>
                  </a:txBody>
                  <a:tcPr marL="82296" marR="64008" marT="32004" marB="32004" anchor="ctr">
                    <a:solidFill>
                      <a:srgbClr val="FBFAF7"/>
                    </a:solidFill>
                  </a:tcPr>
                </a:tc>
                <a:tc>
                  <a:txBody>
                    <a:bodyPr wrap="square"/>
                    <a:lstStyle/>
                    <a:p>
                      <a:pPr algn="l"/>
                      <a:r>
                        <a:rPr sz="1150" b="0">
                          <a:solidFill>
                            <a:srgbClr val="0E1726"/>
                          </a:solidFill>
                          <a:latin typeface="Calibri"/>
                        </a:rPr>
                        <a:t>a *different* mechanism — the empty-body seal — returned the same error variant</a:t>
                      </a:r>
                    </a:p>
                  </a:txBody>
                  <a:tcPr marL="82296" marR="64008" marT="32004" marB="32004" anchor="ctr">
                    <a:solidFill>
                      <a:srgbClr val="FBFAF7"/>
                    </a:solidFill>
                  </a:tcPr>
                </a:tc>
              </a:tr>
            </a:tbl>
          </a:graphicData>
        </a:graphic>
      </p:graphicFrame>
      <p:sp>
        <p:nvSpPr>
          <p:cNvPr id="11" name="TextBox 10"/>
          <p:cNvSpPr txBox="1"/>
          <p:nvPr/>
        </p:nvSpPr>
        <p:spPr>
          <a:xfrm>
            <a:off x="777240" y="3490048"/>
            <a:ext cx="10637215" cy="1463040"/>
          </a:xfrm>
          <a:prstGeom prst="rect">
            <a:avLst/>
          </a:prstGeom>
          <a:noFill/>
        </p:spPr>
        <p:txBody>
          <a:bodyPr wrap="square" lIns="0" rIns="0" tIns="0" bIns="0" anchor="t">
            <a:spAutoFit/>
          </a:bodyPr>
          <a:lstStyle/>
          <a:p>
            <a:pPr algn="l"/>
          </a:p>
          <a:p>
            <a:pPr>
              <a:lnSpc>
                <a:spcPct val="130000"/>
              </a:lnSpc>
              <a:spcBef>
                <a:spcPts val="0"/>
              </a:spcBef>
              <a:spcAft>
                <a:spcPts val="600"/>
              </a:spcAft>
            </a:pPr>
            <a:r>
              <a:rPr sz="1150" b="1" i="0">
                <a:solidFill>
                  <a:srgbClr val="0E1726"/>
                </a:solidFill>
                <a:latin typeface="Calibri"/>
              </a:rPr>
              <a:t>Each of those survived, each was rewritten, and each is in the log. </a:t>
            </a:r>
            <a:r>
              <a:rPr sz="1150" b="0" i="0">
                <a:solidFill>
                  <a:srgbClr val="444F60"/>
                </a:solidFill>
                <a:latin typeface="Calibri"/>
              </a:rPr>
              <a:t>The last one is the sharpest: the only test guarding *a malformed line is reported* passed because the commit it wrote had **nothing else in it**, so an unrelated check fired first. A line that is valid JSON but not a valid action was skipped silently — the commit replaying as though it did less than it did.</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AUDIT · THE FINDING</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The number, and how to read it</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25 · What twelve reviewers found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66</a:t>
            </a:r>
          </a:p>
        </p:txBody>
      </p:sp>
      <p:sp>
        <p:nvSpPr>
          <p:cNvPr id="10" name="Rectangle 9"/>
          <p:cNvSpPr/>
          <p:nvPr/>
        </p:nvSpPr>
        <p:spPr>
          <a:xfrm>
            <a:off x="777240" y="1353312"/>
            <a:ext cx="2508427" cy="1078992"/>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0789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99616"/>
            <a:ext cx="2197531" cy="457200"/>
          </a:xfrm>
          <a:prstGeom prst="rect">
            <a:avLst/>
          </a:prstGeom>
          <a:noFill/>
        </p:spPr>
        <p:txBody>
          <a:bodyPr wrap="square" lIns="0" rIns="0" tIns="0" bIns="0" anchor="t">
            <a:spAutoFit/>
          </a:bodyPr>
          <a:lstStyle/>
          <a:p>
            <a:pPr algn="l">
              <a:spcBef>
                <a:spcPts val="0"/>
              </a:spcBef>
              <a:spcAft>
                <a:spcPts val="0"/>
              </a:spcAft>
            </a:pPr>
            <a:r>
              <a:rPr sz="2700" b="1" i="0">
                <a:solidFill>
                  <a:srgbClr val="1E3A6E"/>
                </a:solidFill>
                <a:latin typeface="Georgia"/>
              </a:rPr>
              <a:t>129</a:t>
            </a:r>
          </a:p>
        </p:txBody>
      </p:sp>
      <p:sp>
        <p:nvSpPr>
          <p:cNvPr id="13" name="TextBox 12"/>
          <p:cNvSpPr txBox="1"/>
          <p:nvPr/>
        </p:nvSpPr>
        <p:spPr>
          <a:xfrm>
            <a:off x="978408" y="1975104"/>
            <a:ext cx="2197531" cy="384048"/>
          </a:xfrm>
          <a:prstGeom prst="rect">
            <a:avLst/>
          </a:prstGeom>
          <a:noFill/>
        </p:spPr>
        <p:txBody>
          <a:bodyPr wrap="square" lIns="0" rIns="0" tIns="0" bIns="0" anchor="t">
            <a:spAutoFit/>
          </a:bodyPr>
          <a:lstStyle/>
          <a:p>
            <a:pPr algn="l">
              <a:lnSpc>
                <a:spcPct val="112000"/>
              </a:lnSpc>
              <a:spcBef>
                <a:spcPts val="0"/>
              </a:spcBef>
              <a:spcAft>
                <a:spcPts val="0"/>
              </a:spcAft>
            </a:pPr>
            <a:r>
              <a:rPr sz="1000" b="0" i="0">
                <a:solidFill>
                  <a:srgbClr val="444F60"/>
                </a:solidFill>
                <a:latin typeface="Calibri"/>
              </a:rPr>
              <a:t>findings</a:t>
            </a:r>
          </a:p>
        </p:txBody>
      </p:sp>
      <p:sp>
        <p:nvSpPr>
          <p:cNvPr id="14" name="Rectangle 13"/>
          <p:cNvSpPr/>
          <p:nvPr/>
        </p:nvSpPr>
        <p:spPr>
          <a:xfrm>
            <a:off x="3486835" y="1353312"/>
            <a:ext cx="2508427" cy="1078992"/>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3486835" y="1353312"/>
            <a:ext cx="41148" cy="10789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3688003" y="1499616"/>
            <a:ext cx="2197531" cy="457200"/>
          </a:xfrm>
          <a:prstGeom prst="rect">
            <a:avLst/>
          </a:prstGeom>
          <a:noFill/>
        </p:spPr>
        <p:txBody>
          <a:bodyPr wrap="square" lIns="0" rIns="0" tIns="0" bIns="0" anchor="t">
            <a:spAutoFit/>
          </a:bodyPr>
          <a:lstStyle/>
          <a:p>
            <a:pPr algn="l">
              <a:spcBef>
                <a:spcPts val="0"/>
              </a:spcBef>
              <a:spcAft>
                <a:spcPts val="0"/>
              </a:spcAft>
            </a:pPr>
            <a:r>
              <a:rPr sz="2700" b="1" i="0">
                <a:solidFill>
                  <a:srgbClr val="1E3A6E"/>
                </a:solidFill>
                <a:latin typeface="Georgia"/>
              </a:rPr>
              <a:t>12</a:t>
            </a:r>
          </a:p>
        </p:txBody>
      </p:sp>
      <p:sp>
        <p:nvSpPr>
          <p:cNvPr id="17" name="TextBox 16"/>
          <p:cNvSpPr txBox="1"/>
          <p:nvPr/>
        </p:nvSpPr>
        <p:spPr>
          <a:xfrm>
            <a:off x="3688003" y="1975104"/>
            <a:ext cx="2197531" cy="384048"/>
          </a:xfrm>
          <a:prstGeom prst="rect">
            <a:avLst/>
          </a:prstGeom>
          <a:noFill/>
        </p:spPr>
        <p:txBody>
          <a:bodyPr wrap="square" lIns="0" rIns="0" tIns="0" bIns="0" anchor="t">
            <a:spAutoFit/>
          </a:bodyPr>
          <a:lstStyle/>
          <a:p>
            <a:pPr algn="l">
              <a:lnSpc>
                <a:spcPct val="112000"/>
              </a:lnSpc>
              <a:spcBef>
                <a:spcPts val="0"/>
              </a:spcBef>
              <a:spcAft>
                <a:spcPts val="0"/>
              </a:spcAft>
            </a:pPr>
            <a:r>
              <a:rPr sz="1000" b="0" i="0">
                <a:solidFill>
                  <a:srgbClr val="444F60"/>
                </a:solidFill>
                <a:latin typeface="Calibri"/>
              </a:rPr>
              <a:t>reviewers</a:t>
            </a:r>
          </a:p>
        </p:txBody>
      </p:sp>
      <p:sp>
        <p:nvSpPr>
          <p:cNvPr id="18" name="Rectangle 17"/>
          <p:cNvSpPr/>
          <p:nvPr/>
        </p:nvSpPr>
        <p:spPr>
          <a:xfrm>
            <a:off x="6196431" y="1353312"/>
            <a:ext cx="2508427" cy="1078992"/>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Rectangle 18"/>
          <p:cNvSpPr/>
          <p:nvPr/>
        </p:nvSpPr>
        <p:spPr>
          <a:xfrm>
            <a:off x="6196431" y="1353312"/>
            <a:ext cx="41148" cy="10789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TextBox 19"/>
          <p:cNvSpPr txBox="1"/>
          <p:nvPr/>
        </p:nvSpPr>
        <p:spPr>
          <a:xfrm>
            <a:off x="6397599" y="1499616"/>
            <a:ext cx="2197531" cy="457200"/>
          </a:xfrm>
          <a:prstGeom prst="rect">
            <a:avLst/>
          </a:prstGeom>
          <a:noFill/>
        </p:spPr>
        <p:txBody>
          <a:bodyPr wrap="square" lIns="0" rIns="0" tIns="0" bIns="0" anchor="t">
            <a:spAutoFit/>
          </a:bodyPr>
          <a:lstStyle/>
          <a:p>
            <a:pPr algn="l">
              <a:spcBef>
                <a:spcPts val="0"/>
              </a:spcBef>
              <a:spcAft>
                <a:spcPts val="0"/>
              </a:spcAft>
            </a:pPr>
            <a:r>
              <a:rPr sz="2700" b="1" i="0">
                <a:solidFill>
                  <a:srgbClr val="1E3A6E"/>
                </a:solidFill>
                <a:latin typeface="Georgia"/>
              </a:rPr>
              <a:t>3</a:t>
            </a:r>
          </a:p>
        </p:txBody>
      </p:sp>
      <p:sp>
        <p:nvSpPr>
          <p:cNvPr id="21" name="TextBox 20"/>
          <p:cNvSpPr txBox="1"/>
          <p:nvPr/>
        </p:nvSpPr>
        <p:spPr>
          <a:xfrm>
            <a:off x="6397599" y="1975104"/>
            <a:ext cx="2197531" cy="384048"/>
          </a:xfrm>
          <a:prstGeom prst="rect">
            <a:avLst/>
          </a:prstGeom>
          <a:noFill/>
        </p:spPr>
        <p:txBody>
          <a:bodyPr wrap="square" lIns="0" rIns="0" tIns="0" bIns="0" anchor="t">
            <a:spAutoFit/>
          </a:bodyPr>
          <a:lstStyle/>
          <a:p>
            <a:pPr algn="l">
              <a:lnSpc>
                <a:spcPct val="112000"/>
              </a:lnSpc>
              <a:spcBef>
                <a:spcPts val="0"/>
              </a:spcBef>
              <a:spcAft>
                <a:spcPts val="0"/>
              </a:spcAft>
            </a:pPr>
            <a:r>
              <a:rPr sz="1000" b="0" i="0">
                <a:solidFill>
                  <a:srgbClr val="444F60"/>
                </a:solidFill>
                <a:latin typeface="Calibri"/>
              </a:rPr>
              <a:t>days</a:t>
            </a:r>
          </a:p>
        </p:txBody>
      </p:sp>
      <p:sp>
        <p:nvSpPr>
          <p:cNvPr id="22" name="Rectangle 21"/>
          <p:cNvSpPr/>
          <p:nvPr/>
        </p:nvSpPr>
        <p:spPr>
          <a:xfrm>
            <a:off x="8906027" y="1353312"/>
            <a:ext cx="2508427" cy="1078992"/>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Rectangle 22"/>
          <p:cNvSpPr/>
          <p:nvPr/>
        </p:nvSpPr>
        <p:spPr>
          <a:xfrm>
            <a:off x="8906027" y="1353312"/>
            <a:ext cx="41148" cy="10789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4" name="TextBox 23"/>
          <p:cNvSpPr txBox="1"/>
          <p:nvPr/>
        </p:nvSpPr>
        <p:spPr>
          <a:xfrm>
            <a:off x="9107195" y="1499616"/>
            <a:ext cx="2197531" cy="457200"/>
          </a:xfrm>
          <a:prstGeom prst="rect">
            <a:avLst/>
          </a:prstGeom>
          <a:noFill/>
        </p:spPr>
        <p:txBody>
          <a:bodyPr wrap="square" lIns="0" rIns="0" tIns="0" bIns="0" anchor="t">
            <a:spAutoFit/>
          </a:bodyPr>
          <a:lstStyle/>
          <a:p>
            <a:pPr algn="l">
              <a:spcBef>
                <a:spcPts val="0"/>
              </a:spcBef>
              <a:spcAft>
                <a:spcPts val="0"/>
              </a:spcAft>
            </a:pPr>
            <a:r>
              <a:rPr sz="2700" b="1" i="0">
                <a:solidFill>
                  <a:srgbClr val="1E3A6E"/>
                </a:solidFill>
                <a:latin typeface="Georgia"/>
              </a:rPr>
              <a:t>0</a:t>
            </a:r>
          </a:p>
        </p:txBody>
      </p:sp>
      <p:sp>
        <p:nvSpPr>
          <p:cNvPr id="25" name="TextBox 24"/>
          <p:cNvSpPr txBox="1"/>
          <p:nvPr/>
        </p:nvSpPr>
        <p:spPr>
          <a:xfrm>
            <a:off x="9107195" y="1975104"/>
            <a:ext cx="2197531" cy="384048"/>
          </a:xfrm>
          <a:prstGeom prst="rect">
            <a:avLst/>
          </a:prstGeom>
          <a:noFill/>
        </p:spPr>
        <p:txBody>
          <a:bodyPr wrap="square" lIns="0" rIns="0" tIns="0" bIns="0" anchor="t">
            <a:spAutoFit/>
          </a:bodyPr>
          <a:lstStyle/>
          <a:p>
            <a:pPr algn="l">
              <a:lnSpc>
                <a:spcPct val="112000"/>
              </a:lnSpc>
              <a:spcBef>
                <a:spcPts val="0"/>
              </a:spcBef>
              <a:spcAft>
                <a:spcPts val="0"/>
              </a:spcAft>
            </a:pPr>
            <a:r>
              <a:rPr sz="1000" b="0" i="0">
                <a:solidFill>
                  <a:srgbClr val="444F60"/>
                </a:solidFill>
                <a:latin typeface="Calibri"/>
              </a:rPr>
              <a:t>found by a failing test</a:t>
            </a:r>
          </a:p>
        </p:txBody>
      </p:sp>
      <p:sp>
        <p:nvSpPr>
          <p:cNvPr id="26" name="TextBox 25"/>
          <p:cNvSpPr txBox="1"/>
          <p:nvPr/>
        </p:nvSpPr>
        <p:spPr>
          <a:xfrm>
            <a:off x="777240" y="2587752"/>
            <a:ext cx="10637215" cy="2377440"/>
          </a:xfrm>
          <a:prstGeom prst="rect">
            <a:avLst/>
          </a:prstGeom>
          <a:noFill/>
        </p:spPr>
        <p:txBody>
          <a:bodyPr wrap="square" lIns="0" rIns="0" tIns="0" bIns="0" anchor="t">
            <a:spAutoFit/>
          </a:bodyPr>
          <a:lstStyle/>
          <a:p>
            <a:pPr algn="l">
              <a:lnSpc>
                <a:spcPct val="130000"/>
              </a:lnSpc>
              <a:spcBef>
                <a:spcPts val="0"/>
              </a:spcBef>
              <a:spcAft>
                <a:spcPts val="1000"/>
              </a:spcAft>
            </a:pPr>
            <a:r>
              <a:rPr sz="1400" b="1" i="0">
                <a:solidFill>
                  <a:srgbClr val="1E3A6E"/>
                </a:solidFill>
                <a:latin typeface="Calibri"/>
              </a:rPr>
              <a:t>The correct reading of that number is that it is a **lower bound**.</a:t>
            </a:r>
          </a:p>
          <a:p>
            <a:pPr>
              <a:lnSpc>
                <a:spcPct val="130000"/>
              </a:lnSpc>
              <a:spcBef>
                <a:spcPts val="0"/>
              </a:spcBef>
              <a:spcAft>
                <a:spcPts val="1000"/>
              </a:spcAft>
            </a:pPr>
            <a:r>
              <a:rPr sz="1200" b="1" i="0">
                <a:solidFill>
                  <a:srgbClr val="0E1726"/>
                </a:solidFill>
                <a:latin typeface="Calibri"/>
              </a:rPr>
              <a:t>Not one was found by a failing test, because none of them made a test fail. </a:t>
            </a:r>
            <a:r>
              <a:rPr sz="1200" b="0" i="0">
                <a:solidFill>
                  <a:srgbClr val="444F60"/>
                </a:solidFill>
                <a:latin typeface="Calibri"/>
              </a:rPr>
              <a:t>They were found by people reading code against the documents that described it — which is a method that scales with attention and not with hardware, and which nobody was applying.</a:t>
            </a:r>
          </a:p>
          <a:p>
            <a:pPr>
              <a:lnSpc>
                <a:spcPct val="130000"/>
              </a:lnSpc>
              <a:spcBef>
                <a:spcPts val="0"/>
              </a:spcBef>
              <a:spcAft>
                <a:spcPts val="600"/>
              </a:spcAft>
            </a:pPr>
            <a:r>
              <a:rPr sz="1200" b="1" i="0">
                <a:solidFill>
                  <a:srgbClr val="0E1726"/>
                </a:solidFill>
                <a:latin typeface="Calibri"/>
              </a:rPr>
              <a:t>What closing them produced is not a clean bill of health. </a:t>
            </a:r>
            <a:r>
              <a:rPr sz="1200" b="0" i="0">
                <a:solidFill>
                  <a:srgbClr val="444F60"/>
                </a:solidFill>
                <a:latin typeface="Calibri"/>
              </a:rPr>
              <a:t>It is a system where the next hundred findings would be visible: a gate that fails when a document contradicts the code, a catalogue that says which alerts cannot fire, a benchmark behind every published figure.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AUDIT · WHY THEY WERE THERE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The four causes, and what each explains</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25 · What twelve reviewers found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67</a:t>
            </a:r>
          </a:p>
        </p:txBody>
      </p:sp>
      <p:graphicFrame>
        <p:nvGraphicFramePr>
          <p:cNvPr id="10" name="Table 9"/>
          <p:cNvGraphicFramePr>
            <a:graphicFrameLocks noGrp="1"/>
          </p:cNvGraphicFramePr>
          <p:nvPr/>
        </p:nvGraphicFramePr>
        <p:xfrm>
          <a:off x="777240" y="1353312"/>
          <a:ext cx="10637213" cy="2486989"/>
        </p:xfrm>
        <a:graphic>
          <a:graphicData uri="http://schemas.openxmlformats.org/drawingml/2006/table">
            <a:tbl>
              <a:tblPr firstRow="1">
                <a:tableStyleId>{5C22544A-7EE6-4342-B048-85BDC9FD1C3A}</a:tableStyleId>
              </a:tblPr>
              <a:tblGrid>
                <a:gridCol w="641900"/>
                <a:gridCol w="3851405"/>
                <a:gridCol w="6143908"/>
              </a:tblGrid>
              <a:tr h="333781">
                <a:tc>
                  <a:txBody>
                    <a:bodyPr wrap="square"/>
                    <a:lstStyle/>
                    <a:p>
                      <a:pPr algn="l"/>
                      <a:r>
                        <a:rPr sz="1100" b="1">
                          <a:solidFill>
                            <a:srgbClr val="FFFFFF"/>
                          </a:solidFill>
                          <a:latin typeface="Calibri"/>
                        </a:rPr>
                        <a:t/>
                      </a:r>
                    </a:p>
                  </a:txBody>
                  <a:tcPr marL="82296" marR="64008" marT="32004" marB="32004" anchor="ctr">
                    <a:solidFill>
                      <a:srgbClr val="1E3A6E"/>
                    </a:solidFill>
                  </a:tcPr>
                </a:tc>
                <a:tc>
                  <a:txBody>
                    <a:bodyPr wrap="square"/>
                    <a:lstStyle/>
                    <a:p>
                      <a:pPr algn="l"/>
                      <a:r>
                        <a:rPr sz="1100" b="1">
                          <a:solidFill>
                            <a:srgbClr val="FFFFFF"/>
                          </a:solidFill>
                          <a:latin typeface="Calibri"/>
                        </a:rPr>
                        <a:t>The cause</a:t>
                      </a:r>
                    </a:p>
                  </a:txBody>
                  <a:tcPr marL="82296" marR="64008" marT="32004" marB="32004" anchor="ctr">
                    <a:solidFill>
                      <a:srgbClr val="1E3A6E"/>
                    </a:solidFill>
                  </a:tcPr>
                </a:tc>
                <a:tc>
                  <a:txBody>
                    <a:bodyPr wrap="square"/>
                    <a:lstStyle/>
                    <a:p>
                      <a:pPr algn="l"/>
                      <a:r>
                        <a:rPr sz="1100" b="1">
                          <a:solidFill>
                            <a:srgbClr val="FFFFFF"/>
                          </a:solidFill>
                          <a:latin typeface="Calibri"/>
                        </a:rPr>
                        <a:t>What it explains</a:t>
                      </a:r>
                    </a:p>
                  </a:txBody>
                  <a:tcPr marL="82296" marR="64008" marT="32004" marB="32004" anchor="ctr">
                    <a:solidFill>
                      <a:srgbClr val="1E3A6E"/>
                    </a:solidFill>
                  </a:tcPr>
                </a:tc>
              </a:tr>
              <a:tr h="538302">
                <a:tc>
                  <a:txBody>
                    <a:bodyPr wrap="square"/>
                    <a:lstStyle/>
                    <a:p>
                      <a:pPr algn="l"/>
                      <a:r>
                        <a:rPr sz="1150" b="0">
                          <a:solidFill>
                            <a:srgbClr val="0E1726"/>
                          </a:solidFill>
                          <a:latin typeface="Calibri"/>
                        </a:rPr>
                        <a:t>R1</a:t>
                      </a:r>
                    </a:p>
                  </a:txBody>
                  <a:tcPr marL="82296" marR="64008" marT="32004" marB="32004" anchor="ctr">
                    <a:solidFill>
                      <a:srgbClr val="FFFFFF"/>
                    </a:solidFill>
                  </a:tcPr>
                </a:tc>
                <a:tc>
                  <a:txBody>
                    <a:bodyPr wrap="square"/>
                    <a:lstStyle/>
                    <a:p>
                      <a:pPr algn="l"/>
                      <a:r>
                        <a:rPr sz="1150" b="0">
                          <a:solidFill>
                            <a:srgbClr val="0E1726"/>
                          </a:solidFill>
                          <a:latin typeface="Calibri"/>
                        </a:rPr>
                        <a:t>The test fixture and the documented recipe silently diverged</a:t>
                      </a:r>
                    </a:p>
                  </a:txBody>
                  <a:tcPr marL="82296" marR="64008" marT="32004" marB="32004" anchor="ctr">
                    <a:solidFill>
                      <a:srgbClr val="FFFFFF"/>
                    </a:solidFill>
                  </a:tcPr>
                </a:tc>
                <a:tc>
                  <a:txBody>
                    <a:bodyPr wrap="square"/>
                    <a:lstStyle/>
                    <a:p>
                      <a:pPr algn="l"/>
                      <a:r>
                        <a:rPr sz="1150" b="0">
                          <a:solidFill>
                            <a:srgbClr val="0E1726"/>
                          </a:solidFill>
                          <a:latin typeface="Calibri"/>
                        </a:rPr>
                        <a:t>every doc-versus-reality finding — the transcripts were real, taken from a warehouse the instructions no longer built</a:t>
                      </a:r>
                    </a:p>
                  </a:txBody>
                  <a:tcPr marL="82296" marR="64008" marT="32004" marB="32004" anchor="ctr">
                    <a:solidFill>
                      <a:srgbClr val="FFFFFF"/>
                    </a:solidFill>
                  </a:tcPr>
                </a:tc>
              </a:tr>
              <a:tr h="538302">
                <a:tc>
                  <a:txBody>
                    <a:bodyPr wrap="square"/>
                    <a:lstStyle/>
                    <a:p>
                      <a:pPr algn="l"/>
                      <a:r>
                        <a:rPr sz="1150" b="0">
                          <a:solidFill>
                            <a:srgbClr val="0E1726"/>
                          </a:solidFill>
                          <a:latin typeface="Calibri"/>
                        </a:rPr>
                        <a:t>R2</a:t>
                      </a:r>
                    </a:p>
                  </a:txBody>
                  <a:tcPr marL="82296" marR="64008" marT="32004" marB="32004" anchor="ctr">
                    <a:solidFill>
                      <a:srgbClr val="FBFAF7"/>
                    </a:solidFill>
                  </a:tcPr>
                </a:tc>
                <a:tc>
                  <a:txBody>
                    <a:bodyPr wrap="square"/>
                    <a:lstStyle/>
                    <a:p>
                      <a:pPr algn="l"/>
                      <a:r>
                        <a:rPr sz="1150" b="0">
                          <a:solidFill>
                            <a:srgbClr val="0E1726"/>
                          </a:solidFill>
                          <a:latin typeface="Calibri"/>
                        </a:rPr>
                        <a:t>There is no CI — the gate runs when somebody chooses</a:t>
                      </a:r>
                    </a:p>
                  </a:txBody>
                  <a:tcPr marL="82296" marR="64008" marT="32004" marB="32004" anchor="ctr">
                    <a:solidFill>
                      <a:srgbClr val="FBFAF7"/>
                    </a:solidFill>
                  </a:tcPr>
                </a:tc>
                <a:tc>
                  <a:txBody>
                    <a:bodyPr wrap="square"/>
                    <a:lstStyle/>
                    <a:p>
                      <a:pPr algn="l"/>
                      <a:r>
                        <a:rPr sz="1150" b="0">
                          <a:solidFill>
                            <a:srgbClr val="0E1726"/>
                          </a:solidFill>
                          <a:latin typeface="Calibri"/>
                        </a:rPr>
                        <a:t>the fact that all 129 survived</a:t>
                      </a:r>
                    </a:p>
                  </a:txBody>
                  <a:tcPr marL="82296" marR="64008" marT="32004" marB="32004" anchor="ctr">
                    <a:solidFill>
                      <a:srgbClr val="FBFAF7"/>
                    </a:solidFill>
                  </a:tcPr>
                </a:tc>
              </a:tr>
              <a:tr h="538302">
                <a:tc>
                  <a:txBody>
                    <a:bodyPr wrap="square"/>
                    <a:lstStyle/>
                    <a:p>
                      <a:pPr algn="l"/>
                      <a:r>
                        <a:rPr sz="1150" b="0">
                          <a:solidFill>
                            <a:srgbClr val="0E1726"/>
                          </a:solidFill>
                          <a:latin typeface="Calibri"/>
                        </a:rPr>
                        <a:t>R3</a:t>
                      </a:r>
                    </a:p>
                  </a:txBody>
                  <a:tcPr marL="82296" marR="64008" marT="32004" marB="32004" anchor="ctr">
                    <a:solidFill>
                      <a:srgbClr val="FFFFFF"/>
                    </a:solidFill>
                  </a:tcPr>
                </a:tc>
                <a:tc>
                  <a:txBody>
                    <a:bodyPr wrap="square"/>
                    <a:lstStyle/>
                    <a:p>
                      <a:pPr algn="l"/>
                      <a:r>
                        <a:rPr sz="1150" b="0">
                          <a:solidFill>
                            <a:srgbClr val="0E1726"/>
                          </a:solidFill>
                          <a:latin typeface="Calibri"/>
                        </a:rPr>
                        <a:t>Gates report green when they measure nothing</a:t>
                      </a:r>
                    </a:p>
                  </a:txBody>
                  <a:tcPr marL="82296" marR="64008" marT="32004" marB="32004" anchor="ctr">
                    <a:solidFill>
                      <a:srgbClr val="FFFFFF"/>
                    </a:solidFill>
                  </a:tcPr>
                </a:tc>
                <a:tc>
                  <a:txBody>
                    <a:bodyPr wrap="square"/>
                    <a:lstStyle/>
                    <a:p>
                      <a:pPr algn="l"/>
                      <a:r>
                        <a:rPr sz="1150" b="0">
                          <a:solidFill>
                            <a:srgbClr val="0E1726"/>
                          </a:solidFill>
                          <a:latin typeface="Calibri"/>
                        </a:rPr>
                        <a:t>fifteen e2e tests skipping to green, a coverage gate counting nothing, a soak whose verdict is printed rather than asserted</a:t>
                      </a:r>
                    </a:p>
                  </a:txBody>
                  <a:tcPr marL="82296" marR="64008" marT="32004" marB="32004" anchor="ctr">
                    <a:solidFill>
                      <a:srgbClr val="FFFFFF"/>
                    </a:solidFill>
                  </a:tcPr>
                </a:tc>
              </a:tr>
              <a:tr h="538302">
                <a:tc>
                  <a:txBody>
                    <a:bodyPr wrap="square"/>
                    <a:lstStyle/>
                    <a:p>
                      <a:pPr algn="l"/>
                      <a:r>
                        <a:rPr sz="1150" b="0">
                          <a:solidFill>
                            <a:srgbClr val="0E1726"/>
                          </a:solidFill>
                          <a:latin typeface="Calibri"/>
                        </a:rPr>
                        <a:t>R4</a:t>
                      </a:r>
                    </a:p>
                  </a:txBody>
                  <a:tcPr marL="82296" marR="64008" marT="32004" marB="32004" anchor="ctr">
                    <a:solidFill>
                      <a:srgbClr val="FBFAF7"/>
                    </a:solidFill>
                  </a:tcPr>
                </a:tc>
                <a:tc>
                  <a:txBody>
                    <a:bodyPr wrap="square"/>
                    <a:lstStyle/>
                    <a:p>
                      <a:pPr algn="l"/>
                      <a:r>
                        <a:rPr sz="1150" b="0">
                          <a:solidFill>
                            <a:srgbClr val="0E1726"/>
                          </a:solidFill>
                          <a:latin typeface="Calibri"/>
                        </a:rPr>
                        <a:t>Documents assert; nothing checks the assertion</a:t>
                      </a:r>
                    </a:p>
                  </a:txBody>
                  <a:tcPr marL="82296" marR="64008" marT="32004" marB="32004" anchor="ctr">
                    <a:solidFill>
                      <a:srgbClr val="FBFAF7"/>
                    </a:solidFill>
                  </a:tcPr>
                </a:tc>
                <a:tc>
                  <a:txBody>
                    <a:bodyPr wrap="square"/>
                    <a:lstStyle/>
                    <a:p>
                      <a:pPr algn="l"/>
                      <a:r>
                        <a:rPr sz="1150" b="0">
                          <a:solidFill>
                            <a:srgbClr val="0E1726"/>
                          </a:solidFill>
                          <a:latin typeface="Calibri"/>
                        </a:rPr>
                        <a:t>three published speed tables nothing ever produced, and a milestone line that was wrong in thirteen files</a:t>
                      </a:r>
                    </a:p>
                  </a:txBody>
                  <a:tcPr marL="82296" marR="64008" marT="32004" marB="32004" anchor="ctr">
                    <a:solidFill>
                      <a:srgbClr val="FBFAF7"/>
                    </a:solidFill>
                  </a:tcPr>
                </a:tc>
              </a:tr>
            </a:tbl>
          </a:graphicData>
        </a:graphic>
      </p:graphicFrame>
      <p:sp>
        <p:nvSpPr>
          <p:cNvPr id="11" name="TextBox 10"/>
          <p:cNvSpPr txBox="1"/>
          <p:nvPr/>
        </p:nvSpPr>
        <p:spPr>
          <a:xfrm>
            <a:off x="777240" y="4078046"/>
            <a:ext cx="10637215" cy="1188720"/>
          </a:xfrm>
          <a:prstGeom prst="rect">
            <a:avLst/>
          </a:prstGeom>
          <a:noFill/>
        </p:spPr>
        <p:txBody>
          <a:bodyPr wrap="square" lIns="0" rIns="0" tIns="0" bIns="0" anchor="t">
            <a:spAutoFit/>
          </a:bodyPr>
          <a:lstStyle/>
          <a:p>
            <a:pPr algn="l"/>
          </a:p>
          <a:p>
            <a:pPr>
              <a:lnSpc>
                <a:spcPct val="130000"/>
              </a:lnSpc>
              <a:spcBef>
                <a:spcPts val="0"/>
              </a:spcBef>
              <a:spcAft>
                <a:spcPts val="600"/>
              </a:spcAft>
            </a:pPr>
            <a:r>
              <a:rPr sz="1150" b="1" i="0">
                <a:solidFill>
                  <a:srgbClr val="1E3A6E"/>
                </a:solidFill>
                <a:latin typeface="Calibri"/>
              </a:rPr>
              <a:t>R4 survived inside the fix for R4. </a:t>
            </a:r>
            <a:r>
              <a:rPr sz="1150" b="0" i="0">
                <a:solidFill>
                  <a:srgbClr val="444F60"/>
                </a:solidFill>
                <a:latin typeface="Calibri"/>
              </a:rPr>
              <a:t>The check comparing status lines only looked at documents that *declared* one, and not one of the book's twenty-nine chapters did — so the book opted out of the check written to stop drift, for free. That is how the section headed *"the one to read before believing anything else"* still carried a retracted milestone claim.</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EVIDENCE · THE HONEST LIST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Where the evidence does not reach</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26 · What none of it catches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68</a:t>
            </a:r>
          </a:p>
        </p:txBody>
      </p:sp>
      <p:graphicFrame>
        <p:nvGraphicFramePr>
          <p:cNvPr id="10" name="Table 9"/>
          <p:cNvGraphicFramePr>
            <a:graphicFrameLocks noGrp="1"/>
          </p:cNvGraphicFramePr>
          <p:nvPr/>
        </p:nvGraphicFramePr>
        <p:xfrm>
          <a:off x="777240" y="1353312"/>
          <a:ext cx="10637214" cy="2838765"/>
        </p:xfrm>
        <a:graphic>
          <a:graphicData uri="http://schemas.openxmlformats.org/drawingml/2006/table">
            <a:tbl>
              <a:tblPr firstRow="1">
                <a:tableStyleId>{5C22544A-7EE6-4342-B048-85BDC9FD1C3A}</a:tableStyleId>
              </a:tblPr>
              <a:tblGrid>
                <a:gridCol w="3209504"/>
                <a:gridCol w="7427710"/>
              </a:tblGrid>
              <a:tr h="333781">
                <a:tc>
                  <a:txBody>
                    <a:bodyPr wrap="square"/>
                    <a:lstStyle/>
                    <a:p>
                      <a:pPr algn="l"/>
                      <a:r>
                        <a:rPr sz="1100" b="1">
                          <a:solidFill>
                            <a:srgbClr val="FFFFFF"/>
                          </a:solidFill>
                          <a:latin typeface="Calibri"/>
                        </a:rPr>
                        <a:t/>
                      </a:r>
                    </a:p>
                  </a:txBody>
                  <a:tcPr marL="82296" marR="64008" marT="32004" marB="32004" anchor="ctr">
                    <a:solidFill>
                      <a:srgbClr val="1E3A6E"/>
                    </a:solidFill>
                  </a:tcPr>
                </a:tc>
                <a:tc>
                  <a:txBody>
                    <a:bodyPr wrap="square"/>
                    <a:lstStyle/>
                    <a:p>
                      <a:pPr algn="l"/>
                      <a:r>
                        <a:rPr sz="1100" b="1">
                          <a:solidFill>
                            <a:srgbClr val="FFFFFF"/>
                          </a:solidFill>
                          <a:latin typeface="Calibri"/>
                        </a:rPr>
                        <a:t>What it means</a:t>
                      </a:r>
                    </a:p>
                  </a:txBody>
                  <a:tcPr marL="82296" marR="64008" marT="32004" marB="32004" anchor="ctr">
                    <a:solidFill>
                      <a:srgbClr val="1E3A6E"/>
                    </a:solidFill>
                  </a:tcPr>
                </a:tc>
              </a:tr>
              <a:tr h="632040">
                <a:tc>
                  <a:txBody>
                    <a:bodyPr wrap="square"/>
                    <a:lstStyle/>
                    <a:p>
                      <a:pPr algn="l"/>
                      <a:r>
                        <a:rPr sz="950" b="0">
                          <a:solidFill>
                            <a:srgbClr val="0E1726"/>
                          </a:solidFill>
                          <a:latin typeface="Calibri"/>
                        </a:rPr>
                        <a:t>Documentation is gated **syntactically**</a:t>
                      </a:r>
                    </a:p>
                  </a:txBody>
                  <a:tcPr marL="82296" marR="64008" marT="32004" marB="32004" anchor="ctr">
                    <a:solidFill>
                      <a:srgbClr val="FFFFFF"/>
                    </a:solidFill>
                  </a:tcPr>
                </a:tc>
                <a:tc>
                  <a:txBody>
                    <a:bodyPr wrap="square"/>
                    <a:lstStyle/>
                    <a:p>
                      <a:pPr algn="l"/>
                      <a:r>
                        <a:rPr sz="950" b="0">
                          <a:solidFill>
                            <a:srgbClr val="0E1726"/>
                          </a:solidFill>
                          <a:latin typeface="Calibri"/>
                        </a:rPr>
                        <a:t>Links resolve, pins match, crate names exist, status lines agree. No gate checks a behaviour, a config key, an environment variable, a command name, or a claim that something is enforced. Every one of the 129 findings lived in that space.</a:t>
                      </a:r>
                    </a:p>
                  </a:txBody>
                  <a:tcPr marL="82296" marR="64008" marT="32004" marB="32004" anchor="ctr">
                    <a:solidFill>
                      <a:srgbClr val="FFFFFF"/>
                    </a:solidFill>
                  </a:tcPr>
                </a:tc>
              </a:tr>
              <a:tr h="310896">
                <a:tc>
                  <a:txBody>
                    <a:bodyPr wrap="square"/>
                    <a:lstStyle/>
                    <a:p>
                      <a:pPr algn="l"/>
                      <a:r>
                        <a:rPr sz="950" b="0">
                          <a:solidFill>
                            <a:srgbClr val="0E1726"/>
                          </a:solidFill>
                          <a:latin typeface="Calibri"/>
                        </a:rPr>
                        <a:t>A crate name inside a code fence is invisible</a:t>
                      </a:r>
                    </a:p>
                  </a:txBody>
                  <a:tcPr marL="82296" marR="64008" marT="32004" marB="32004" anchor="ctr">
                    <a:solidFill>
                      <a:srgbClr val="FBFAF7"/>
                    </a:solidFill>
                  </a:tcPr>
                </a:tc>
                <a:tc>
                  <a:txBody>
                    <a:bodyPr wrap="square"/>
                    <a:lstStyle/>
                    <a:p>
                      <a:pPr algn="l"/>
                      <a:r>
                        <a:rPr sz="950" b="0">
                          <a:solidFill>
                            <a:srgbClr val="0E1726"/>
                          </a:solidFill>
                          <a:latin typeface="Calibri"/>
                        </a:rPr>
                        <a:t>`check-docs` pairs single backticks, and a fenced block is where stale architecture diagrams live.</a:t>
                      </a:r>
                    </a:p>
                  </a:txBody>
                  <a:tcPr marL="82296" marR="64008" marT="32004" marB="32004" anchor="ctr">
                    <a:solidFill>
                      <a:srgbClr val="FBFAF7"/>
                    </a:solidFill>
                  </a:tcPr>
                </a:tc>
              </a:tr>
              <a:tr h="470128">
                <a:tc>
                  <a:txBody>
                    <a:bodyPr wrap="square"/>
                    <a:lstStyle/>
                    <a:p>
                      <a:pPr algn="l"/>
                      <a:r>
                        <a:rPr sz="950" b="0">
                          <a:solidFill>
                            <a:srgbClr val="0E1726"/>
                          </a:solidFill>
                          <a:latin typeface="Calibri"/>
                        </a:rPr>
                        <a:t>Numbers propagate from comments into prose</a:t>
                      </a:r>
                    </a:p>
                  </a:txBody>
                  <a:tcPr marL="82296" marR="64008" marT="32004" marB="32004" anchor="ctr">
                    <a:solidFill>
                      <a:srgbClr val="FFFFFF"/>
                    </a:solidFill>
                  </a:tcPr>
                </a:tc>
                <a:tc>
                  <a:txBody>
                    <a:bodyPr wrap="square"/>
                    <a:lstStyle/>
                    <a:p>
                      <a:pPr algn="l"/>
                      <a:r>
                        <a:rPr sz="950" b="0">
                          <a:solidFill>
                            <a:srgbClr val="0E1726"/>
                          </a:solidFill>
                          <a:latin typeface="Calibri"/>
                        </a:rPr>
                        <a:t>*"299 source files publish through the atomic writer"* travelled from a comment in the gate's own source into a chapter. Ten files import it.</a:t>
                      </a:r>
                    </a:p>
                  </a:txBody>
                  <a:tcPr marL="82296" marR="64008" marT="32004" marB="32004" anchor="ctr">
                    <a:solidFill>
                      <a:srgbClr val="FFFFFF"/>
                    </a:solidFill>
                  </a:tcPr>
                </a:tc>
              </a:tr>
              <a:tr h="310896">
                <a:tc>
                  <a:txBody>
                    <a:bodyPr wrap="square"/>
                    <a:lstStyle/>
                    <a:p>
                      <a:pPr algn="l"/>
                      <a:r>
                        <a:rPr sz="950" b="0">
                          <a:solidFill>
                            <a:srgbClr val="0E1726"/>
                          </a:solidFill>
                          <a:latin typeface="Calibri"/>
                        </a:rPr>
                        <a:t>Nine gate modules have no rejection test</a:t>
                      </a:r>
                    </a:p>
                  </a:txBody>
                  <a:tcPr marL="82296" marR="64008" marT="32004" marB="32004" anchor="ctr">
                    <a:solidFill>
                      <a:srgbClr val="FBFAF7"/>
                    </a:solidFill>
                  </a:tcPr>
                </a:tc>
                <a:tc>
                  <a:txBody>
                    <a:bodyPr wrap="square"/>
                    <a:lstStyle/>
                    <a:p>
                      <a:pPr algn="l"/>
                      <a:r>
                        <a:rPr sz="950" b="0">
                          <a:solidFill>
                            <a:srgbClr val="0E1726"/>
                          </a:solidFill>
                          <a:latin typeface="Calibri"/>
                        </a:rPr>
                        <a:t>A check that has never been shown to fail is one nobody has shown to work.</a:t>
                      </a:r>
                    </a:p>
                  </a:txBody>
                  <a:tcPr marL="82296" marR="64008" marT="32004" marB="32004" anchor="ctr">
                    <a:solidFill>
                      <a:srgbClr val="FBFAF7"/>
                    </a:solidFill>
                  </a:tcPr>
                </a:tc>
              </a:tr>
              <a:tr h="470128">
                <a:tc>
                  <a:txBody>
                    <a:bodyPr wrap="square"/>
                    <a:lstStyle/>
                    <a:p>
                      <a:pPr algn="l"/>
                      <a:r>
                        <a:rPr sz="950" b="0">
                          <a:solidFill>
                            <a:srgbClr val="0E1726"/>
                          </a:solidFill>
                          <a:latin typeface="Calibri"/>
                        </a:rPr>
                        <a:t>Fifteen of eighteen objectives are unmeasured</a:t>
                      </a:r>
                    </a:p>
                  </a:txBody>
                  <a:tcPr marL="82296" marR="64008" marT="32004" marB="32004" anchor="ctr">
                    <a:solidFill>
                      <a:srgbClr val="FFFFFF"/>
                    </a:solidFill>
                  </a:tcPr>
                </a:tc>
                <a:tc>
                  <a:txBody>
                    <a:bodyPr wrap="square"/>
                    <a:lstStyle/>
                    <a:p>
                      <a:pPr algn="l"/>
                      <a:r>
                        <a:rPr sz="950" b="0">
                          <a:solidFill>
                            <a:srgbClr val="0E1726"/>
                          </a:solidFill>
                          <a:latin typeface="Calibri"/>
                        </a:rPr>
                        <a:t>And the gate measuring the other three drives the engine directly — never crossing the server or the wire — so every per-statement cost is outside the measured path.</a:t>
                      </a:r>
                    </a:p>
                  </a:txBody>
                  <a:tcPr marL="82296" marR="64008" marT="32004" marB="32004" anchor="ctr">
                    <a:solidFill>
                      <a:srgbClr val="FFFFFF"/>
                    </a:solidFill>
                  </a:tcPr>
                </a:tc>
              </a:tr>
              <a:tr h="310896">
                <a:tc>
                  <a:txBody>
                    <a:bodyPr wrap="square"/>
                    <a:lstStyle/>
                    <a:p>
                      <a:pPr algn="l"/>
                      <a:r>
                        <a:rPr sz="950" b="0">
                          <a:solidFill>
                            <a:srgbClr val="0E1726"/>
                          </a:solidFill>
                          <a:latin typeface="Calibri"/>
                        </a:rPr>
                        <a:t>Fourteen end-to-end tests pass without running</a:t>
                      </a:r>
                    </a:p>
                  </a:txBody>
                  <a:tcPr marL="82296" marR="64008" marT="32004" marB="32004" anchor="ctr">
                    <a:solidFill>
                      <a:srgbClr val="FBFAF7"/>
                    </a:solidFill>
                  </a:tcPr>
                </a:tc>
                <a:tc>
                  <a:txBody>
                    <a:bodyPr wrap="square"/>
                    <a:lstStyle/>
                    <a:p>
                      <a:pPr algn="l"/>
                      <a:r>
                        <a:rPr sz="950" b="0">
                          <a:solidFill>
                            <a:srgbClr val="0E1726"/>
                          </a:solidFill>
                          <a:latin typeface="Calibri"/>
                        </a:rPr>
                        <a:t>When PostgreSQL is not configured, which is the CI configuration. One variable makes it a failure; CI does not set it.</a:t>
                      </a:r>
                    </a:p>
                  </a:txBody>
                  <a:tcPr marL="82296" marR="64008" marT="32004" marB="32004" anchor="ctr">
                    <a:solidFill>
                      <a:srgbClr val="FBFAF7"/>
                    </a:solidFill>
                  </a:tcPr>
                </a:tc>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EVIDENCE · THE SHARPEST ONE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And the gate that measured nothing</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26 · What none of it catches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69</a:t>
            </a:r>
          </a:p>
        </p:txBody>
      </p:sp>
      <p:sp>
        <p:nvSpPr>
          <p:cNvPr id="10" name="TextBox 9"/>
          <p:cNvSpPr txBox="1"/>
          <p:nvPr/>
        </p:nvSpPr>
        <p:spPr>
          <a:xfrm>
            <a:off x="777240" y="1353312"/>
            <a:ext cx="10637215" cy="2194560"/>
          </a:xfrm>
          <a:prstGeom prst="rect">
            <a:avLst/>
          </a:prstGeom>
          <a:noFill/>
        </p:spPr>
        <p:txBody>
          <a:bodyPr wrap="square" lIns="0" rIns="0" tIns="0" bIns="0" anchor="t">
            <a:spAutoFit/>
          </a:bodyPr>
          <a:lstStyle/>
          <a:p>
            <a:pPr algn="l">
              <a:lnSpc>
                <a:spcPct val="130000"/>
              </a:lnSpc>
              <a:spcBef>
                <a:spcPts val="0"/>
              </a:spcBef>
              <a:spcAft>
                <a:spcPts val="1000"/>
              </a:spcAft>
            </a:pPr>
            <a:r>
              <a:rPr sz="1250" b="0" i="0">
                <a:solidFill>
                  <a:srgbClr val="0E1726"/>
                </a:solidFill>
                <a:latin typeface="Calibri"/>
              </a:rPr>
              <a:t>`check-catalogues` fails when a documented error code has no construction site. It asked whether the sources contain `Error::CoverageGap {`.</a:t>
            </a:r>
          </a:p>
        </p:txBody>
      </p:sp>
      <p:sp>
        <p:nvSpPr>
          <p:cNvPr id="11" name="Rectangle 10"/>
          <p:cNvSpPr/>
          <p:nvPr/>
        </p:nvSpPr>
        <p:spPr>
          <a:xfrm>
            <a:off x="777240" y="2176272"/>
            <a:ext cx="8509772" cy="1639062"/>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2176272"/>
            <a:ext cx="41148" cy="1639062"/>
          </a:xfrm>
          <a:prstGeom prst="rect">
            <a:avLst/>
          </a:prstGeom>
          <a:solidFill>
            <a:srgbClr val="444F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78408" y="2267712"/>
            <a:ext cx="8144012" cy="219456"/>
          </a:xfrm>
          <a:prstGeom prst="rect">
            <a:avLst/>
          </a:prstGeom>
          <a:noFill/>
        </p:spPr>
        <p:txBody>
          <a:bodyPr wrap="square" lIns="0" rIns="0" tIns="0" bIns="0" anchor="t">
            <a:spAutoFit/>
          </a:bodyPr>
          <a:lstStyle/>
          <a:p>
            <a:pPr algn="l">
              <a:spcBef>
                <a:spcPts val="0"/>
              </a:spcBef>
              <a:spcAft>
                <a:spcPts val="0"/>
              </a:spcAft>
            </a:pPr>
            <a:r>
              <a:rPr sz="900" b="1" i="0">
                <a:solidFill>
                  <a:srgbClr val="1E3A6E"/>
                </a:solidFill>
                <a:latin typeface="Calibri"/>
              </a:rPr>
              <a:t>a different type, in a different crate</a:t>
            </a:r>
          </a:p>
        </p:txBody>
      </p:sp>
      <p:sp>
        <p:nvSpPr>
          <p:cNvPr id="14" name="TextBox 13"/>
          <p:cNvSpPr txBox="1"/>
          <p:nvPr/>
        </p:nvSpPr>
        <p:spPr>
          <a:xfrm>
            <a:off x="978408" y="2569463"/>
            <a:ext cx="8144012" cy="1163574"/>
          </a:xfrm>
          <a:prstGeom prst="rect">
            <a:avLst/>
          </a:prstGeom>
          <a:noFill/>
        </p:spPr>
        <p:txBody>
          <a:bodyPr wrap="square" lIns="0" rIns="0" tIns="0" bIns="0" anchor="t">
            <a:spAutoFit/>
          </a:bodyPr>
          <a:lstStyle/>
          <a:p>
            <a:pPr algn="l">
              <a:lnSpc>
                <a:spcPct val="134000"/>
              </a:lnSpc>
              <a:spcBef>
                <a:spcPts val="0"/>
              </a:spcBef>
              <a:spcAft>
                <a:spcPts val="0"/>
              </a:spcAft>
            </a:pPr>
            <a:r>
              <a:rPr sz="1000" b="0" i="0">
                <a:solidFill>
                  <a:srgbClr val="0E1726"/>
                </a:solidFill>
                <a:latin typeface="Consolas"/>
              </a:rPr>
              <a:t>crates/sankhya-plan/src/splice.rs:151</a:t>
            </a:r>
          </a:p>
          <a:p>
            <a:pPr>
              <a:lnSpc>
                <a:spcPct val="134000"/>
              </a:lnSpc>
              <a:spcBef>
                <a:spcPts val="0"/>
              </a:spcBef>
              <a:spcAft>
                <a:spcPts val="0"/>
              </a:spcAft>
            </a:pPr>
            <a:r>
              <a:rPr sz="1000" b="0" i="0">
                <a:solidFill>
                  <a:srgbClr val="0E1726"/>
                </a:solidFill>
                <a:latin typeface="Consolas"/>
              </a:rPr>
              <a:t> </a:t>
            </a:r>
          </a:p>
          <a:p>
            <a:pPr>
              <a:lnSpc>
                <a:spcPct val="134000"/>
              </a:lnSpc>
              <a:spcBef>
                <a:spcPts val="0"/>
              </a:spcBef>
              <a:spcAft>
                <a:spcPts val="0"/>
              </a:spcAft>
            </a:pPr>
            <a:r>
              <a:rPr sz="1000" b="0" i="0">
                <a:solidFill>
                  <a:srgbClr val="0E1726"/>
                </a:solidFill>
                <a:latin typeface="Consolas"/>
              </a:rPr>
              <a:t>    return Err(SpliceError::CoverageGap {</a:t>
            </a:r>
          </a:p>
          <a:p>
            <a:pPr>
              <a:lnSpc>
                <a:spcPct val="134000"/>
              </a:lnSpc>
              <a:spcBef>
                <a:spcPts val="0"/>
              </a:spcBef>
              <a:spcAft>
                <a:spcPts val="0"/>
              </a:spcAft>
            </a:pPr>
            <a:r>
              <a:rPr sz="1000" b="0" i="0">
                <a:solidFill>
                  <a:srgbClr val="0E1726"/>
                </a:solidFill>
                <a:latin typeface="Consolas"/>
              </a:rPr>
              <a:t>                     ^^^^^^^^^^^^^^^^^^^^^</a:t>
            </a:r>
          </a:p>
          <a:p>
            <a:pPr>
              <a:lnSpc>
                <a:spcPct val="134000"/>
              </a:lnSpc>
              <a:spcBef>
                <a:spcPts val="0"/>
              </a:spcBef>
              <a:spcAft>
                <a:spcPts val="0"/>
              </a:spcAft>
            </a:pPr>
            <a:r>
              <a:rPr sz="1000" b="0" i="0">
                <a:solidFill>
                  <a:srgbClr val="0E1726"/>
                </a:solidFill>
                <a:latin typeface="Consolas"/>
              </a:rPr>
              <a:t>                     contains "Error::CoverageGap {"</a:t>
            </a:r>
          </a:p>
        </p:txBody>
      </p:sp>
      <p:sp>
        <p:nvSpPr>
          <p:cNvPr id="15" name="TextBox 14"/>
          <p:cNvSpPr txBox="1"/>
          <p:nvPr/>
        </p:nvSpPr>
        <p:spPr>
          <a:xfrm>
            <a:off x="777240" y="3639312"/>
            <a:ext cx="10637215" cy="1645920"/>
          </a:xfrm>
          <a:prstGeom prst="rect">
            <a:avLst/>
          </a:prstGeom>
          <a:noFill/>
        </p:spPr>
        <p:txBody>
          <a:bodyPr wrap="square" lIns="0" rIns="0" tIns="0" bIns="0" anchor="t">
            <a:spAutoFit/>
          </a:bodyPr>
          <a:lstStyle/>
          <a:p>
            <a:pPr algn="l"/>
          </a:p>
          <a:p>
            <a:pPr>
              <a:lnSpc>
                <a:spcPct val="130000"/>
              </a:lnSpc>
              <a:spcBef>
                <a:spcPts val="0"/>
              </a:spcBef>
              <a:spcAft>
                <a:spcPts val="1000"/>
              </a:spcAft>
            </a:pPr>
            <a:r>
              <a:rPr sz="1200" b="1" i="0">
                <a:solidFill>
                  <a:srgbClr val="0E1726"/>
                </a:solidFill>
                <a:latin typeface="Calibri"/>
              </a:rPr>
              <a:t>So `SNK-S0001` read as producible while nothing in the workspace could raise it. </a:t>
            </a:r>
            <a:r>
              <a:rPr sz="1200" b="0" i="0">
                <a:solidFill>
                  <a:srgbClr val="444F60"/>
                </a:solidFill>
                <a:latin typeface="Calibri"/>
              </a:rPr>
              <a:t>It is `Class::Fatal` — it pages — and a runbook had been written for it. Four of the six codes that page cannot fire; the catalogue said three.</a:t>
            </a:r>
          </a:p>
          <a:p>
            <a:pPr>
              <a:lnSpc>
                <a:spcPct val="130000"/>
              </a:lnSpc>
              <a:spcBef>
                <a:spcPts val="0"/>
              </a:spcBef>
              <a:spcAft>
                <a:spcPts val="600"/>
              </a:spcAft>
            </a:pPr>
            <a:r>
              <a:rPr sz="1200" b="1" i="0">
                <a:solidFill>
                  <a:srgbClr val="1E3A6E"/>
                </a:solidFill>
                <a:latin typeface="Calibri"/>
              </a:rPr>
              <a:t>The check built to find exactly this failed at exactly this, </a:t>
            </a:r>
            <a:r>
              <a:rPr sz="1200" b="0" i="0">
                <a:solidFill>
                  <a:srgbClr val="444F60"/>
                </a:solidFill>
                <a:latin typeface="Calibri"/>
              </a:rPr>
              <a:t>and it was found by a reviewer reading the gate rather than trusting it. It requires a word boundary now, with a test that another type's variant of the same name does not count.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AUDIT · WHAT THE WORK TURNED UP</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Fixing it found more of it</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26 · What none of it catches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70</a:t>
            </a:r>
          </a:p>
        </p:txBody>
      </p:sp>
      <p:graphicFrame>
        <p:nvGraphicFramePr>
          <p:cNvPr id="10" name="Table 9"/>
          <p:cNvGraphicFramePr>
            <a:graphicFrameLocks noGrp="1"/>
          </p:cNvGraphicFramePr>
          <p:nvPr/>
        </p:nvGraphicFramePr>
        <p:xfrm>
          <a:off x="777240" y="1353312"/>
          <a:ext cx="10637214" cy="2687101"/>
        </p:xfrm>
        <a:graphic>
          <a:graphicData uri="http://schemas.openxmlformats.org/drawingml/2006/table">
            <a:tbl>
              <a:tblPr firstRow="1">
                <a:tableStyleId>{5C22544A-7EE6-4342-B048-85BDC9FD1C3A}</a:tableStyleId>
              </a:tblPr>
              <a:tblGrid>
                <a:gridCol w="3301204"/>
                <a:gridCol w="7336010"/>
              </a:tblGrid>
              <a:tr h="333781">
                <a:tc>
                  <a:txBody>
                    <a:bodyPr wrap="square"/>
                    <a:lstStyle/>
                    <a:p>
                      <a:pPr algn="l"/>
                      <a:r>
                        <a:rPr sz="1100" b="1">
                          <a:solidFill>
                            <a:srgbClr val="FFFFFF"/>
                          </a:solidFill>
                          <a:latin typeface="Calibri"/>
                        </a:rPr>
                        <a:t>Found while fixing something else</a:t>
                      </a:r>
                    </a:p>
                  </a:txBody>
                  <a:tcPr marL="82296" marR="64008" marT="32004" marB="32004" anchor="ctr">
                    <a:solidFill>
                      <a:srgbClr val="1E3A6E"/>
                    </a:solidFill>
                  </a:tcPr>
                </a:tc>
                <a:tc>
                  <a:txBody>
                    <a:bodyPr wrap="square"/>
                    <a:lstStyle/>
                    <a:p>
                      <a:pPr algn="l"/>
                      <a:r>
                        <a:rPr sz="1100" b="1">
                          <a:solidFill>
                            <a:srgbClr val="FFFFFF"/>
                          </a:solidFill>
                          <a:latin typeface="Calibri"/>
                        </a:rPr>
                        <a:t>What it was</a:t>
                      </a:r>
                    </a:p>
                  </a:txBody>
                  <a:tcPr marL="82296" marR="64008" marT="32004" marB="32004" anchor="ctr">
                    <a:solidFill>
                      <a:srgbClr val="1E3A6E"/>
                    </a:solidFill>
                  </a:tcPr>
                </a:tc>
              </a:tr>
              <a:tr h="632040">
                <a:tc>
                  <a:txBody>
                    <a:bodyPr wrap="square"/>
                    <a:lstStyle/>
                    <a:p>
                      <a:pPr algn="l"/>
                      <a:r>
                        <a:rPr sz="950" b="0">
                          <a:solidFill>
                            <a:srgbClr val="0E1726"/>
                          </a:solidFill>
                          <a:latin typeface="Calibri"/>
                        </a:rPr>
                        <a:t>An unreadable log replayed as an **empty table**</a:t>
                      </a:r>
                    </a:p>
                  </a:txBody>
                  <a:tcPr marL="82296" marR="64008" marT="32004" marB="32004" anchor="ctr">
                    <a:solidFill>
                      <a:srgbClr val="FFFFFF"/>
                    </a:solidFill>
                  </a:tcPr>
                </a:tc>
                <a:tc>
                  <a:txBody>
                    <a:bodyPr wrap="square"/>
                    <a:lstStyle/>
                    <a:p>
                      <a:pPr algn="l"/>
                      <a:r>
                        <a:rPr sz="950" b="0">
                          <a:solidFill>
                            <a:srgbClr val="0E1726"/>
                          </a:solidFill>
                          <a:latin typeface="Calibri"/>
                        </a:rPr>
                        <a:t>`Path::exists` answers `false` for every failure, including *this directory cannot be searched*. A `_delta_log` under a half-mounted export ended the commit walk at version zero — so a `SELECT` returned no rows and **succeeded**. One `chmod` away.</a:t>
                      </a:r>
                    </a:p>
                  </a:txBody>
                  <a:tcPr marL="82296" marR="64008" marT="32004" marB="32004" anchor="ctr">
                    <a:solidFill>
                      <a:srgbClr val="FFFFFF"/>
                    </a:solidFill>
                  </a:tcPr>
                </a:tc>
              </a:tr>
              <a:tr h="470128">
                <a:tc>
                  <a:txBody>
                    <a:bodyPr wrap="square"/>
                    <a:lstStyle/>
                    <a:p>
                      <a:pPr algn="l"/>
                      <a:r>
                        <a:rPr sz="950" b="0">
                          <a:solidFill>
                            <a:srgbClr val="0E1726"/>
                          </a:solidFill>
                          <a:latin typeface="Calibri"/>
                        </a:rPr>
                        <a:t>The audit stopped writing to disk after 1,024 records</a:t>
                      </a:r>
                    </a:p>
                  </a:txBody>
                  <a:tcPr marL="82296" marR="64008" marT="32004" marB="32004" anchor="ctr">
                    <a:solidFill>
                      <a:srgbClr val="FBFAF7"/>
                    </a:solidFill>
                  </a:tcPr>
                </a:tc>
                <a:tc>
                  <a:txBody>
                    <a:bodyPr wrap="square"/>
                    <a:lstStyle/>
                    <a:p>
                      <a:pPr algn="l"/>
                      <a:r>
                        <a:rPr sz="950" b="0">
                          <a:solidFill>
                            <a:srgbClr val="0E1726"/>
                          </a:solidFill>
                          <a:latin typeface="Calibri"/>
                        </a:rPr>
                        <a:t>Silently, with its own alert at zero. The record index was the whole-chain count; the buffer was the 1,024 window. On restart it was immediate rather than eventual.</a:t>
                      </a:r>
                    </a:p>
                  </a:txBody>
                  <a:tcPr marL="82296" marR="64008" marT="32004" marB="32004" anchor="ctr">
                    <a:solidFill>
                      <a:srgbClr val="FBFAF7"/>
                    </a:solidFill>
                  </a:tcPr>
                </a:tc>
              </a:tr>
              <a:tr h="470128">
                <a:tc>
                  <a:txBody>
                    <a:bodyPr wrap="square"/>
                    <a:lstStyle/>
                    <a:p>
                      <a:pPr algn="l"/>
                      <a:r>
                        <a:rPr sz="950" b="0">
                          <a:solidFill>
                            <a:srgbClr val="0E1726"/>
                          </a:solidFill>
                          <a:latin typeface="Calibri"/>
                        </a:rPr>
                        <a:t>A memory bound that was per-statement</a:t>
                      </a:r>
                    </a:p>
                  </a:txBody>
                  <a:tcPr marL="82296" marR="64008" marT="32004" marB="32004" anchor="ctr">
                    <a:solidFill>
                      <a:srgbClr val="FFFFFF"/>
                    </a:solidFill>
                  </a:tcPr>
                </a:tc>
                <a:tc>
                  <a:txBody>
                    <a:bodyPr wrap="square"/>
                    <a:lstStyle/>
                    <a:p>
                      <a:pPr algn="l"/>
                      <a:r>
                        <a:rPr sz="950" b="0">
                          <a:solidFill>
                            <a:srgbClr val="0E1726"/>
                          </a:solidFill>
                          <a:latin typeface="Calibri"/>
                        </a:rPr>
                        <a:t>Ten concurrent statements got ten gibibytes while the setting said *between them*. Introduced by the item that added the bound.</a:t>
                      </a:r>
                    </a:p>
                  </a:txBody>
                  <a:tcPr marL="82296" marR="64008" marT="32004" marB="32004" anchor="ctr">
                    <a:solidFill>
                      <a:srgbClr val="FFFFFF"/>
                    </a:solidFill>
                  </a:tcPr>
                </a:tc>
              </a:tr>
              <a:tr h="310896">
                <a:tc>
                  <a:txBody>
                    <a:bodyPr wrap="square"/>
                    <a:lstStyle/>
                    <a:p>
                      <a:pPr algn="l"/>
                      <a:r>
                        <a:rPr sz="950" b="0">
                          <a:solidFill>
                            <a:srgbClr val="0E1726"/>
                          </a:solidFill>
                          <a:latin typeface="Calibri"/>
                        </a:rPr>
                        <a:t>A shape that leaked the caller's own text</a:t>
                      </a:r>
                    </a:p>
                  </a:txBody>
                  <a:tcPr marL="82296" marR="64008" marT="32004" marB="32004" anchor="ctr">
                    <a:solidFill>
                      <a:srgbClr val="FBFAF7"/>
                    </a:solidFill>
                  </a:tcPr>
                </a:tc>
                <a:tc>
                  <a:txBody>
                    <a:bodyPr wrap="square"/>
                    <a:lstStyle/>
                    <a:p>
                      <a:pPr algn="l"/>
                      <a:r>
                        <a:rPr sz="950" b="0">
                          <a:solidFill>
                            <a:srgbClr val="0E1726"/>
                          </a:solidFill>
                          <a:latin typeface="Calibri"/>
                        </a:rPr>
                        <a:t>`select nosuchcolumn` — a column the caller named — recorded in the durable audit since the day it was made durable.</a:t>
                      </a:r>
                    </a:p>
                  </a:txBody>
                  <a:tcPr marL="82296" marR="64008" marT="32004" marB="32004" anchor="ctr">
                    <a:solidFill>
                      <a:srgbClr val="FBFAF7"/>
                    </a:solidFill>
                  </a:tcPr>
                </a:tc>
              </a:tr>
              <a:tr h="470128">
                <a:tc>
                  <a:txBody>
                    <a:bodyPr wrap="square"/>
                    <a:lstStyle/>
                    <a:p>
                      <a:pPr algn="l"/>
                      <a:r>
                        <a:rPr sz="950" b="0">
                          <a:solidFill>
                            <a:srgbClr val="0E1726"/>
                          </a:solidFill>
                          <a:latin typeface="Calibri"/>
                        </a:rPr>
                        <a:t>The container image misses its own baseline</a:t>
                      </a:r>
                    </a:p>
                  </a:txBody>
                  <a:tcPr marL="82296" marR="64008" marT="32004" marB="32004" anchor="ctr">
                    <a:solidFill>
                      <a:srgbClr val="FFFFFF"/>
                    </a:solidFill>
                  </a:tcPr>
                </a:tc>
                <a:tc>
                  <a:txBody>
                    <a:bodyPr wrap="square"/>
                    <a:lstStyle/>
                    <a:p>
                      <a:pPr algn="l"/>
                      <a:r>
                        <a:rPr sz="950" b="0">
                          <a:solidFill>
                            <a:srgbClr val="0E1726"/>
                          </a:solidFill>
                          <a:latin typeface="Calibri"/>
                        </a:rPr>
                        <a:t>Built on Debian 11, needs `GLIBC_2.30`, declares 2.28. Found by building the image rather than shipping the Dockerfile unbuilt.</a:t>
                      </a:r>
                    </a:p>
                  </a:txBody>
                  <a:tcPr marL="82296" marR="64008" marT="32004" marB="32004" anchor="ctr">
                    <a:solidFill>
                      <a:srgbClr val="FFFFFF"/>
                    </a:solidFill>
                  </a:tcPr>
                </a:tc>
              </a:tr>
            </a:tbl>
          </a:graphicData>
        </a:graphic>
      </p:graphicFrame>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THE AUDIT · THE REMAINDER</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What is still open, named</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26 · What none of it catches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71</a:t>
            </a:r>
          </a:p>
        </p:txBody>
      </p:sp>
      <p:graphicFrame>
        <p:nvGraphicFramePr>
          <p:cNvPr id="10" name="Table 9"/>
          <p:cNvGraphicFramePr>
            <a:graphicFrameLocks noGrp="1"/>
          </p:cNvGraphicFramePr>
          <p:nvPr/>
        </p:nvGraphicFramePr>
        <p:xfrm>
          <a:off x="777240" y="1353312"/>
          <a:ext cx="10637214" cy="2510053"/>
        </p:xfrm>
        <a:graphic>
          <a:graphicData uri="http://schemas.openxmlformats.org/drawingml/2006/table">
            <a:tbl>
              <a:tblPr firstRow="1">
                <a:tableStyleId>{5C22544A-7EE6-4342-B048-85BDC9FD1C3A}</a:tableStyleId>
              </a:tblPr>
              <a:tblGrid>
                <a:gridCol w="4034805"/>
                <a:gridCol w="6602409"/>
              </a:tblGrid>
              <a:tr h="333781">
                <a:tc>
                  <a:txBody>
                    <a:bodyPr wrap="square"/>
                    <a:lstStyle/>
                    <a:p>
                      <a:pPr algn="l"/>
                      <a:r>
                        <a:rPr sz="1100" b="1">
                          <a:solidFill>
                            <a:srgbClr val="FFFFFF"/>
                          </a:solidFill>
                          <a:latin typeface="Calibri"/>
                        </a:rPr>
                        <a:t/>
                      </a:r>
                    </a:p>
                  </a:txBody>
                  <a:tcPr marL="82296" marR="64008" marT="32004" marB="32004" anchor="ctr">
                    <a:solidFill>
                      <a:srgbClr val="1E3A6E"/>
                    </a:solidFill>
                  </a:tcPr>
                </a:tc>
                <a:tc>
                  <a:txBody>
                    <a:bodyPr wrap="square"/>
                    <a:lstStyle/>
                    <a:p>
                      <a:pPr algn="l"/>
                      <a:r>
                        <a:rPr sz="1100" b="1">
                          <a:solidFill>
                            <a:srgbClr val="FFFFFF"/>
                          </a:solidFill>
                          <a:latin typeface="Calibri"/>
                        </a:rPr>
                        <a:t>State</a:t>
                      </a:r>
                    </a:p>
                  </a:txBody>
                  <a:tcPr marL="82296" marR="64008" marT="32004" marB="32004" anchor="ctr">
                    <a:solidFill>
                      <a:srgbClr val="1E3A6E"/>
                    </a:solidFill>
                  </a:tcPr>
                </a:tc>
              </a:tr>
              <a:tr h="310896">
                <a:tc>
                  <a:txBody>
                    <a:bodyPr wrap="square"/>
                    <a:lstStyle/>
                    <a:p>
                      <a:pPr algn="l"/>
                      <a:r>
                        <a:rPr sz="950" b="0">
                          <a:solidFill>
                            <a:srgbClr val="0E1726"/>
                          </a:solidFill>
                          <a:latin typeface="Calibri"/>
                        </a:rPr>
                        <a:t>No write path from SQL</a:t>
                      </a:r>
                    </a:p>
                  </a:txBody>
                  <a:tcPr marL="82296" marR="64008" marT="32004" marB="32004" anchor="ctr">
                    <a:solidFill>
                      <a:srgbClr val="FFFFFF"/>
                    </a:solidFill>
                  </a:tcPr>
                </a:tc>
                <a:tc>
                  <a:txBody>
                    <a:bodyPr wrap="square"/>
                    <a:lstStyle/>
                    <a:p>
                      <a:pPr algn="l"/>
                      <a:r>
                        <a:rPr sz="950" b="0">
                          <a:solidFill>
                            <a:srgbClr val="0E1726"/>
                          </a:solidFill>
                          <a:latin typeface="Calibri"/>
                        </a:rPr>
                        <a:t>the analytical door is read-only; a warehouse is published to by `sankhya-publish`</a:t>
                      </a:r>
                    </a:p>
                  </a:txBody>
                  <a:tcPr marL="82296" marR="64008" marT="32004" marB="32004" anchor="ctr">
                    <a:solidFill>
                      <a:srgbClr val="FFFFFF"/>
                    </a:solidFill>
                  </a:tcPr>
                </a:tc>
              </a:tr>
              <a:tr h="310896">
                <a:tc>
                  <a:txBody>
                    <a:bodyPr wrap="square"/>
                    <a:lstStyle/>
                    <a:p>
                      <a:pPr algn="l"/>
                      <a:r>
                        <a:rPr sz="950" b="0">
                          <a:solidFill>
                            <a:srgbClr val="0E1726"/>
                          </a:solidFill>
                          <a:latin typeface="Calibri"/>
                        </a:rPr>
                        <a:t>No change-capture runtime</a:t>
                      </a:r>
                    </a:p>
                  </a:txBody>
                  <a:tcPr marL="82296" marR="64008" marT="32004" marB="32004" anchor="ctr">
                    <a:solidFill>
                      <a:srgbClr val="FBFAF7"/>
                    </a:solidFill>
                  </a:tcPr>
                </a:tc>
                <a:tc>
                  <a:txBody>
                    <a:bodyPr wrap="square"/>
                    <a:lstStyle/>
                    <a:p>
                      <a:pPr algn="l"/>
                      <a:r>
                        <a:rPr sz="950" b="0">
                          <a:solidFill>
                            <a:srgbClr val="0E1726"/>
                          </a:solidFill>
                          <a:latin typeface="Calibri"/>
                        </a:rPr>
                        <a:t>the CDC crate carries no client dependency — it cannot open a connection</a:t>
                      </a:r>
                    </a:p>
                  </a:txBody>
                  <a:tcPr marL="82296" marR="64008" marT="32004" marB="32004" anchor="ctr">
                    <a:solidFill>
                      <a:srgbClr val="FBFAF7"/>
                    </a:solidFill>
                  </a:tcPr>
                </a:tc>
              </a:tr>
              <a:tr h="310896">
                <a:tc>
                  <a:txBody>
                    <a:bodyPr wrap="square"/>
                    <a:lstStyle/>
                    <a:p>
                      <a:pPr algn="l"/>
                      <a:r>
                        <a:rPr sz="950" b="0">
                          <a:solidFill>
                            <a:srgbClr val="0E1726"/>
                          </a:solidFill>
                          <a:latin typeface="Calibri"/>
                        </a:rPr>
                        <a:t>The graph cannot answer</a:t>
                      </a:r>
                    </a:p>
                  </a:txBody>
                  <a:tcPr marL="82296" marR="64008" marT="32004" marB="32004" anchor="ctr">
                    <a:solidFill>
                      <a:srgbClr val="FFFFFF"/>
                    </a:solidFill>
                  </a:tcPr>
                </a:tc>
                <a:tc>
                  <a:txBody>
                    <a:bodyPr wrap="square"/>
                    <a:lstStyle/>
                    <a:p>
                      <a:pPr algn="l"/>
                      <a:r>
                        <a:rPr sz="950" b="0">
                          <a:solidFill>
                            <a:srgbClr val="0E1726"/>
                          </a:solidFill>
                          <a:latin typeface="Calibri"/>
                        </a:rPr>
                        <a:t>registered against a freshly constructed empty catalogue on every session</a:t>
                      </a:r>
                    </a:p>
                  </a:txBody>
                  <a:tcPr marL="82296" marR="64008" marT="32004" marB="32004" anchor="ctr">
                    <a:solidFill>
                      <a:srgbClr val="FFFFFF"/>
                    </a:solidFill>
                  </a:tcPr>
                </a:tc>
              </a:tr>
              <a:tr h="310896">
                <a:tc>
                  <a:txBody>
                    <a:bodyPr wrap="square"/>
                    <a:lstStyle/>
                    <a:p>
                      <a:pPr algn="l"/>
                      <a:r>
                        <a:rPr sz="950" b="0">
                          <a:solidFill>
                            <a:srgbClr val="0E1726"/>
                          </a:solidFill>
                          <a:latin typeface="Calibri"/>
                        </a:rPr>
                        <a:t>Packs cannot load</a:t>
                      </a:r>
                    </a:p>
                  </a:txBody>
                  <a:tcPr marL="82296" marR="64008" marT="32004" marB="32004" anchor="ctr">
                    <a:solidFill>
                      <a:srgbClr val="FBFAF7"/>
                    </a:solidFill>
                  </a:tcPr>
                </a:tc>
                <a:tc>
                  <a:txBody>
                    <a:bodyPr wrap="square"/>
                    <a:lstStyle/>
                    <a:p>
                      <a:pPr algn="l"/>
                      <a:r>
                        <a:rPr sz="950" b="0">
                          <a:solidFill>
                            <a:srgbClr val="0E1726"/>
                          </a:solidFill>
                          <a:latin typeface="Calibri"/>
                        </a:rPr>
                        <a:t>the loader is not wired; two of the reference packs are non-financial and the flagship pair never existed</a:t>
                      </a:r>
                    </a:p>
                  </a:txBody>
                  <a:tcPr marL="82296" marR="64008" marT="32004" marB="32004" anchor="ctr">
                    <a:solidFill>
                      <a:srgbClr val="FBFAF7"/>
                    </a:solidFill>
                  </a:tcPr>
                </a:tc>
              </a:tr>
              <a:tr h="310896">
                <a:tc>
                  <a:txBody>
                    <a:bodyPr wrap="square"/>
                    <a:lstStyle/>
                    <a:p>
                      <a:pPr algn="l"/>
                      <a:r>
                        <a:rPr sz="950" b="0">
                          <a:solidFill>
                            <a:srgbClr val="0E1726"/>
                          </a:solidFill>
                          <a:latin typeface="Calibri"/>
                        </a:rPr>
                        <a:t>Cube hierarchies are validated and ignored</a:t>
                      </a:r>
                    </a:p>
                  </a:txBody>
                  <a:tcPr marL="82296" marR="64008" marT="32004" marB="32004" anchor="ctr">
                    <a:solidFill>
                      <a:srgbClr val="FFFFFF"/>
                    </a:solidFill>
                  </a:tcPr>
                </a:tc>
                <a:tc>
                  <a:txBody>
                    <a:bodyPr wrap="square"/>
                    <a:lstStyle/>
                    <a:p>
                      <a:pPr algn="l"/>
                      <a:r>
                        <a:rPr sz="950" b="0">
                          <a:solidFill>
                            <a:srgbClr val="0E1726"/>
                          </a:solidFill>
                          <a:latin typeface="Calibri"/>
                        </a:rPr>
                        <a:t/>
                      </a:r>
                    </a:p>
                  </a:txBody>
                  <a:tcPr marL="82296" marR="64008" marT="32004" marB="32004" anchor="ctr">
                    <a:solidFill>
                      <a:srgbClr val="FFFFFF"/>
                    </a:solidFill>
                  </a:tcPr>
                </a:tc>
              </a:tr>
              <a:tr h="310896">
                <a:tc>
                  <a:txBody>
                    <a:bodyPr wrap="square"/>
                    <a:lstStyle/>
                    <a:p>
                      <a:pPr algn="l"/>
                      <a:r>
                        <a:rPr sz="950" b="0">
                          <a:solidFill>
                            <a:srgbClr val="0E1726"/>
                          </a:solidFill>
                          <a:latin typeface="Calibri"/>
                        </a:rPr>
                        <a:t>Checkpoints erase partitioning and configuration</a:t>
                      </a:r>
                    </a:p>
                  </a:txBody>
                  <a:tcPr marL="82296" marR="64008" marT="32004" marB="32004" anchor="ctr">
                    <a:solidFill>
                      <a:srgbClr val="FBFAF7"/>
                    </a:solidFill>
                  </a:tcPr>
                </a:tc>
                <a:tc>
                  <a:txBody>
                    <a:bodyPr wrap="square"/>
                    <a:lstStyle/>
                    <a:p>
                      <a:pPr algn="l"/>
                      <a:r>
                        <a:rPr sz="950" b="0">
                          <a:solidFill>
                            <a:srgbClr val="0E1726"/>
                          </a:solidFill>
                          <a:latin typeface="Calibri"/>
                        </a:rPr>
                        <a:t>and an unknown action variant still ends a table</a:t>
                      </a:r>
                    </a:p>
                  </a:txBody>
                  <a:tcPr marL="82296" marR="64008" marT="32004" marB="32004" anchor="ctr">
                    <a:solidFill>
                      <a:srgbClr val="FBFAF7"/>
                    </a:solidFill>
                  </a:tcPr>
                </a:tc>
              </a:tr>
              <a:tr h="310896">
                <a:tc>
                  <a:txBody>
                    <a:bodyPr wrap="square"/>
                    <a:lstStyle/>
                    <a:p>
                      <a:pPr algn="l"/>
                      <a:r>
                        <a:rPr sz="950" b="0">
                          <a:solidFill>
                            <a:srgbClr val="0E1726"/>
                          </a:solidFill>
                          <a:latin typeface="Calibri"/>
                        </a:rPr>
                        <a:t>`check-performance` is not in `check-all`</a:t>
                      </a:r>
                    </a:p>
                  </a:txBody>
                  <a:tcPr marL="82296" marR="64008" marT="32004" marB="32004" anchor="ctr">
                    <a:solidFill>
                      <a:srgbClr val="FFFFFF"/>
                    </a:solidFill>
                  </a:tcPr>
                </a:tc>
                <a:tc>
                  <a:txBody>
                    <a:bodyPr wrap="square"/>
                    <a:lstStyle/>
                    <a:p>
                      <a:pPr algn="l"/>
                      <a:r>
                        <a:rPr sz="950" b="0">
                          <a:solidFill>
                            <a:srgbClr val="0E1726"/>
                          </a:solidFill>
                          <a:latin typeface="Calibri"/>
                        </a:rPr>
                        <a:t>so no automated build has ever failed on a performance budget</a:t>
                      </a:r>
                    </a:p>
                  </a:txBody>
                  <a:tcPr marL="82296" marR="64008" marT="32004" marB="32004" anchor="ctr">
                    <a:solidFill>
                      <a:srgbClr val="FFFFFF"/>
                    </a:solidFill>
                  </a:tcPr>
                </a:tc>
              </a:tr>
            </a:tbl>
          </a:graphicData>
        </a:graphic>
      </p:graphicFrame>
      <p:sp>
        <p:nvSpPr>
          <p:cNvPr id="11" name="TextBox 10"/>
          <p:cNvSpPr txBox="1"/>
          <p:nvPr/>
        </p:nvSpPr>
        <p:spPr>
          <a:xfrm>
            <a:off x="777240" y="4082821"/>
            <a:ext cx="10637215" cy="914400"/>
          </a:xfrm>
          <a:prstGeom prst="rect">
            <a:avLst/>
          </a:prstGeom>
          <a:noFill/>
        </p:spPr>
        <p:txBody>
          <a:bodyPr wrap="square" lIns="0" rIns="0" tIns="0" bIns="0" anchor="t">
            <a:spAutoFit/>
          </a:bodyPr>
          <a:lstStyle/>
          <a:p>
            <a:pPr algn="l"/>
          </a:p>
          <a:p>
            <a:pPr>
              <a:lnSpc>
                <a:spcPct val="130000"/>
              </a:lnSpc>
              <a:spcBef>
                <a:spcPts val="0"/>
              </a:spcBef>
              <a:spcAft>
                <a:spcPts val="600"/>
              </a:spcAft>
            </a:pPr>
            <a:r>
              <a:rPr sz="1150" b="1" i="0">
                <a:solidFill>
                  <a:srgbClr val="1E3A6E"/>
                </a:solidFill>
                <a:latin typeface="Calibri"/>
              </a:rPr>
              <a:t>Every one of these is written down in `docs/STATUS.md`, once. </a:t>
            </a:r>
            <a:r>
              <a:rPr sz="1150" b="0" i="0">
                <a:solidFill>
                  <a:srgbClr val="444F60"/>
                </a:solidFill>
                <a:latin typeface="Calibri"/>
              </a:rPr>
              <a:t>It used to be written down in fourteen places, each holding a different piece — which is how a reader could meet six of them and conclude they had the list.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82880" cy="6858000"/>
          </a:xfrm>
          <a:prstGeom prst="rect">
            <a:avLst/>
          </a:prstGeom>
          <a:solidFill>
            <a:srgbClr val="1428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143000" y="2286000"/>
            <a:ext cx="9905695" cy="1828800"/>
          </a:xfrm>
          <a:prstGeom prst="rect">
            <a:avLst/>
          </a:prstGeom>
          <a:noFill/>
        </p:spPr>
        <p:txBody>
          <a:bodyPr wrap="square" lIns="0" rIns="0" tIns="0" bIns="0" anchor="t">
            <a:spAutoFit/>
          </a:bodyPr>
          <a:lstStyle/>
          <a:p>
            <a:pPr algn="l">
              <a:spcBef>
                <a:spcPts val="0"/>
              </a:spcBef>
              <a:spcAft>
                <a:spcPts val="1000"/>
              </a:spcAft>
            </a:pPr>
            <a:r>
              <a:rPr sz="4400" b="0" i="0">
                <a:solidFill>
                  <a:srgbClr val="FFFFFF"/>
                </a:solidFill>
                <a:latin typeface="Georgia"/>
              </a:rPr>
              <a:t>सांख्य</a:t>
            </a:r>
          </a:p>
          <a:p>
            <a:pPr>
              <a:spcBef>
                <a:spcPts val="0"/>
              </a:spcBef>
              <a:spcAft>
                <a:spcPts val="1800"/>
              </a:spcAft>
            </a:pPr>
            <a:r>
              <a:rPr sz="2000" b="0" i="1">
                <a:solidFill>
                  <a:srgbClr val="B9C6DD"/>
                </a:solidFill>
                <a:latin typeface="Georgia"/>
              </a:rPr>
              <a:t>To count is to make completely known.</a:t>
            </a:r>
          </a:p>
          <a:p>
            <a:pPr>
              <a:lnSpc>
                <a:spcPct val="135000"/>
              </a:lnSpc>
              <a:spcBef>
                <a:spcPts val="0"/>
              </a:spcBef>
              <a:spcAft>
                <a:spcPts val="600"/>
              </a:spcAft>
            </a:pPr>
            <a:r>
              <a:rPr sz="1300" b="0" i="0">
                <a:solidFill>
                  <a:srgbClr val="DDE4EF"/>
                </a:solidFill>
                <a:latin typeface="Calibri"/>
              </a:rPr>
              <a:t>An enumeration with a gap in it is not a smaller enumeration. It is a different claim about the world, made silently — and everything in this deck is an attempt to make that impossible to do by accident.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CLOSING · WHAT THIS COMMITS TO</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What is true today</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Closing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72</a:t>
            </a:r>
          </a:p>
        </p:txBody>
      </p:sp>
      <p:sp>
        <p:nvSpPr>
          <p:cNvPr id="10" name="Rectangle 9"/>
          <p:cNvSpPr/>
          <p:nvPr/>
        </p:nvSpPr>
        <p:spPr>
          <a:xfrm>
            <a:off x="777240" y="1353312"/>
            <a:ext cx="5181447" cy="1444752"/>
          </a:xfrm>
          <a:prstGeom prst="rect">
            <a:avLst/>
          </a:prstGeom>
          <a:solidFill>
            <a:srgbClr val="FFFFFF"/>
          </a:solidFill>
          <a:ln w="1143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5181447"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572768"/>
            <a:ext cx="4742535" cy="237744"/>
          </a:xfrm>
          <a:prstGeom prst="rect">
            <a:avLst/>
          </a:prstGeom>
          <a:noFill/>
        </p:spPr>
        <p:txBody>
          <a:bodyPr wrap="square" lIns="0" rIns="0" tIns="0" bIns="0" anchor="t">
            <a:spAutoFit/>
          </a:bodyPr>
          <a:lstStyle/>
          <a:p>
            <a:pPr algn="l">
              <a:spcBef>
                <a:spcPts val="0"/>
              </a:spcBef>
              <a:spcAft>
                <a:spcPts val="0"/>
              </a:spcAft>
            </a:pPr>
            <a:r>
              <a:rPr sz="1000" b="1" i="0">
                <a:solidFill>
                  <a:srgbClr val="1E3A6E"/>
                </a:solidFill>
                <a:latin typeface="Calibri"/>
              </a:rPr>
              <a:t>01</a:t>
            </a:r>
          </a:p>
        </p:txBody>
      </p:sp>
      <p:sp>
        <p:nvSpPr>
          <p:cNvPr id="13" name="TextBox 12"/>
          <p:cNvSpPr txBox="1"/>
          <p:nvPr/>
        </p:nvSpPr>
        <p:spPr>
          <a:xfrm>
            <a:off x="996695" y="1847088"/>
            <a:ext cx="4742535"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1726"/>
                </a:solidFill>
                <a:latin typeface="Georgia"/>
              </a:rPr>
              <a:t>One substrate, and it is the product.</a:t>
            </a:r>
          </a:p>
        </p:txBody>
      </p:sp>
      <p:sp>
        <p:nvSpPr>
          <p:cNvPr id="14" name="TextBox 13"/>
          <p:cNvSpPr txBox="1"/>
          <p:nvPr/>
        </p:nvSpPr>
        <p:spPr>
          <a:xfrm>
            <a:off x="996695" y="2157984"/>
            <a:ext cx="4742535" cy="457200"/>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44F60"/>
                </a:solidFill>
                <a:latin typeface="Calibri"/>
              </a:rPr>
              <a:t>One catalogue, one enforcement point at plan construction, one business-date axis, one open format, one hash-chained audit, one address space. Every guarantee here is a property of that layer, not of the engine on it.</a:t>
            </a:r>
          </a:p>
        </p:txBody>
      </p:sp>
      <p:sp>
        <p:nvSpPr>
          <p:cNvPr id="15" name="Rectangle 14"/>
          <p:cNvSpPr/>
          <p:nvPr/>
        </p:nvSpPr>
        <p:spPr>
          <a:xfrm>
            <a:off x="6233007" y="1353312"/>
            <a:ext cx="5181447" cy="1444752"/>
          </a:xfrm>
          <a:prstGeom prst="rect">
            <a:avLst/>
          </a:prstGeom>
          <a:solidFill>
            <a:srgbClr val="FFFFFF"/>
          </a:solidFill>
          <a:ln w="1143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6233007" y="1353312"/>
            <a:ext cx="5181447"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6452463" y="1572768"/>
            <a:ext cx="4742535" cy="237744"/>
          </a:xfrm>
          <a:prstGeom prst="rect">
            <a:avLst/>
          </a:prstGeom>
          <a:noFill/>
        </p:spPr>
        <p:txBody>
          <a:bodyPr wrap="square" lIns="0" rIns="0" tIns="0" bIns="0" anchor="t">
            <a:spAutoFit/>
          </a:bodyPr>
          <a:lstStyle/>
          <a:p>
            <a:pPr algn="l">
              <a:spcBef>
                <a:spcPts val="0"/>
              </a:spcBef>
              <a:spcAft>
                <a:spcPts val="0"/>
              </a:spcAft>
            </a:pPr>
            <a:r>
              <a:rPr sz="1000" b="1" i="0">
                <a:solidFill>
                  <a:srgbClr val="1E3A6E"/>
                </a:solidFill>
                <a:latin typeface="Calibri"/>
              </a:rPr>
              <a:t>02</a:t>
            </a:r>
          </a:p>
        </p:txBody>
      </p:sp>
      <p:sp>
        <p:nvSpPr>
          <p:cNvPr id="18" name="TextBox 17"/>
          <p:cNvSpPr txBox="1"/>
          <p:nvPr/>
        </p:nvSpPr>
        <p:spPr>
          <a:xfrm>
            <a:off x="6452463" y="1847088"/>
            <a:ext cx="4742535"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1726"/>
                </a:solidFill>
                <a:latin typeface="Georgia"/>
              </a:rPr>
              <a:t>An analytical warehouse you can start and query.</a:t>
            </a:r>
          </a:p>
        </p:txBody>
      </p:sp>
      <p:sp>
        <p:nvSpPr>
          <p:cNvPr id="19" name="TextBox 18"/>
          <p:cNvSpPr txBox="1"/>
          <p:nvPr/>
        </p:nvSpPr>
        <p:spPr>
          <a:xfrm>
            <a:off x="6452463" y="2350008"/>
            <a:ext cx="4742535" cy="265176"/>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44F60"/>
                </a:solidFill>
                <a:latin typeface="Calibri"/>
              </a:rPr>
              <a:t>The wire protocol and Arrow Flight SQL over real Parquet, planning from the table log alone, pruning nine files in ten on a point lookup, with maintenance on a timer.</a:t>
            </a:r>
          </a:p>
        </p:txBody>
      </p:sp>
      <p:sp>
        <p:nvSpPr>
          <p:cNvPr id="20" name="Rectangle 19"/>
          <p:cNvSpPr/>
          <p:nvPr/>
        </p:nvSpPr>
        <p:spPr>
          <a:xfrm>
            <a:off x="777240" y="2926080"/>
            <a:ext cx="5181447" cy="1444752"/>
          </a:xfrm>
          <a:prstGeom prst="rect">
            <a:avLst/>
          </a:prstGeom>
          <a:solidFill>
            <a:srgbClr val="FFFFFF"/>
          </a:solidFill>
          <a:ln w="1143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777240" y="2926080"/>
            <a:ext cx="5181447"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996695" y="3145536"/>
            <a:ext cx="4742535" cy="237744"/>
          </a:xfrm>
          <a:prstGeom prst="rect">
            <a:avLst/>
          </a:prstGeom>
          <a:noFill/>
        </p:spPr>
        <p:txBody>
          <a:bodyPr wrap="square" lIns="0" rIns="0" tIns="0" bIns="0" anchor="t">
            <a:spAutoFit/>
          </a:bodyPr>
          <a:lstStyle/>
          <a:p>
            <a:pPr algn="l">
              <a:spcBef>
                <a:spcPts val="0"/>
              </a:spcBef>
              <a:spcAft>
                <a:spcPts val="0"/>
              </a:spcAft>
            </a:pPr>
            <a:r>
              <a:rPr sz="1000" b="1" i="0">
                <a:solidFill>
                  <a:srgbClr val="1E3A6E"/>
                </a:solidFill>
                <a:latin typeface="Calibri"/>
              </a:rPr>
              <a:t>03</a:t>
            </a:r>
          </a:p>
        </p:txBody>
      </p:sp>
      <p:sp>
        <p:nvSpPr>
          <p:cNvPr id="23" name="TextBox 22"/>
          <p:cNvSpPr txBox="1"/>
          <p:nvPr/>
        </p:nvSpPr>
        <p:spPr>
          <a:xfrm>
            <a:off x="996695" y="3419856"/>
            <a:ext cx="4742535"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1726"/>
                </a:solidFill>
                <a:latin typeface="Georgia"/>
              </a:rPr>
              <a:t>A declared multidimensional model, answered on demand.</a:t>
            </a:r>
          </a:p>
        </p:txBody>
      </p:sp>
      <p:sp>
        <p:nvSpPr>
          <p:cNvPr id="24" name="TextBox 23"/>
          <p:cNvSpPr txBox="1"/>
          <p:nvPr/>
        </p:nvSpPr>
        <p:spPr>
          <a:xfrm>
            <a:off x="996695" y="3922776"/>
            <a:ext cx="4742535" cy="265176"/>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44F60"/>
                </a:solidFill>
                <a:latin typeface="Calibri"/>
              </a:rPr>
              <a:t>A combination rule per measure per dimension; a measure with no rule refused at definition time; completeness carried on every row, as a column.</a:t>
            </a:r>
          </a:p>
        </p:txBody>
      </p:sp>
      <p:sp>
        <p:nvSpPr>
          <p:cNvPr id="25" name="Rectangle 24"/>
          <p:cNvSpPr/>
          <p:nvPr/>
        </p:nvSpPr>
        <p:spPr>
          <a:xfrm>
            <a:off x="6233007" y="2926080"/>
            <a:ext cx="5181447" cy="1444752"/>
          </a:xfrm>
          <a:prstGeom prst="rect">
            <a:avLst/>
          </a:prstGeom>
          <a:solidFill>
            <a:srgbClr val="FFFFFF"/>
          </a:solidFill>
          <a:ln w="1143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6233007" y="2926080"/>
            <a:ext cx="5181447"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6452463" y="3145536"/>
            <a:ext cx="4742535" cy="237744"/>
          </a:xfrm>
          <a:prstGeom prst="rect">
            <a:avLst/>
          </a:prstGeom>
          <a:noFill/>
        </p:spPr>
        <p:txBody>
          <a:bodyPr wrap="square" lIns="0" rIns="0" tIns="0" bIns="0" anchor="t">
            <a:spAutoFit/>
          </a:bodyPr>
          <a:lstStyle/>
          <a:p>
            <a:pPr algn="l">
              <a:spcBef>
                <a:spcPts val="0"/>
              </a:spcBef>
              <a:spcAft>
                <a:spcPts val="0"/>
              </a:spcAft>
            </a:pPr>
            <a:r>
              <a:rPr sz="1000" b="1" i="0">
                <a:solidFill>
                  <a:srgbClr val="1E3A6E"/>
                </a:solidFill>
                <a:latin typeface="Calibri"/>
              </a:rPr>
              <a:t>04</a:t>
            </a:r>
          </a:p>
        </p:txBody>
      </p:sp>
      <p:sp>
        <p:nvSpPr>
          <p:cNvPr id="28" name="TextBox 27"/>
          <p:cNvSpPr txBox="1"/>
          <p:nvPr/>
        </p:nvSpPr>
        <p:spPr>
          <a:xfrm>
            <a:off x="6452463" y="3419856"/>
            <a:ext cx="4742535"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1726"/>
                </a:solidFill>
                <a:latin typeface="Georgia"/>
              </a:rPr>
              <a:t>Copies that cost nothing, and positions that hold.</a:t>
            </a:r>
          </a:p>
        </p:txBody>
      </p:sp>
      <p:sp>
        <p:nvSpPr>
          <p:cNvPr id="29" name="TextBox 28"/>
          <p:cNvSpPr txBox="1"/>
          <p:nvPr/>
        </p:nvSpPr>
        <p:spPr>
          <a:xfrm>
            <a:off x="6452463" y="3922776"/>
            <a:ext cx="4742535" cy="265176"/>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44F60"/>
                </a:solidFill>
                <a:latin typeface="Calibri"/>
              </a:rPr>
              <a:t>A clone at constant cost and zero new files; snapshots pinning one position across many tables; a diff computed from the log, not estimated.</a:t>
            </a:r>
          </a:p>
        </p:txBody>
      </p:sp>
      <p:sp>
        <p:nvSpPr>
          <p:cNvPr id="30" name="Rectangle 29"/>
          <p:cNvSpPr/>
          <p:nvPr/>
        </p:nvSpPr>
        <p:spPr>
          <a:xfrm>
            <a:off x="777240" y="4498848"/>
            <a:ext cx="5181447" cy="1444752"/>
          </a:xfrm>
          <a:prstGeom prst="rect">
            <a:avLst/>
          </a:prstGeom>
          <a:solidFill>
            <a:srgbClr val="FFFFFF"/>
          </a:solidFill>
          <a:ln w="1143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1" name="Rectangle 30"/>
          <p:cNvSpPr/>
          <p:nvPr/>
        </p:nvSpPr>
        <p:spPr>
          <a:xfrm>
            <a:off x="777240" y="4498848"/>
            <a:ext cx="5181447"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2" name="TextBox 31"/>
          <p:cNvSpPr txBox="1"/>
          <p:nvPr/>
        </p:nvSpPr>
        <p:spPr>
          <a:xfrm>
            <a:off x="996695" y="4718304"/>
            <a:ext cx="4742535" cy="237744"/>
          </a:xfrm>
          <a:prstGeom prst="rect">
            <a:avLst/>
          </a:prstGeom>
          <a:noFill/>
        </p:spPr>
        <p:txBody>
          <a:bodyPr wrap="square" lIns="0" rIns="0" tIns="0" bIns="0" anchor="t">
            <a:spAutoFit/>
          </a:bodyPr>
          <a:lstStyle/>
          <a:p>
            <a:pPr algn="l">
              <a:spcBef>
                <a:spcPts val="0"/>
              </a:spcBef>
              <a:spcAft>
                <a:spcPts val="0"/>
              </a:spcAft>
            </a:pPr>
            <a:r>
              <a:rPr sz="1000" b="1" i="0">
                <a:solidFill>
                  <a:srgbClr val="1E3A6E"/>
                </a:solidFill>
                <a:latin typeface="Calibri"/>
              </a:rPr>
              <a:t>05</a:t>
            </a:r>
          </a:p>
        </p:txBody>
      </p:sp>
      <p:sp>
        <p:nvSpPr>
          <p:cNvPr id="33" name="TextBox 32"/>
          <p:cNvSpPr txBox="1"/>
          <p:nvPr/>
        </p:nvSpPr>
        <p:spPr>
          <a:xfrm>
            <a:off x="996695" y="4992624"/>
            <a:ext cx="4742535"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1726"/>
                </a:solidFill>
                <a:latin typeface="Georgia"/>
              </a:rPr>
              <a:t>Arithmetic that does not depend on the schedule.</a:t>
            </a:r>
          </a:p>
        </p:txBody>
      </p:sp>
      <p:sp>
        <p:nvSpPr>
          <p:cNvPr id="34" name="TextBox 33"/>
          <p:cNvSpPr txBox="1"/>
          <p:nvPr/>
        </p:nvSpPr>
        <p:spPr>
          <a:xfrm>
            <a:off x="996695" y="5495544"/>
            <a:ext cx="4742535" cy="265176"/>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44F60"/>
                </a:solidFill>
                <a:latin typeface="Calibri"/>
              </a:rPr>
              <a:t>Every reduction bit-deterministic under permutation; 155 functions identical from SQL, Flight SQL and the SDK, compared on every build.</a:t>
            </a:r>
          </a:p>
        </p:txBody>
      </p:sp>
      <p:sp>
        <p:nvSpPr>
          <p:cNvPr id="35" name="Rectangle 34"/>
          <p:cNvSpPr/>
          <p:nvPr/>
        </p:nvSpPr>
        <p:spPr>
          <a:xfrm>
            <a:off x="6233007" y="4498848"/>
            <a:ext cx="5181447" cy="1444752"/>
          </a:xfrm>
          <a:prstGeom prst="rect">
            <a:avLst/>
          </a:prstGeom>
          <a:solidFill>
            <a:srgbClr val="FFFFFF"/>
          </a:solidFill>
          <a:ln w="11430">
            <a:solidFill>
              <a:srgbClr val="D9D8D3"/>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6" name="Rectangle 35"/>
          <p:cNvSpPr/>
          <p:nvPr/>
        </p:nvSpPr>
        <p:spPr>
          <a:xfrm>
            <a:off x="6233007" y="4498848"/>
            <a:ext cx="5181447"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7" name="TextBox 36"/>
          <p:cNvSpPr txBox="1"/>
          <p:nvPr/>
        </p:nvSpPr>
        <p:spPr>
          <a:xfrm>
            <a:off x="6452463" y="4718304"/>
            <a:ext cx="4742535" cy="237744"/>
          </a:xfrm>
          <a:prstGeom prst="rect">
            <a:avLst/>
          </a:prstGeom>
          <a:noFill/>
        </p:spPr>
        <p:txBody>
          <a:bodyPr wrap="square" lIns="0" rIns="0" tIns="0" bIns="0" anchor="t">
            <a:spAutoFit/>
          </a:bodyPr>
          <a:lstStyle/>
          <a:p>
            <a:pPr algn="l">
              <a:spcBef>
                <a:spcPts val="0"/>
              </a:spcBef>
              <a:spcAft>
                <a:spcPts val="0"/>
              </a:spcAft>
            </a:pPr>
            <a:r>
              <a:rPr sz="1000" b="1" i="0">
                <a:solidFill>
                  <a:srgbClr val="1E3A6E"/>
                </a:solidFill>
                <a:latin typeface="Calibri"/>
              </a:rPr>
              <a:t>06</a:t>
            </a:r>
          </a:p>
        </p:txBody>
      </p:sp>
      <p:sp>
        <p:nvSpPr>
          <p:cNvPr id="38" name="TextBox 37"/>
          <p:cNvSpPr txBox="1"/>
          <p:nvPr/>
        </p:nvSpPr>
        <p:spPr>
          <a:xfrm>
            <a:off x="6452463" y="4992624"/>
            <a:ext cx="4742535"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0E1726"/>
                </a:solidFill>
                <a:latin typeface="Georgia"/>
              </a:rPr>
              <a:t>An inventory of the gap that a build check keeps.</a:t>
            </a:r>
          </a:p>
        </p:txBody>
      </p:sp>
      <p:sp>
        <p:nvSpPr>
          <p:cNvPr id="39" name="TextBox 38"/>
          <p:cNvSpPr txBox="1"/>
          <p:nvPr/>
        </p:nvSpPr>
        <p:spPr>
          <a:xfrm>
            <a:off x="6452463" y="5495544"/>
            <a:ext cx="4742535" cy="265176"/>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44F60"/>
                </a:solidFill>
                <a:latin typeface="Calibri"/>
              </a:rPr>
              <a:t>Ten crates unreached, ten error codes nothing constructs --- both lists failing the build in **both** directions.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CLOSING · THE ORDER OF WORK</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What is next, and what it is waiting on</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Closing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73</a:t>
            </a:r>
          </a:p>
        </p:txBody>
      </p:sp>
      <p:graphicFrame>
        <p:nvGraphicFramePr>
          <p:cNvPr id="10" name="Table 9"/>
          <p:cNvGraphicFramePr>
            <a:graphicFrameLocks noGrp="1"/>
          </p:cNvGraphicFramePr>
          <p:nvPr/>
        </p:nvGraphicFramePr>
        <p:xfrm>
          <a:off x="777240" y="1353312"/>
          <a:ext cx="10637214" cy="3621024"/>
        </p:xfrm>
        <a:graphic>
          <a:graphicData uri="http://schemas.openxmlformats.org/drawingml/2006/table">
            <a:tbl>
              <a:tblPr firstRow="1">
                <a:tableStyleId>{5C22544A-7EE6-4342-B048-85BDC9FD1C3A}</a:tableStyleId>
              </a:tblPr>
              <a:tblGrid>
                <a:gridCol w="2200803"/>
                <a:gridCol w="4585006"/>
                <a:gridCol w="3851405"/>
              </a:tblGrid>
              <a:tr h="329184">
                <a:tc>
                  <a:txBody>
                    <a:bodyPr wrap="square"/>
                    <a:lstStyle/>
                    <a:p>
                      <a:pPr algn="l"/>
                      <a:r>
                        <a:rPr sz="950" b="1">
                          <a:solidFill>
                            <a:srgbClr val="FFFFFF"/>
                          </a:solidFill>
                          <a:latin typeface="Calibri"/>
                        </a:rPr>
                        <a:t>Next</a:t>
                      </a:r>
                    </a:p>
                  </a:txBody>
                  <a:tcPr marL="82296" marR="64008" marT="32004" marB="32004" anchor="ctr">
                    <a:solidFill>
                      <a:srgbClr val="1E3A6E"/>
                    </a:solidFill>
                  </a:tcPr>
                </a:tc>
                <a:tc>
                  <a:txBody>
                    <a:bodyPr wrap="square"/>
                    <a:lstStyle/>
                    <a:p>
                      <a:pPr algn="l"/>
                      <a:r>
                        <a:rPr sz="950" b="1">
                          <a:solidFill>
                            <a:srgbClr val="FFFFFF"/>
                          </a:solidFill>
                          <a:latin typeface="Calibri"/>
                        </a:rPr>
                        <a:t>What already exists</a:t>
                      </a:r>
                    </a:p>
                  </a:txBody>
                  <a:tcPr marL="82296" marR="64008" marT="32004" marB="32004" anchor="ctr">
                    <a:solidFill>
                      <a:srgbClr val="1E3A6E"/>
                    </a:solidFill>
                  </a:tcPr>
                </a:tc>
                <a:tc>
                  <a:txBody>
                    <a:bodyPr wrap="square"/>
                    <a:lstStyle/>
                    <a:p>
                      <a:pPr algn="l"/>
                      <a:r>
                        <a:rPr sz="950" b="1">
                          <a:solidFill>
                            <a:srgbClr val="FFFFFF"/>
                          </a:solidFill>
                          <a:latin typeface="Calibri"/>
                        </a:rPr>
                        <a:t>What is missing</a:t>
                      </a:r>
                    </a:p>
                  </a:txBody>
                  <a:tcPr marL="82296" marR="64008" marT="32004" marB="32004" anchor="ctr">
                    <a:solidFill>
                      <a:srgbClr val="1E3A6E"/>
                    </a:solidFill>
                  </a:tcPr>
                </a:tc>
              </a:tr>
              <a:tr h="658368">
                <a:tc>
                  <a:txBody>
                    <a:bodyPr wrap="square"/>
                    <a:lstStyle/>
                    <a:p>
                      <a:pPr algn="l"/>
                      <a:r>
                        <a:rPr sz="900" b="1">
                          <a:solidFill>
                            <a:srgbClr val="1E3A6E"/>
                          </a:solidFill>
                          <a:latin typeface="Calibri"/>
                        </a:rPr>
                        <a:t>**The change-capture runtime** --- the largest single gap</a:t>
                      </a:r>
                    </a:p>
                  </a:txBody>
                  <a:tcPr marL="82296" marR="64008" marT="32004" marB="32004" anchor="ctr">
                    <a:solidFill>
                      <a:srgbClr val="FFFFFF"/>
                    </a:solidFill>
                  </a:tcPr>
                </a:tc>
                <a:tc>
                  <a:txBody>
                    <a:bodyPr wrap="square"/>
                    <a:lstStyle/>
                    <a:p>
                      <a:pPr algn="l"/>
                      <a:r>
                        <a:rPr sz="900" b="0">
                          <a:solidFill>
                            <a:srgbClr val="0E1726"/>
                          </a:solidFill>
                          <a:latin typeface="Calibri"/>
                        </a:rPr>
                        <a:t>A `pgoutput` decoder validated against a live 17.11 stream; an apply path with a property-tested transaction invariant; reconciliation, idempotence, crash safety, schema evolution, and a five-rung safety ladder</a:t>
                      </a:r>
                    </a:p>
                  </a:txBody>
                  <a:tcPr marL="82296" marR="64008" marT="32004" marB="32004" anchor="ctr">
                    <a:solidFill>
                      <a:srgbClr val="FFFFFF"/>
                    </a:solidFill>
                  </a:tcPr>
                </a:tc>
                <a:tc>
                  <a:txBody>
                    <a:bodyPr wrap="square"/>
                    <a:lstStyle/>
                    <a:p>
                      <a:pPr algn="l"/>
                      <a:r>
                        <a:rPr sz="900" b="0">
                          <a:solidFill>
                            <a:srgbClr val="0E1726"/>
                          </a:solidFill>
                          <a:latin typeface="Calibri"/>
                        </a:rPr>
                        <a:t>**The driver that runs them on a timer.** One absence, not six</a:t>
                      </a:r>
                    </a:p>
                  </a:txBody>
                  <a:tcPr marL="82296" marR="64008" marT="32004" marB="32004" anchor="ctr">
                    <a:solidFill>
                      <a:srgbClr val="FFFFFF"/>
                    </a:solidFill>
                  </a:tcPr>
                </a:tc>
              </a:tr>
              <a:tr h="658368">
                <a:tc>
                  <a:txBody>
                    <a:bodyPr wrap="square"/>
                    <a:lstStyle/>
                    <a:p>
                      <a:pPr algn="l"/>
                      <a:r>
                        <a:rPr sz="900" b="1">
                          <a:solidFill>
                            <a:srgbClr val="1E3A6E"/>
                          </a:solidFill>
                          <a:latin typeface="Calibri"/>
                        </a:rPr>
                        <a:t>**Wiring the transactional tier**</a:t>
                      </a:r>
                    </a:p>
                  </a:txBody>
                  <a:tcPr marL="82296" marR="64008" marT="32004" marB="32004" anchor="ctr">
                    <a:solidFill>
                      <a:srgbClr val="FBFAF7"/>
                    </a:solidFill>
                  </a:tcPr>
                </a:tc>
                <a:tc>
                  <a:txBody>
                    <a:bodyPr wrap="square"/>
                    <a:lstStyle/>
                    <a:p>
                      <a:pPr algn="l"/>
                      <a:r>
                        <a:rPr sz="900" b="0">
                          <a:solidFill>
                            <a:srgbClr val="0E1726"/>
                          </a:solidFill>
                          <a:latin typeface="Calibri"/>
                        </a:rPr>
                        <a:t>A supervisor owning initdb, start, readiness, health and shutdown of a vendored 17.11</a:t>
                      </a:r>
                    </a:p>
                  </a:txBody>
                  <a:tcPr marL="82296" marR="64008" marT="32004" marB="32004" anchor="ctr">
                    <a:solidFill>
                      <a:srgbClr val="FBFAF7"/>
                    </a:solidFill>
                  </a:tcPr>
                </a:tc>
                <a:tc>
                  <a:txBody>
                    <a:bodyPr wrap="square"/>
                    <a:lstStyle/>
                    <a:p>
                      <a:pPr algn="l"/>
                      <a:r>
                        <a:rPr sz="900" b="0">
                          <a:solidFill>
                            <a:srgbClr val="0E1726"/>
                          </a:solidFill>
                          <a:latin typeface="Calibri"/>
                        </a:rPr>
                        <a:t>A configuration surface. The settings have no transactional key, and the server never starts a database</a:t>
                      </a:r>
                    </a:p>
                  </a:txBody>
                  <a:tcPr marL="82296" marR="64008" marT="32004" marB="32004" anchor="ctr">
                    <a:solidFill>
                      <a:srgbClr val="FBFAF7"/>
                    </a:solidFill>
                  </a:tcPr>
                </a:tc>
              </a:tr>
              <a:tr h="658368">
                <a:tc>
                  <a:txBody>
                    <a:bodyPr wrap="square"/>
                    <a:lstStyle/>
                    <a:p>
                      <a:pPr algn="l"/>
                      <a:r>
                        <a:rPr sz="900" b="1">
                          <a:solidFill>
                            <a:srgbClr val="1E3A6E"/>
                          </a:solidFill>
                          <a:latin typeface="Calibri"/>
                        </a:rPr>
                        <a:t>**A timer that hydrates a graph epoch**</a:t>
                      </a:r>
                    </a:p>
                  </a:txBody>
                  <a:tcPr marL="82296" marR="64008" marT="32004" marB="32004" anchor="ctr">
                    <a:solidFill>
                      <a:srgbClr val="FFFFFF"/>
                    </a:solidFill>
                  </a:tcPr>
                </a:tc>
                <a:tc>
                  <a:txBody>
                    <a:bodyPr wrap="square"/>
                    <a:lstStyle/>
                    <a:p>
                      <a:pPr algn="l"/>
                      <a:r>
                        <a:rPr sz="900" b="0">
                          <a:solidFill>
                            <a:srgbClr val="0E1726"/>
                          </a:solidFill>
                          <a:latin typeface="Calibri"/>
                        </a:rPr>
                        <a:t>Every algorithm, bounded by construction and correct against brute force</a:t>
                      </a:r>
                    </a:p>
                  </a:txBody>
                  <a:tcPr marL="82296" marR="64008" marT="32004" marB="32004" anchor="ctr">
                    <a:solidFill>
                      <a:srgbClr val="FFFFFF"/>
                    </a:solidFill>
                  </a:tcPr>
                </a:tc>
                <a:tc>
                  <a:txBody>
                    <a:bodyPr wrap="square"/>
                    <a:lstStyle/>
                    <a:p>
                      <a:pPr algn="l"/>
                      <a:r>
                        <a:rPr sz="900" b="0">
                          <a:solidFill>
                            <a:srgbClr val="0E1726"/>
                          </a:solidFill>
                          <a:latin typeface="Calibri"/>
                        </a:rPr>
                        <a:t>Anything that publishes into the catalogue. The throughput benchmark is carried as unmet rather than reinterpreted</a:t>
                      </a:r>
                    </a:p>
                  </a:txBody>
                  <a:tcPr marL="82296" marR="64008" marT="32004" marB="32004" anchor="ctr">
                    <a:solidFill>
                      <a:srgbClr val="FFFFFF"/>
                    </a:solidFill>
                  </a:tcPr>
                </a:tc>
              </a:tr>
              <a:tr h="658368">
                <a:tc>
                  <a:txBody>
                    <a:bodyPr wrap="square"/>
                    <a:lstStyle/>
                    <a:p>
                      <a:pPr algn="l"/>
                      <a:r>
                        <a:rPr sz="900" b="1">
                          <a:solidFill>
                            <a:srgbClr val="1E3A6E"/>
                          </a:solidFill>
                          <a:latin typeface="Calibri"/>
                        </a:rPr>
                        <a:t>**The Python SDK, then Java and Rust**</a:t>
                      </a:r>
                    </a:p>
                  </a:txBody>
                  <a:tcPr marL="82296" marR="64008" marT="32004" marB="32004" anchor="ctr">
                    <a:solidFill>
                      <a:srgbClr val="FBFAF7"/>
                    </a:solidFill>
                  </a:tcPr>
                </a:tc>
                <a:tc>
                  <a:txBody>
                    <a:bodyPr wrap="square"/>
                    <a:lstStyle/>
                    <a:p>
                      <a:pPr algn="l"/>
                      <a:r>
                        <a:rPr sz="900" b="0">
                          <a:solidFill>
                            <a:srgbClr val="0E1726"/>
                          </a:solidFill>
                          <a:latin typeface="Calibri"/>
                        </a:rPr>
                        <a:t>The client contract decided and placed in the architecture; the function catalogue already answers *which functions does this server have* as data</a:t>
                      </a:r>
                    </a:p>
                  </a:txBody>
                  <a:tcPr marL="82296" marR="64008" marT="32004" marB="32004" anchor="ctr">
                    <a:solidFill>
                      <a:srgbClr val="FBFAF7"/>
                    </a:solidFill>
                  </a:tcPr>
                </a:tc>
                <a:tc>
                  <a:txBody>
                    <a:bodyPr wrap="square"/>
                    <a:lstStyle/>
                    <a:p>
                      <a:pPr algn="l"/>
                      <a:r>
                        <a:rPr sz="900" b="0">
                          <a:solidFill>
                            <a:srgbClr val="0E1726"/>
                          </a:solidFill>
                          <a:latin typeface="Calibri"/>
                        </a:rPr>
                        <a:t>The bindings themselves, written against a contract designed for three rather than retrofitted to them</a:t>
                      </a:r>
                    </a:p>
                  </a:txBody>
                  <a:tcPr marL="82296" marR="64008" marT="32004" marB="32004" anchor="ctr">
                    <a:solidFill>
                      <a:srgbClr val="FBFAF7"/>
                    </a:solidFill>
                  </a:tcPr>
                </a:tc>
              </a:tr>
              <a:tr h="658368">
                <a:tc>
                  <a:txBody>
                    <a:bodyPr wrap="square"/>
                    <a:lstStyle/>
                    <a:p>
                      <a:pPr algn="l"/>
                      <a:r>
                        <a:rPr sz="900" b="1">
                          <a:solidFill>
                            <a:srgbClr val="1E3A6E"/>
                          </a:solidFill>
                          <a:latin typeface="Calibri"/>
                        </a:rPr>
                        <a:t>**Scale-out, HA, production-like acceptance**</a:t>
                      </a:r>
                    </a:p>
                  </a:txBody>
                  <a:tcPr marL="82296" marR="64008" marT="32004" marB="32004" anchor="ctr">
                    <a:solidFill>
                      <a:srgbClr val="FFFFFF"/>
                    </a:solidFill>
                  </a:tcPr>
                </a:tc>
                <a:tc>
                  <a:txBody>
                    <a:bodyPr wrap="square"/>
                    <a:lstStyle/>
                    <a:p>
                      <a:pPr algn="l"/>
                      <a:r>
                        <a:rPr sz="900" b="0">
                          <a:solidFill>
                            <a:srgbClr val="0E1726"/>
                          </a:solidFill>
                          <a:latin typeface="Calibri"/>
                        </a:rPr>
                        <a:t>The shard-set seam, the version claim as a conditional put, the concurrency controls</a:t>
                      </a:r>
                    </a:p>
                  </a:txBody>
                  <a:tcPr marL="82296" marR="64008" marT="32004" marB="32004" anchor="ctr">
                    <a:solidFill>
                      <a:srgbClr val="FFFFFF"/>
                    </a:solidFill>
                  </a:tcPr>
                </a:tc>
                <a:tc>
                  <a:txBody>
                    <a:bodyPr wrap="square"/>
                    <a:lstStyle/>
                    <a:p>
                      <a:pPr algn="l"/>
                      <a:r>
                        <a:rPr sz="900" b="0">
                          <a:solidFill>
                            <a:srgbClr val="0E1726"/>
                          </a:solidFill>
                          <a:latin typeface="Calibri"/>
                        </a:rPr>
                        <a:t>**A second machine.** Twelve hours, two nodes, 100 GB, 50 readers, 20 writers --- parked rather than quietly dropped</a:t>
                      </a:r>
                    </a:p>
                  </a:txBody>
                  <a:tcPr marL="82296" marR="64008" marT="32004" marB="32004" anchor="ctr">
                    <a:solidFill>
                      <a:srgbClr val="FFFFFF"/>
                    </a:solidFill>
                  </a:tcPr>
                </a:tc>
              </a:tr>
            </a:tbl>
          </a:graphicData>
        </a:graphic>
      </p:graphicFrame>
      <p:sp>
        <p:nvSpPr>
          <p:cNvPr id="11" name="Rectangle 10"/>
          <p:cNvSpPr/>
          <p:nvPr/>
        </p:nvSpPr>
        <p:spPr>
          <a:xfrm>
            <a:off x="777240" y="5056631"/>
            <a:ext cx="10637215" cy="777240"/>
          </a:xfrm>
          <a:prstGeom prst="rect">
            <a:avLst/>
          </a:prstGeom>
          <a:solidFill>
            <a:srgbClr val="FBFA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5056631"/>
            <a:ext cx="41148" cy="777240"/>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5175503"/>
            <a:ext cx="10180015" cy="5577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1E3A6E"/>
                </a:solidFill>
                <a:latin typeface="Calibri"/>
              </a:rPr>
              <a:t>The order is not arbitrary. </a:t>
            </a:r>
            <a:r>
              <a:rPr sz="1050" b="0" i="0">
                <a:solidFill>
                  <a:srgbClr val="0E1726"/>
                </a:solidFill>
                <a:latin typeface="Calibri"/>
              </a:rPr>
              <a:t>Everything above the last row is a **driver** over machinery that already exists and is tested; the last row is new work and needs hardware. That is a deliberately unglamorous next milestone, and it is the one that turns two designed engines into two running ones.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1E3A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1E3A6E"/>
                </a:solidFill>
                <a:latin typeface="Calibri"/>
              </a:rPr>
              <a:t>CLOSING · THE HONEST HALF</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0E1726"/>
                </a:solidFill>
                <a:latin typeface="Georgia"/>
              </a:rPr>
              <a:t>The one thing to hold against everything else in here</a:t>
            </a:r>
          </a:p>
        </p:txBody>
      </p:sp>
      <p:sp>
        <p:nvSpPr>
          <p:cNvPr id="6" name="Rectangle 5"/>
          <p:cNvSpPr/>
          <p:nvPr/>
        </p:nvSpPr>
        <p:spPr>
          <a:xfrm>
            <a:off x="777240" y="1207008"/>
            <a:ext cx="10637215" cy="10972"/>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9D8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88395"/>
                </a:solidFill>
                <a:latin typeface="Calibri"/>
              </a:rPr>
              <a:t>Closing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88395"/>
                </a:solidFill>
                <a:latin typeface="Calibri"/>
              </a:rPr>
              <a:t>74</a:t>
            </a:r>
          </a:p>
        </p:txBody>
      </p:sp>
      <p:sp>
        <p:nvSpPr>
          <p:cNvPr id="10" name="TextBox 9"/>
          <p:cNvSpPr txBox="1"/>
          <p:nvPr/>
        </p:nvSpPr>
        <p:spPr>
          <a:xfrm>
            <a:off x="777240" y="1353312"/>
            <a:ext cx="10637215" cy="4023360"/>
          </a:xfrm>
          <a:prstGeom prst="rect">
            <a:avLst/>
          </a:prstGeom>
          <a:noFill/>
        </p:spPr>
        <p:txBody>
          <a:bodyPr wrap="square" lIns="0" rIns="0" tIns="0" bIns="0" anchor="t">
            <a:spAutoFit/>
          </a:bodyPr>
          <a:lstStyle/>
          <a:p>
            <a:pPr algn="l">
              <a:lnSpc>
                <a:spcPct val="130000"/>
              </a:lnSpc>
              <a:spcBef>
                <a:spcPts val="0"/>
              </a:spcBef>
              <a:spcAft>
                <a:spcPts val="1200"/>
              </a:spcAft>
            </a:pPr>
            <a:r>
              <a:rPr sz="1200" b="1" i="0">
                <a:solidFill>
                  <a:srgbClr val="1E3A6E"/>
                </a:solidFill>
                <a:latin typeface="Calibri"/>
              </a:rPr>
              <a:t>This deck is a document, and documents are the defect class this project is worst at. </a:t>
            </a:r>
            <a:r>
              <a:rPr sz="1200" b="0" i="0">
                <a:solidFill>
                  <a:srgbClr val="444F60"/>
                </a:solidFill>
                <a:latin typeface="Calibri"/>
              </a:rPr>
              <a:t>Twelve audits returned a hundred and twenty-nine findings against a repository whose gate was green, and **not one of them was found by a failing test** --- because none of them made a test fail. They were found by people reading code against the documents that described it. Three of the four root causes were about documents rather than code: a recipe that had silently diverged from its fixture, gates reporting green while measuring nothing, and assertions with nothing checking the assertion.</a:t>
            </a:r>
          </a:p>
          <a:p>
            <a:pPr>
              <a:lnSpc>
                <a:spcPct val="130000"/>
              </a:lnSpc>
              <a:spcBef>
                <a:spcPts val="0"/>
              </a:spcBef>
              <a:spcAft>
                <a:spcPts val="1200"/>
              </a:spcAft>
            </a:pPr>
            <a:r>
              <a:rPr sz="1200" b="1" i="0">
                <a:solidFill>
                  <a:srgbClr val="1E3A6E"/>
                </a:solidFill>
                <a:latin typeface="Calibri"/>
              </a:rPr>
              <a:t>So the claim this deck makes for itself is narrow. </a:t>
            </a:r>
            <a:r>
              <a:rPr sz="1200" b="0" i="0">
                <a:solidFill>
                  <a:srgbClr val="444F60"/>
                </a:solidFill>
                <a:latin typeface="Calibri"/>
              </a:rPr>
              <a:t>Every figure here names what produced it. Every *built* names a file. Every *designed* is a section of the architecture document that exists specifically to hold things that do not run. A build check verifies that every path named still exists --- and **it cannot verify that the prose still describes what the code does.** Saying so is the point rather than an apology.</a:t>
            </a:r>
          </a:p>
          <a:p>
            <a:pPr>
              <a:lnSpc>
                <a:spcPct val="130000"/>
              </a:lnSpc>
              <a:spcBef>
                <a:spcPts val="0"/>
              </a:spcBef>
              <a:spcAft>
                <a:spcPts val="0"/>
              </a:spcAft>
            </a:pPr>
            <a:r>
              <a:rPr sz="1200" b="1" i="0">
                <a:solidFill>
                  <a:srgbClr val="1E3A6E"/>
                </a:solidFill>
                <a:latin typeface="Calibri"/>
              </a:rPr>
              <a:t>The ground-truth document is the one to believe over this one. </a:t>
            </a:r>
            <a:r>
              <a:rPr sz="1200" b="0" i="0">
                <a:solidFill>
                  <a:srgbClr val="444F60"/>
                </a:solidFill>
                <a:latin typeface="Calibri"/>
              </a:rPr>
              <a:t>It is four thousand lines and nobody reads it on their first day, which is why its first two screens are *what works today* and the canonical list of *what is not built*. Where it and this deck disagree, it is right, and this deck is the newer defect.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